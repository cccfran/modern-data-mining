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A2792F-7AA6-42C8-B573-21C7CE4B9F75}">
  <a:tblStyle styleId="{92A2792F-7AA6-42C8-B573-21C7CE4B9F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464d30e9a_15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464d30e9a_15_75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464d30e9a_15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464d30e9a_15_81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464d30e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Isha</a:t>
            </a:r>
            <a:endParaRPr/>
          </a:p>
        </p:txBody>
      </p:sp>
      <p:sp>
        <p:nvSpPr>
          <p:cNvPr id="219" name="Google Shape;219;g3f464d30e9a_0_0:notes"/>
          <p:cNvSpPr/>
          <p:nvPr>
            <p:ph idx="2" type="sldImg"/>
          </p:nvPr>
        </p:nvSpPr>
        <p:spPr>
          <a:xfrm>
            <a:off x="1143103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464d30e9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464d30e9a_0_12:notes"/>
          <p:cNvSpPr/>
          <p:nvPr>
            <p:ph idx="2" type="sldImg"/>
          </p:nvPr>
        </p:nvSpPr>
        <p:spPr>
          <a:xfrm>
            <a:off x="1143103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464d30e9a_15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Ronav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Log+1 regularizes the data set as it is right skewed and has many outliers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a dog will be adopted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.72 auc means model is decent at guessing when dog will be adopted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predict that the dog will have this % of chances to be adopted before x# of days in shelter </a:t>
            </a:r>
            <a:endParaRPr/>
          </a:p>
        </p:txBody>
      </p:sp>
      <p:sp>
        <p:nvSpPr>
          <p:cNvPr id="237" name="Google Shape;237;g3f464d30e9a_15_93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464d30e9a_15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three different datasets, one from austin, tx, </a:t>
            </a:r>
            <a:r>
              <a:rPr lang="en"/>
              <a:t>norfolk, va, and sonoma county, ca. Since we used three different datasets we had to make sure they were comparable by choosing predictors they had in common.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created an outcome window, calculated the age for each dataset, and eliminated any age outliers (anything below 0 or above 25.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f464d30e9a_15_110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464d30e9a_15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mason</a:t>
            </a:r>
            <a:endParaRPr/>
          </a:p>
        </p:txBody>
      </p:sp>
      <p:sp>
        <p:nvSpPr>
          <p:cNvPr id="270" name="Google Shape;270;g3f464d30e9a_15_121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464d30e9a_15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Ronav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Most dogs adopted young as graph is right skewed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distributions vary by region: sonoma county adopts a higher percentage of older dogs than any other county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Demonstrates how age is an important factor in adoption patterns</a:t>
            </a:r>
            <a:endParaRPr/>
          </a:p>
        </p:txBody>
      </p:sp>
      <p:sp>
        <p:nvSpPr>
          <p:cNvPr id="283" name="Google Shape;283;g3f464d30e9a_15_133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464d30e9a_15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mason</a:t>
            </a:r>
            <a:endParaRPr/>
          </a:p>
        </p:txBody>
      </p:sp>
      <p:sp>
        <p:nvSpPr>
          <p:cNvPr id="293" name="Google Shape;293;g3f464d30e9a_15_144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464d30e9a_15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  <p:sp>
        <p:nvSpPr>
          <p:cNvPr id="315" name="Google Shape;315;g3f464d30e9a_15_157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464d30e9a_18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  <p:sp>
        <p:nvSpPr>
          <p:cNvPr id="325" name="Google Shape;325;g3f464d30e9a_18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464d30e9a_15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  <p:sp>
        <p:nvSpPr>
          <p:cNvPr id="336" name="Google Shape;336;g3f464d30e9a_15_167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464d30e9a_15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  <p:sp>
        <p:nvSpPr>
          <p:cNvPr id="346" name="Google Shape;346;g3f464d30e9a_15_176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464d30e9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  <p:sp>
        <p:nvSpPr>
          <p:cNvPr id="354" name="Google Shape;354;g3f464d30e9a_0_68:notes"/>
          <p:cNvSpPr/>
          <p:nvPr>
            <p:ph idx="2" type="sldImg"/>
          </p:nvPr>
        </p:nvSpPr>
        <p:spPr>
          <a:xfrm>
            <a:off x="1143103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464d30e9a_15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  <p:sp>
        <p:nvSpPr>
          <p:cNvPr id="362" name="Google Shape;362;g3f464d30e9a_15_189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464d30e9a_15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f464d30e9a_15_200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464d30e9a_7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464d30e9a_7_17:notes"/>
          <p:cNvSpPr/>
          <p:nvPr>
            <p:ph idx="2" type="sldImg"/>
          </p:nvPr>
        </p:nvSpPr>
        <p:spPr>
          <a:xfrm>
            <a:off x="1143103" y="685800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464d30e9a_15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f464d30e9a_15_210:notes"/>
          <p:cNvSpPr/>
          <p:nvPr>
            <p:ph idx="2" type="sldImg"/>
          </p:nvPr>
        </p:nvSpPr>
        <p:spPr>
          <a:xfrm>
            <a:off x="1143103" y="685800"/>
            <a:ext cx="45724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appendix_dataset_sampl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appendix_dataset_sampl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appendix_interaction_test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appendix_interaction_tes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464d30e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f464d30e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77" y="1597819"/>
            <a:ext cx="5829611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55" y="2914650"/>
            <a:ext cx="4800856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18" y="205978"/>
            <a:ext cx="617252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18" y="1200150"/>
            <a:ext cx="6172529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64" y="3305175"/>
            <a:ext cx="5829611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64" y="2180035"/>
            <a:ext cx="5829611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18" y="205978"/>
            <a:ext cx="617252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18" y="1200150"/>
            <a:ext cx="302911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336" y="1200150"/>
            <a:ext cx="302911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18" y="205978"/>
            <a:ext cx="617252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18" y="1151335"/>
            <a:ext cx="3030303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18" y="1631156"/>
            <a:ext cx="3030303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954" y="1151335"/>
            <a:ext cx="3031493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954" y="1631156"/>
            <a:ext cx="3031493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18" y="205978"/>
            <a:ext cx="617252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18" y="204788"/>
            <a:ext cx="225635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430" y="204788"/>
            <a:ext cx="3834017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18" y="1076325"/>
            <a:ext cx="225635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88" y="3600450"/>
            <a:ext cx="4115019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88" y="459581"/>
            <a:ext cx="4115019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88" y="4025503"/>
            <a:ext cx="4115019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18" y="205978"/>
            <a:ext cx="617252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947" y="-188878"/>
            <a:ext cx="3394472" cy="61725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559" y="1628734"/>
            <a:ext cx="4388644" cy="1543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142" y="142755"/>
            <a:ext cx="4388644" cy="4515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18" y="205978"/>
            <a:ext cx="617252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18" y="1200150"/>
            <a:ext cx="6172529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18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75" y="4767263"/>
            <a:ext cx="217181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162" y="4767263"/>
            <a:ext cx="160028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/>
        </p:nvSpPr>
        <p:spPr>
          <a:xfrm>
            <a:off x="823004" y="1371600"/>
            <a:ext cx="74961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b="1" i="0" lang="en" sz="24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r>
              <a:rPr b="1" lang="en" sz="24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 Traits and </a:t>
            </a:r>
            <a:r>
              <a:rPr b="1" lang="en" sz="24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r>
              <a:rPr b="1" i="0" lang="en" sz="24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24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Affect</a:t>
            </a:r>
            <a:r>
              <a:rPr b="1" i="0" lang="en" sz="24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 Time to Adoption in Shelters</a:t>
            </a:r>
            <a:endParaRPr b="1" i="0" sz="2400" u="none" cap="none" strike="noStrike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Public animal shelter records from Austin, Norfolk, and Sonoma County</a:t>
            </a:r>
            <a:endParaRPr b="0" i="0" sz="1400" u="none" cap="none" strike="noStrike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7"/>
          <p:cNvSpPr txBox="1"/>
          <p:nvPr/>
        </p:nvSpPr>
        <p:spPr>
          <a:xfrm>
            <a:off x="823004" y="3086100"/>
            <a:ext cx="7496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Anya, Jack, </a:t>
            </a:r>
            <a:r>
              <a:rPr b="0" i="0" lang="en" sz="12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Mason, Isha, Ronav</a:t>
            </a:r>
            <a:endParaRPr b="0" i="0" sz="1200" u="none" cap="none" strike="noStrike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Wharton Global Youth Data Science Academy, July 2026</a:t>
            </a:r>
            <a:endParaRPr b="0" i="0" sz="10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/>
        </p:nvSpPr>
        <p:spPr>
          <a:xfrm>
            <a:off x="377210" y="219456"/>
            <a:ext cx="8367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Executive </a:t>
            </a:r>
            <a:r>
              <a:rPr b="1" lang="en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" sz="21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ummary</a:t>
            </a:r>
            <a:endParaRPr b="1" i="0" sz="2100" u="none" cap="none" strike="noStrike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8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8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8"/>
          <p:cNvSpPr txBox="1"/>
          <p:nvPr/>
        </p:nvSpPr>
        <p:spPr>
          <a:xfrm>
            <a:off x="377202" y="1019815"/>
            <a:ext cx="274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Goal of the study</a:t>
            </a:r>
            <a:endParaRPr b="1" i="0" sz="2000" u="none" cap="none" strike="noStrike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8"/>
          <p:cNvSpPr txBox="1"/>
          <p:nvPr/>
        </p:nvSpPr>
        <p:spPr>
          <a:xfrm>
            <a:off x="411502" y="1449186"/>
            <a:ext cx="82986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100"/>
              <a:buFont typeface="Calibri"/>
              <a:buChar char="●"/>
            </a:pPr>
            <a:r>
              <a:rPr b="0" i="0" lang="en" sz="19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Which </a:t>
            </a:r>
            <a:r>
              <a:rPr lang="en" sz="19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dog </a:t>
            </a:r>
            <a:r>
              <a:rPr b="0" i="0" lang="en" sz="19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traits </a:t>
            </a:r>
            <a:r>
              <a:rPr lang="en" sz="19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correlate with </a:t>
            </a:r>
            <a:r>
              <a:rPr b="0" i="0" lang="en" sz="19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faster adoption</a:t>
            </a:r>
            <a:endParaRPr sz="19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100"/>
              <a:buFont typeface="Calibri"/>
              <a:buChar char="○"/>
            </a:pPr>
            <a:r>
              <a:rPr b="0" i="0" lang="en" sz="19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age, region, breed, size, color, sex</a:t>
            </a:r>
            <a:endParaRPr b="0" i="0" sz="1900" u="none" cap="none" strike="noStrike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100"/>
              <a:buFont typeface="Calibri"/>
              <a:buChar char="●"/>
            </a:pPr>
            <a:r>
              <a:rPr lang="en" sz="19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Can models trained on public shelter records accurately predict a dog’s length of stay based on these traits?</a:t>
            </a:r>
            <a:endParaRPr sz="19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8"/>
          <p:cNvSpPr txBox="1"/>
          <p:nvPr/>
        </p:nvSpPr>
        <p:spPr>
          <a:xfrm>
            <a:off x="377202" y="2817890"/>
            <a:ext cx="274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Significance</a:t>
            </a:r>
            <a:endParaRPr b="1" i="0" sz="2000" u="none" cap="none" strike="noStrike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8"/>
          <p:cNvSpPr txBox="1"/>
          <p:nvPr/>
        </p:nvSpPr>
        <p:spPr>
          <a:xfrm>
            <a:off x="411489" y="3194999"/>
            <a:ext cx="8298600" cy="19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845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100"/>
              <a:buFont typeface="Calibri"/>
              <a:buChar char="●"/>
            </a:pPr>
            <a:r>
              <a:rPr lang="en" sz="19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Shelter staff can optimize limited resources</a:t>
            </a:r>
            <a:endParaRPr sz="19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100"/>
              <a:buFont typeface="Calibri"/>
              <a:buChar char="○"/>
            </a:pPr>
            <a:r>
              <a:rPr lang="en" sz="19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Can allocate extra marketing or foster resources to “low-appeal” or “at risk” dogs</a:t>
            </a:r>
            <a:endParaRPr sz="19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100"/>
              <a:buFont typeface="Calibri"/>
              <a:buChar char="●"/>
            </a:pPr>
            <a:r>
              <a:rPr lang="en" sz="19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Will help increase adoption rates and can minimize negative outcomes such as euthanasia</a:t>
            </a:r>
            <a:endParaRPr sz="19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/>
        </p:nvSpPr>
        <p:spPr>
          <a:xfrm>
            <a:off x="377210" y="219456"/>
            <a:ext cx="8367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Executive </a:t>
            </a:r>
            <a:r>
              <a:rPr b="1" lang="en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" sz="21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ummary</a:t>
            </a:r>
            <a:endParaRPr b="1" i="0" sz="2100" u="none" cap="none" strike="noStrike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9"/>
          <p:cNvSpPr/>
          <p:nvPr/>
        </p:nvSpPr>
        <p:spPr>
          <a:xfrm>
            <a:off x="397785" y="699516"/>
            <a:ext cx="8367300" cy="7200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9"/>
          <p:cNvSpPr txBox="1"/>
          <p:nvPr/>
        </p:nvSpPr>
        <p:spPr>
          <a:xfrm>
            <a:off x="8470082" y="4814316"/>
            <a:ext cx="48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9"/>
          <p:cNvSpPr txBox="1"/>
          <p:nvPr/>
        </p:nvSpPr>
        <p:spPr>
          <a:xfrm>
            <a:off x="417214" y="1299950"/>
            <a:ext cx="274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i="0" sz="2000" u="none" cap="none" strike="noStrike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9"/>
          <p:cNvSpPr txBox="1"/>
          <p:nvPr/>
        </p:nvSpPr>
        <p:spPr>
          <a:xfrm>
            <a:off x="447032" y="1677046"/>
            <a:ext cx="82986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9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Open-data portals: Austin Animal Center (TX), Norfolk </a:t>
            </a:r>
            <a:r>
              <a:rPr lang="en" sz="19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Animal Care Center (VA)</a:t>
            </a:r>
            <a:r>
              <a:rPr b="0" i="0" lang="en" sz="19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, Sonoma County Animal Services (CA)</a:t>
            </a:r>
            <a:endParaRPr b="0" i="0" sz="1900" u="none" cap="none" strike="noStrike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9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106,786 raw rows</a:t>
            </a:r>
            <a:endParaRPr sz="19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S</a:t>
            </a:r>
            <a:r>
              <a:rPr b="0" i="0" lang="en" sz="19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hared outcome window</a:t>
            </a:r>
            <a:endParaRPr sz="19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" sz="12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May 5, 2025 to April 5, 2026</a:t>
            </a:r>
            <a:endParaRPr b="0" i="0" sz="1200" u="none" cap="none" strike="noStrike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9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Final sample: 2,884 adopted dogs with known sex and spay/neuter status</a:t>
            </a:r>
            <a:endParaRPr b="0" i="0" sz="1900" u="none" cap="none" strike="noStrike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19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Stay length = outcome date minus intake date, recomputed for every source</a:t>
            </a:r>
            <a:endParaRPr b="0" i="0" sz="1900" u="none" cap="none" strike="noStrike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 txBox="1"/>
          <p:nvPr/>
        </p:nvSpPr>
        <p:spPr>
          <a:xfrm>
            <a:off x="377210" y="219456"/>
            <a:ext cx="8367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Executive </a:t>
            </a:r>
            <a:r>
              <a:rPr b="1" lang="en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" sz="21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ummary</a:t>
            </a:r>
            <a:endParaRPr b="1" i="0" sz="2200" u="none" cap="none" strike="noStrike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40"/>
          <p:cNvSpPr/>
          <p:nvPr/>
        </p:nvSpPr>
        <p:spPr>
          <a:xfrm>
            <a:off x="397785" y="699516"/>
            <a:ext cx="8367300" cy="7200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0"/>
          <p:cNvSpPr txBox="1"/>
          <p:nvPr/>
        </p:nvSpPr>
        <p:spPr>
          <a:xfrm>
            <a:off x="8470082" y="4814316"/>
            <a:ext cx="48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0"/>
          <p:cNvSpPr txBox="1"/>
          <p:nvPr/>
        </p:nvSpPr>
        <p:spPr>
          <a:xfrm>
            <a:off x="397775" y="1359975"/>
            <a:ext cx="1979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r>
              <a:rPr b="1" i="0" lang="en" sz="2000" u="none" cap="none" strike="noStrike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Findin</a:t>
            </a: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gs</a:t>
            </a:r>
            <a:endParaRPr b="1" i="0" sz="2000" u="none" cap="none" strike="noStrike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0"/>
          <p:cNvSpPr txBox="1"/>
          <p:nvPr/>
        </p:nvSpPr>
        <p:spPr>
          <a:xfrm>
            <a:off x="397775" y="1907250"/>
            <a:ext cx="7629900" cy="25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Puppies adopted fastest everywhere</a:t>
            </a:r>
            <a:endParaRPr b="0" i="0" sz="2000" u="none" cap="none" strike="noStrike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ANOVA ranks breed family first </a:t>
            </a:r>
            <a:r>
              <a:rPr lang="en" sz="12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(Partial eta^2 = 0.088; p = 6.68e-54)</a:t>
            </a:r>
            <a:endParaRPr sz="22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Color is not significant </a:t>
            </a:r>
            <a:r>
              <a:rPr lang="en" sz="12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(p = 0.281)</a:t>
            </a:r>
            <a:endParaRPr b="0" i="0" sz="1200" u="none" cap="none" strike="noStrike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Exact days: unpredictable </a:t>
            </a:r>
            <a:r>
              <a:rPr b="0" i="0" lang="en" sz="12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" sz="12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12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ean Absolute Error </a:t>
            </a:r>
            <a:r>
              <a:rPr b="0" i="0" lang="en" sz="12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near 50</a:t>
            </a:r>
            <a:r>
              <a:rPr lang="en" sz="12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" sz="20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Adoption within </a:t>
            </a:r>
            <a:r>
              <a:rPr lang="en" sz="20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intervals</a:t>
            </a:r>
            <a:r>
              <a:rPr b="0" i="0" lang="en" sz="2000" u="none" cap="none" strike="noStrike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: predictable and accurate</a:t>
            </a:r>
            <a:endParaRPr b="0" i="0" sz="2000" u="none" cap="none" strike="noStrike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/>
        </p:nvSpPr>
        <p:spPr>
          <a:xfrm>
            <a:off x="377210" y="219456"/>
            <a:ext cx="8367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Data Collection, Cleaning, and Analysis</a:t>
            </a:r>
            <a:endParaRPr b="1" i="0" sz="2000" u="none" cap="none" strike="noStrike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1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1762600" y="836676"/>
            <a:ext cx="5623859" cy="493776"/>
          </a:xfrm>
          <a:prstGeom prst="roundRect">
            <a:avLst>
              <a:gd fmla="val 16667" name="adj"/>
            </a:avLst>
          </a:prstGeom>
          <a:solidFill>
            <a:srgbClr val="1F3A5F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95250" spcFirstLastPara="1" rIns="9525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Data collection</a:t>
            </a:r>
            <a:endParaRPr b="1" i="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Austin, Norfolk, Sonoma 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</a:t>
            </a: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-data portals; 106,786 </a:t>
            </a:r>
            <a:r>
              <a:rPr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animals recorded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1"/>
          <p:cNvSpPr/>
          <p:nvPr/>
        </p:nvSpPr>
        <p:spPr>
          <a:xfrm>
            <a:off x="4499088" y="1354454"/>
            <a:ext cx="150884" cy="12344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1762600" y="1501902"/>
            <a:ext cx="5623859" cy="493776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95250" spcFirstLastPara="1" rIns="9525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2. Cleaning and harmonization</a:t>
            </a:r>
            <a:endParaRPr b="1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Dogs only, valid dates; grouped breeds, colors, outcomes; 2,884 adopted dogs kept</a:t>
            </a:r>
            <a:endParaRPr sz="12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1"/>
          <p:cNvSpPr/>
          <p:nvPr/>
        </p:nvSpPr>
        <p:spPr>
          <a:xfrm>
            <a:off x="4499088" y="2019681"/>
            <a:ext cx="150884" cy="12344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1"/>
          <p:cNvSpPr/>
          <p:nvPr/>
        </p:nvSpPr>
        <p:spPr>
          <a:xfrm>
            <a:off x="1762600" y="2167128"/>
            <a:ext cx="5623859" cy="493776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95250" spcFirstLastPara="1" rIns="9525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3. Exploratory analysis</a:t>
            </a:r>
            <a:endParaRPr b="1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Right-skewed stays; age patterns differ by region</a:t>
            </a:r>
            <a:endParaRPr sz="12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4499088" y="2684907"/>
            <a:ext cx="150884" cy="12344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1"/>
          <p:cNvSpPr/>
          <p:nvPr/>
        </p:nvSpPr>
        <p:spPr>
          <a:xfrm>
            <a:off x="1762600" y="2832354"/>
            <a:ext cx="5623800" cy="4938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95250" spcFirstLastPara="1" rIns="9525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4. Regression and ANOVA</a:t>
            </a:r>
            <a:endParaRPr b="1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ANOVA to find significant variables for regression</a:t>
            </a:r>
            <a:endParaRPr sz="10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1"/>
          <p:cNvSpPr/>
          <p:nvPr/>
        </p:nvSpPr>
        <p:spPr>
          <a:xfrm>
            <a:off x="4499088" y="3350133"/>
            <a:ext cx="150884" cy="12344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1"/>
          <p:cNvSpPr/>
          <p:nvPr/>
        </p:nvSpPr>
        <p:spPr>
          <a:xfrm>
            <a:off x="1762600" y="3497580"/>
            <a:ext cx="5623859" cy="493776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95250" spcFirstLastPara="1" rIns="9525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5. Prediction models</a:t>
            </a:r>
            <a:endParaRPr b="1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Use neural network and </a:t>
            </a:r>
            <a:r>
              <a:rPr lang="en" sz="12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random forest to predict </a:t>
            </a:r>
            <a:endParaRPr sz="12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1"/>
          <p:cNvSpPr/>
          <p:nvPr/>
        </p:nvSpPr>
        <p:spPr>
          <a:xfrm>
            <a:off x="4499088" y="4015359"/>
            <a:ext cx="150884" cy="12344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3A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1"/>
          <p:cNvSpPr/>
          <p:nvPr/>
        </p:nvSpPr>
        <p:spPr>
          <a:xfrm>
            <a:off x="1762600" y="4162805"/>
            <a:ext cx="5623859" cy="493776"/>
          </a:xfrm>
          <a:prstGeom prst="roundRect">
            <a:avLst>
              <a:gd fmla="val 16667" name="adj"/>
            </a:avLst>
          </a:prstGeom>
          <a:solidFill>
            <a:srgbClr val="1F3A5F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95250" spcFirstLastPara="1" rIns="9525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Conclusions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Age, region, and breed are main factors in influencing outcome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/>
        </p:nvSpPr>
        <p:spPr>
          <a:xfrm>
            <a:off x="384394" y="219456"/>
            <a:ext cx="8367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b="1" i="0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2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2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2"/>
          <p:cNvSpPr txBox="1"/>
          <p:nvPr/>
        </p:nvSpPr>
        <p:spPr>
          <a:xfrm>
            <a:off x="411502" y="857250"/>
            <a:ext cx="41150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Raw sources (all animal types)</a:t>
            </a:r>
            <a:endParaRPr b="1" i="0" sz="1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" name="Google Shape;261;p42"/>
          <p:cNvGraphicFramePr/>
          <p:nvPr/>
        </p:nvGraphicFramePr>
        <p:xfrm>
          <a:off x="411502" y="11109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{92A2792F-7AA6-42C8-B573-21C7CE4B9F75}</a:tableStyleId>
              </a:tblPr>
              <a:tblGrid>
                <a:gridCol w="1440250"/>
                <a:gridCol w="823000"/>
                <a:gridCol w="1783175"/>
              </a:tblGrid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 b="1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Raw rows</a:t>
                      </a:r>
                      <a:endParaRPr b="1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information</a:t>
                      </a:r>
                      <a:endParaRPr b="1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Austin, TX</a:t>
                      </a:r>
                      <a:endParaRPr b="0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13,571</a:t>
                      </a:r>
                      <a:endParaRPr b="0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of birth</a:t>
                      </a:r>
                      <a:endParaRPr b="0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Norfolk, VA</a:t>
                      </a:r>
                      <a:endParaRPr b="0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59,540</a:t>
                      </a:r>
                      <a:endParaRPr b="0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Years old and months old</a:t>
                      </a:r>
                      <a:endParaRPr b="0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Sonoma County, CA</a:t>
                      </a:r>
                      <a:endParaRPr b="0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33,675</a:t>
                      </a:r>
                      <a:endParaRPr b="0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Approximate date of birth</a:t>
                      </a:r>
                      <a:endParaRPr b="0" sz="9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42"/>
          <p:cNvSpPr txBox="1"/>
          <p:nvPr/>
        </p:nvSpPr>
        <p:spPr>
          <a:xfrm>
            <a:off x="411502" y="2331720"/>
            <a:ext cx="4115100" cy="16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One outcome window for all regions: May 5, 2025 to April 5, 2026</a:t>
            </a:r>
            <a:endParaRPr sz="15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Age from date of birth (Austin, Sonoma) or years + months (Norfolk)</a:t>
            </a:r>
            <a:endParaRPr sz="15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Ages below 0 or above 25 years dropped as data errors</a:t>
            </a:r>
            <a:endParaRPr sz="15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2"/>
          <p:cNvSpPr txBox="1"/>
          <p:nvPr/>
        </p:nvSpPr>
        <p:spPr>
          <a:xfrm>
            <a:off x="4800856" y="810975"/>
            <a:ext cx="3909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b="1" i="0" sz="16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2"/>
          <p:cNvSpPr txBox="1"/>
          <p:nvPr/>
        </p:nvSpPr>
        <p:spPr>
          <a:xfrm>
            <a:off x="4800856" y="1110996"/>
            <a:ext cx="3943500" cy="28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Removed only to include  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2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Dogs only; valid intake/outcome dates; stay &gt; 0 days</a:t>
            </a:r>
            <a:endParaRPr sz="12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Breeds grouped into 7 families: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Hound/Beagle, Retriever, Shepherd, </a:t>
            </a:r>
            <a:r>
              <a:rPr lang="en" sz="10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Pitbull</a:t>
            </a:r>
            <a:r>
              <a:rPr lang="en" sz="10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/Staffy, Small Companion, Working/Large, Other</a:t>
            </a:r>
            <a:endParaRPr sz="10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Colors grouped into 8: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Black, White, Brown, Tan/Cream, Gray/Blue, Red/Orange, Patterned, Other</a:t>
            </a:r>
            <a:endParaRPr sz="10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Outcomes grouped into 6: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0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Adoption, Died, Euthanasia, Return to Owner, Transfer, Other</a:t>
            </a:r>
            <a:endParaRPr sz="10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Adoption outcomes only; return to owner, transfer, euthanasia, death excluded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Unknown sex or spay/neuter status dropped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Final sample: 2,884 dogs (</a:t>
            </a: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2,071 Austin</a:t>
            </a: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, 486 Norfolk, 327 Sonoma)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ity of Austin Debuts New Logo To Harsh Reviews - The Austin Independent" id="265" name="Google Shape;26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952" y="4043035"/>
            <a:ext cx="854681" cy="64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eric Theater – Norfolk's Off-Broadway Theater" id="266" name="Google Shape;26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4238" y="4004448"/>
            <a:ext cx="721875" cy="72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inted, Wood &amp; Metal 3-D County Seal Wall &amp; Podium Plaques" id="267" name="Google Shape;267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6488" y="3942385"/>
            <a:ext cx="854675" cy="85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/>
        </p:nvSpPr>
        <p:spPr>
          <a:xfrm>
            <a:off x="377210" y="219456"/>
            <a:ext cx="8367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EDA: stay length by region &amp; age groups</a:t>
            </a:r>
            <a:endParaRPr b="1" i="0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3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3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gional-stay-plot-1.png" id="275" name="Google Shape;27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210" y="925830"/>
            <a:ext cx="418338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3"/>
          <p:cNvSpPr txBox="1"/>
          <p:nvPr/>
        </p:nvSpPr>
        <p:spPr>
          <a:xfrm>
            <a:off x="377210" y="3326130"/>
            <a:ext cx="41836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Adopted dogs only; y-axis zoomed to 180 days, boxes use all records.</a:t>
            </a:r>
            <a:endParaRPr b="0" i="1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umulative-adoption-rate-1.png" id="277" name="Google Shape;277;p43"/>
          <p:cNvPicPr preferRelativeResize="0"/>
          <p:nvPr/>
        </p:nvPicPr>
        <p:blipFill rotWithShape="1">
          <a:blip r:embed="rId4">
            <a:alphaModFix/>
          </a:blip>
          <a:srcRect b="0" l="0" r="19061" t="0"/>
          <a:stretch/>
        </p:blipFill>
        <p:spPr>
          <a:xfrm>
            <a:off x="4675575" y="888825"/>
            <a:ext cx="4316477" cy="339384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3"/>
          <p:cNvSpPr txBox="1"/>
          <p:nvPr/>
        </p:nvSpPr>
        <p:spPr>
          <a:xfrm>
            <a:off x="4774047" y="4437705"/>
            <a:ext cx="4218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Share of age-known dogs with an adoption outcome by each day.</a:t>
            </a:r>
            <a:endParaRPr b="0" i="1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3"/>
          <p:cNvSpPr txBox="1"/>
          <p:nvPr/>
        </p:nvSpPr>
        <p:spPr>
          <a:xfrm>
            <a:off x="377210" y="3806190"/>
            <a:ext cx="42522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Medians: Austin 29, Norfolk 46.5, Sonoma 41 days</a:t>
            </a:r>
            <a:endParaRPr sz="15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umulative-adoption-rate-1.png" id="280" name="Google Shape;280;p43"/>
          <p:cNvPicPr preferRelativeResize="0"/>
          <p:nvPr/>
        </p:nvPicPr>
        <p:blipFill rotWithShape="1">
          <a:blip r:embed="rId4">
            <a:alphaModFix/>
          </a:blip>
          <a:srcRect b="35962" l="79865" r="720" t="39022"/>
          <a:stretch/>
        </p:blipFill>
        <p:spPr>
          <a:xfrm>
            <a:off x="7729575" y="4302964"/>
            <a:ext cx="895985" cy="73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/>
        </p:nvSpPr>
        <p:spPr>
          <a:xfrm>
            <a:off x="377210" y="219456"/>
            <a:ext cx="83672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EDA: age by region</a:t>
            </a:r>
            <a:endParaRPr b="1" i="0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4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4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ge-distribution-1.png" id="288" name="Google Shape;2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775" y="907500"/>
            <a:ext cx="6213126" cy="35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4"/>
          <p:cNvSpPr txBox="1"/>
          <p:nvPr/>
        </p:nvSpPr>
        <p:spPr>
          <a:xfrm>
            <a:off x="2324410" y="4683380"/>
            <a:ext cx="4183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One-year bins; last bin pools ages 12+. Norfolk reports whole years.</a:t>
            </a:r>
            <a:endParaRPr b="0" i="1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4"/>
          <p:cNvSpPr txBox="1"/>
          <p:nvPr/>
        </p:nvSpPr>
        <p:spPr>
          <a:xfrm>
            <a:off x="6398227" y="1840450"/>
            <a:ext cx="2636100" cy="18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rgbClr val="262B33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Young dogs make up most adopted dogs in all three regions.</a:t>
            </a:r>
            <a:endParaRPr sz="16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The age distributions differ slightly between Austin, Norfolk, and Sonoma.</a:t>
            </a:r>
            <a:endParaRPr sz="16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/>
          <p:nvPr/>
        </p:nvSpPr>
        <p:spPr>
          <a:xfrm>
            <a:off x="650000" y="870000"/>
            <a:ext cx="7779900" cy="294900"/>
          </a:xfrm>
          <a:prstGeom prst="rect">
            <a:avLst/>
          </a:prstGeom>
          <a:solidFill>
            <a:srgbClr val="E9EE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5"/>
          <p:cNvSpPr/>
          <p:nvPr/>
        </p:nvSpPr>
        <p:spPr>
          <a:xfrm>
            <a:off x="650000" y="3410000"/>
            <a:ext cx="7779900" cy="3000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C8CD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5"/>
          <p:cNvSpPr txBox="1"/>
          <p:nvPr/>
        </p:nvSpPr>
        <p:spPr>
          <a:xfrm>
            <a:off x="377210" y="219456"/>
            <a:ext cx="8367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Linear regression of log(stay days+1) result</a:t>
            </a:r>
            <a:endParaRPr b="1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5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5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5"/>
          <p:cNvSpPr txBox="1"/>
          <p:nvPr/>
        </p:nvSpPr>
        <p:spPr>
          <a:xfrm>
            <a:off x="650000" y="3810000"/>
            <a:ext cx="76500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Reference group: Austin adult female, not spayed/neutered, Retriever, Black, January intake</a:t>
            </a:r>
            <a:endParaRPr sz="95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Positive estimates mean longer predicted log stay; negative estimates mean shorter stay</a:t>
            </a:r>
            <a:endParaRPr sz="95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Full model includes intake month and all breed/color levels; selected terms shown</a:t>
            </a:r>
            <a:endParaRPr sz="95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5"/>
          <p:cNvSpPr txBox="1"/>
          <p:nvPr/>
        </p:nvSpPr>
        <p:spPr>
          <a:xfrm>
            <a:off x="800000" y="3453000"/>
            <a:ext cx="747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Model fit: N = 2,884 | Multiple R^2 = 0.174 | F(37, 2846) = 16.23 | p &lt; 2.2e-16</a:t>
            </a:r>
            <a:endParaRPr b="1" sz="102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5"/>
          <p:cNvSpPr txBox="1"/>
          <p:nvPr/>
        </p:nvSpPr>
        <p:spPr>
          <a:xfrm>
            <a:off x="760000" y="930000"/>
            <a:ext cx="27501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Term</a:t>
            </a:r>
            <a:endParaRPr b="1" sz="105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5"/>
          <p:cNvSpPr txBox="1"/>
          <p:nvPr/>
        </p:nvSpPr>
        <p:spPr>
          <a:xfrm>
            <a:off x="3650000" y="930000"/>
            <a:ext cx="759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Estimate</a:t>
            </a:r>
            <a:endParaRPr b="1" sz="105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5"/>
          <p:cNvSpPr txBox="1"/>
          <p:nvPr/>
        </p:nvSpPr>
        <p:spPr>
          <a:xfrm>
            <a:off x="4560000" y="930000"/>
            <a:ext cx="90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Std. Error</a:t>
            </a:r>
            <a:endParaRPr b="1" sz="105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5"/>
          <p:cNvSpPr txBox="1"/>
          <p:nvPr/>
        </p:nvSpPr>
        <p:spPr>
          <a:xfrm>
            <a:off x="5580000" y="930000"/>
            <a:ext cx="759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t value</a:t>
            </a:r>
            <a:endParaRPr b="1" sz="105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5"/>
          <p:cNvSpPr txBox="1"/>
          <p:nvPr/>
        </p:nvSpPr>
        <p:spPr>
          <a:xfrm>
            <a:off x="6460000" y="930000"/>
            <a:ext cx="9999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Pr(&gt;|t|)</a:t>
            </a:r>
            <a:endParaRPr b="1" sz="105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5"/>
          <p:cNvSpPr txBox="1"/>
          <p:nvPr/>
        </p:nvSpPr>
        <p:spPr>
          <a:xfrm>
            <a:off x="760000" y="1210000"/>
            <a:ext cx="28500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(Intercept)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age_groupPuppy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age_groupYoung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age_groupSenior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regionNorfolk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regionSonoma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sex_groupMale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fixed_statusSpayed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breedSmallCompanion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breedPit/Staffy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colorWhite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Norfolk:agePuppy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5"/>
          <p:cNvSpPr txBox="1"/>
          <p:nvPr/>
        </p:nvSpPr>
        <p:spPr>
          <a:xfrm>
            <a:off x="3650000" y="1210000"/>
            <a:ext cx="7599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3.241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highlight>
                  <a:srgbClr val="D9EAD3"/>
                </a:highlight>
                <a:latin typeface="Calibri"/>
                <a:ea typeface="Calibri"/>
                <a:cs typeface="Calibri"/>
                <a:sym typeface="Calibri"/>
              </a:rPr>
              <a:t>-0.765</a:t>
            </a:r>
            <a:endParaRPr sz="1010">
              <a:solidFill>
                <a:srgbClr val="262B33"/>
              </a:solidFill>
              <a:highlight>
                <a:srgbClr val="D9EAD3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-0.110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-0.038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-0.224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0.072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0.026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0.611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-1.038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0.234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0.032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0.827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5"/>
          <p:cNvSpPr txBox="1"/>
          <p:nvPr/>
        </p:nvSpPr>
        <p:spPr>
          <a:xfrm>
            <a:off x="4560000" y="1210000"/>
            <a:ext cx="8199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0.237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0.060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0.065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0.109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0.105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0.129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0.041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0.211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0.087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0.073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0.060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0.190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5"/>
          <p:cNvSpPr txBox="1"/>
          <p:nvPr/>
        </p:nvSpPr>
        <p:spPr>
          <a:xfrm>
            <a:off x="5580000" y="1210000"/>
            <a:ext cx="7599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13.67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-12.75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-1.68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-0.35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-2.13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0.56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0.64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2.90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-12.00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3.21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0.54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4.34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5"/>
          <p:cNvSpPr txBox="1"/>
          <p:nvPr/>
        </p:nvSpPr>
        <p:spPr>
          <a:xfrm>
            <a:off x="6460000" y="1210000"/>
            <a:ext cx="9801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&lt;2e-16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&lt;2e-16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0.093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0.728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0.033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0.574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0.524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0.004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&lt;2e-16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0.001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0.590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1.45e-05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5"/>
          <p:cNvSpPr txBox="1"/>
          <p:nvPr/>
        </p:nvSpPr>
        <p:spPr>
          <a:xfrm>
            <a:off x="7680000" y="1210000"/>
            <a:ext cx="5400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***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***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**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***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**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***</a:t>
            </a:r>
            <a:endParaRPr sz="101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/>
        </p:nvSpPr>
        <p:spPr>
          <a:xfrm>
            <a:off x="377210" y="219456"/>
            <a:ext cx="83672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ANOVA Test</a:t>
            </a:r>
            <a:endParaRPr b="1" i="0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6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6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" name="Google Shape;320;p46"/>
          <p:cNvGraphicFramePr/>
          <p:nvPr/>
        </p:nvGraphicFramePr>
        <p:xfrm>
          <a:off x="411502" y="9601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{92A2792F-7AA6-42C8-B573-21C7CE4B9F75}</a:tableStyleId>
              </a:tblPr>
              <a:tblGrid>
                <a:gridCol w="1165900"/>
                <a:gridCol w="480075"/>
                <a:gridCol w="651525"/>
                <a:gridCol w="651525"/>
                <a:gridCol w="875375"/>
                <a:gridCol w="661650"/>
                <a:gridCol w="931950"/>
              </a:tblGrid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Ranked term</a:t>
                      </a:r>
                      <a:endParaRPr b="1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Df</a:t>
                      </a:r>
                      <a:endParaRPr b="1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Sum Sq</a:t>
                      </a:r>
                      <a:endParaRPr b="1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F</a:t>
                      </a:r>
                      <a:endParaRPr b="1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p value</a:t>
                      </a:r>
                      <a:endParaRPr b="1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eta^2</a:t>
                      </a:r>
                      <a:endParaRPr b="1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Result</a:t>
                      </a:r>
                      <a:endParaRPr b="1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1. Breed family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6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329.76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45.90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6.68e-54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0.088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***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2. Age group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3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207.06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57.64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3.62e-36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0.057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***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3. Intake month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11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37.13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2.82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0.0011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0.011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*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4. Region x age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6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36.21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5.04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3.77e-05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0.011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**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5. Region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2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32.53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13.58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1.34e-06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0.010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**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6. Color family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7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10.33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1.23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0.281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0.003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.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7. Spay/neuter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1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10.08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8.42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0.0037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0.003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*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8. Sex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1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0.49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0.41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0.524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0.000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.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Residuals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2846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3407.96</a:t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>
                        <a:solidFill>
                          <a:srgbClr val="262B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46"/>
          <p:cNvSpPr txBox="1"/>
          <p:nvPr/>
        </p:nvSpPr>
        <p:spPr>
          <a:xfrm>
            <a:off x="6001070" y="960120"/>
            <a:ext cx="2743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6"/>
          <p:cNvSpPr txBox="1"/>
          <p:nvPr/>
        </p:nvSpPr>
        <p:spPr>
          <a:xfrm>
            <a:off x="6000995" y="977404"/>
            <a:ext cx="27432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Type-II ANOVA tests each term after accounting for the other model terms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Top blocks: breed family, age group, then intake month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Region and region x age group must be interpreted together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Sex and color family are not detectable after controls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Residual variation remains large, so exact-day forecasts stay weak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7"/>
          <p:cNvSpPr txBox="1"/>
          <p:nvPr/>
        </p:nvSpPr>
        <p:spPr>
          <a:xfrm>
            <a:off x="377200" y="219456"/>
            <a:ext cx="836698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Ranked category effect</a:t>
            </a:r>
            <a:endParaRPr sz="1100"/>
          </a:p>
        </p:txBody>
      </p:sp>
      <p:sp>
        <p:nvSpPr>
          <p:cNvPr id="328" name="Google Shape;328;p47"/>
          <p:cNvSpPr/>
          <p:nvPr/>
        </p:nvSpPr>
        <p:spPr>
          <a:xfrm>
            <a:off x="397775" y="699516"/>
            <a:ext cx="8366983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7"/>
          <p:cNvSpPr txBox="1"/>
          <p:nvPr/>
        </p:nvSpPr>
        <p:spPr>
          <a:xfrm>
            <a:off x="8469856" y="4814316"/>
            <a:ext cx="48007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00"/>
          </a:p>
        </p:txBody>
      </p:sp>
      <p:sp>
        <p:nvSpPr>
          <p:cNvPr id="330" name="Google Shape;330;p47"/>
          <p:cNvSpPr txBox="1"/>
          <p:nvPr/>
        </p:nvSpPr>
        <p:spPr>
          <a:xfrm>
            <a:off x="411491" y="836676"/>
            <a:ext cx="41149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Breed family (reference: Retriever, n = 472)</a:t>
            </a:r>
            <a:endParaRPr b="1" sz="1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1" name="Google Shape;331;p47"/>
          <p:cNvGraphicFramePr/>
          <p:nvPr/>
        </p:nvGraphicFramePr>
        <p:xfrm>
          <a:off x="317941" y="12721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{92A2792F-7AA6-42C8-B573-21C7CE4B9F75}</a:tableStyleId>
              </a:tblPr>
              <a:tblGrid>
                <a:gridCol w="1448425"/>
                <a:gridCol w="496575"/>
                <a:gridCol w="662150"/>
                <a:gridCol w="703525"/>
                <a:gridCol w="703525"/>
                <a:gridCol w="1321725"/>
              </a:tblGrid>
              <a:tr h="2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Rank/category</a:t>
                      </a:r>
                      <a:endParaRPr sz="1600"/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1600"/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Coef.</a:t>
                      </a:r>
                      <a:endParaRPr sz="1600"/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diff</a:t>
                      </a:r>
                      <a:endParaRPr sz="1600"/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FDR p</a:t>
                      </a:r>
                      <a:endParaRPr sz="1600"/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62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Direction</a:t>
                      </a:r>
                      <a:endParaRPr sz="1600"/>
                    </a:p>
                  </a:txBody>
                  <a:tcPr marT="19050" marB="19050" marR="47625" marL="47625">
                    <a:solidFill>
                      <a:srgbClr val="E9EEF4"/>
                    </a:solidFill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1. Small Companion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293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-1.038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-64.6%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1.3e-31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Shorter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2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2. Other (n&lt;50)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797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-0.264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-23.2%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2.6e-04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Shorter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3. Pit Bull / Staffy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640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+0.234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+26.3%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0.003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Longer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4. Working / Large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217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-0.084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-8.1%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0.543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5. Hound / Beagle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102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+0.048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+4.9%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0.833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  <a:tr h="45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6. Shepherd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62B33"/>
                          </a:solidFill>
                        </a:rPr>
                        <a:t>363</a:t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+0.013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+1.3%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262B33"/>
                          </a:solidFill>
                        </a:rPr>
                        <a:t>0.868</a:t>
                      </a:r>
                      <a:endParaRPr sz="1300"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262B33"/>
                        </a:solidFill>
                      </a:endParaRPr>
                    </a:p>
                  </a:txBody>
                  <a:tcPr marT="19050" marB="19050" marR="47625" marL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2" name="Google Shape;332;p47"/>
          <p:cNvSpPr txBox="1"/>
          <p:nvPr/>
        </p:nvSpPr>
        <p:spPr>
          <a:xfrm>
            <a:off x="5782626" y="1344904"/>
            <a:ext cx="2873400" cy="2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Rows are ranked by absolute adjusted coefficient within each predictor block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% diff = exp(coefficient) - 1, on the log(1 + days) scale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With Retriever as reference, small companions are ~65% shorter; pit bull/staffy types are ~26% longer</a:t>
            </a:r>
            <a:endParaRPr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7"/>
          <p:cNvSpPr txBox="1"/>
          <p:nvPr/>
        </p:nvSpPr>
        <p:spPr>
          <a:xfrm>
            <a:off x="317950" y="4098050"/>
            <a:ext cx="8466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Reference groups: Retriever for breed and Black for color. Same multivariable regression.</a:t>
            </a:r>
            <a:endParaRPr i="1"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8"/>
          <p:cNvSpPr txBox="1"/>
          <p:nvPr/>
        </p:nvSpPr>
        <p:spPr>
          <a:xfrm>
            <a:off x="377210" y="219456"/>
            <a:ext cx="8367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b="1" i="0" sz="21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8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8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8"/>
          <p:cNvSpPr txBox="1"/>
          <p:nvPr/>
        </p:nvSpPr>
        <p:spPr>
          <a:xfrm>
            <a:off x="5332025" y="853250"/>
            <a:ext cx="3812100" cy="22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Neural network - </a:t>
            </a:r>
            <a:r>
              <a:rPr lang="en" sz="21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 Same inputs as the regression; three stratified 70/30</a:t>
            </a:r>
            <a:endParaRPr sz="21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r>
              <a:rPr lang="en" sz="21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 - 500 trees, 3 variables per split</a:t>
            </a:r>
            <a:endParaRPr sz="21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48"/>
          <p:cNvPicPr preferRelativeResize="0"/>
          <p:nvPr/>
        </p:nvPicPr>
        <p:blipFill rotWithShape="1">
          <a:blip r:embed="rId3">
            <a:alphaModFix/>
          </a:blip>
          <a:srcRect b="0" l="0" r="26751" t="0"/>
          <a:stretch/>
        </p:blipFill>
        <p:spPr>
          <a:xfrm>
            <a:off x="142575" y="699525"/>
            <a:ext cx="5189449" cy="39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8225" y="3466500"/>
            <a:ext cx="2174850" cy="9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/>
        </p:nvSpPr>
        <p:spPr>
          <a:xfrm>
            <a:off x="377210" y="219456"/>
            <a:ext cx="8367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Random forest: interval predictions</a:t>
            </a:r>
            <a:endParaRPr b="1" i="0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9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9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val-age-probability-heatmap-1.png" id="351" name="Google Shape;351;p49"/>
          <p:cNvPicPr preferRelativeResize="0"/>
          <p:nvPr/>
        </p:nvPicPr>
        <p:blipFill rotWithShape="1">
          <a:blip r:embed="rId3">
            <a:alphaModFix/>
          </a:blip>
          <a:srcRect b="0" l="0" r="813" t="11402"/>
          <a:stretch/>
        </p:blipFill>
        <p:spPr>
          <a:xfrm>
            <a:off x="976534" y="809625"/>
            <a:ext cx="7493530" cy="424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0"/>
          <p:cNvSpPr txBox="1"/>
          <p:nvPr/>
        </p:nvSpPr>
        <p:spPr>
          <a:xfrm>
            <a:off x="377210" y="219456"/>
            <a:ext cx="8367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Random forest: interval predictions</a:t>
            </a:r>
            <a:endParaRPr b="1" i="0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0"/>
          <p:cNvSpPr/>
          <p:nvPr/>
        </p:nvSpPr>
        <p:spPr>
          <a:xfrm>
            <a:off x="397785" y="699516"/>
            <a:ext cx="8367300" cy="7200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50"/>
          <p:cNvSpPr txBox="1"/>
          <p:nvPr/>
        </p:nvSpPr>
        <p:spPr>
          <a:xfrm>
            <a:off x="8470082" y="4814316"/>
            <a:ext cx="48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950" y="809700"/>
            <a:ext cx="6137454" cy="419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1"/>
          <p:cNvSpPr txBox="1"/>
          <p:nvPr/>
        </p:nvSpPr>
        <p:spPr>
          <a:xfrm>
            <a:off x="377210" y="219456"/>
            <a:ext cx="83672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Forest calibration and variable importance</a:t>
            </a:r>
            <a:endParaRPr b="1" i="0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51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1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val-random-forest-importance-1.png" id="367" name="Google Shape;3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5" y="733800"/>
            <a:ext cx="6333086" cy="395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2"/>
          <p:cNvSpPr txBox="1"/>
          <p:nvPr/>
        </p:nvSpPr>
        <p:spPr>
          <a:xfrm>
            <a:off x="377210" y="219456"/>
            <a:ext cx="8367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1" i="0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52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52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52"/>
          <p:cNvSpPr txBox="1"/>
          <p:nvPr/>
        </p:nvSpPr>
        <p:spPr>
          <a:xfrm>
            <a:off x="411498" y="891550"/>
            <a:ext cx="8367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What the evidence supports</a:t>
            </a:r>
            <a:endParaRPr b="1" i="0" sz="21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52"/>
          <p:cNvSpPr txBox="1"/>
          <p:nvPr/>
        </p:nvSpPr>
        <p:spPr>
          <a:xfrm>
            <a:off x="411498" y="1283946"/>
            <a:ext cx="83673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61950" lvl="0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" sz="21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ge and breed family have the strongest statistical relationship with speed of adoption</a:t>
            </a:r>
            <a:endParaRPr sz="21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Exact-day forecasts fail; interval probabilities prove to be more accurate</a:t>
            </a:r>
            <a:endParaRPr sz="21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2100"/>
              <a:buFont typeface="Calibri"/>
              <a:buChar char="●"/>
            </a:pPr>
            <a:r>
              <a:rPr lang="en" sz="21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Practical use of interval probabilities at intake</a:t>
            </a:r>
            <a:endParaRPr sz="21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1371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2100"/>
              <a:buFont typeface="Calibri"/>
              <a:buChar char="○"/>
            </a:pPr>
            <a:r>
              <a:rPr lang="en" sz="21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forecast upcoming kennel crowding</a:t>
            </a:r>
            <a:endParaRPr sz="21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1371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2100"/>
              <a:buFont typeface="Calibri"/>
              <a:buChar char="○"/>
            </a:pPr>
            <a:r>
              <a:rPr lang="en" sz="21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strategically plan which dogs will need foster homes</a:t>
            </a:r>
            <a:endParaRPr sz="21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3"/>
          <p:cNvSpPr txBox="1"/>
          <p:nvPr/>
        </p:nvSpPr>
        <p:spPr>
          <a:xfrm>
            <a:off x="377210" y="219456"/>
            <a:ext cx="8367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i="0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imitations</a:t>
            </a:r>
            <a:endParaRPr b="1" i="0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53"/>
          <p:cNvSpPr/>
          <p:nvPr/>
        </p:nvSpPr>
        <p:spPr>
          <a:xfrm>
            <a:off x="397785" y="699516"/>
            <a:ext cx="8367300" cy="7200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53"/>
          <p:cNvSpPr txBox="1"/>
          <p:nvPr/>
        </p:nvSpPr>
        <p:spPr>
          <a:xfrm>
            <a:off x="8470082" y="4814316"/>
            <a:ext cx="480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53"/>
          <p:cNvSpPr txBox="1"/>
          <p:nvPr/>
        </p:nvSpPr>
        <p:spPr>
          <a:xfrm>
            <a:off x="398693" y="814457"/>
            <a:ext cx="83466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9210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000"/>
              <a:buFont typeface="Calibri"/>
              <a:buChar char="●"/>
            </a:pPr>
            <a:r>
              <a:rPr lang="en" sz="18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Observational admin records: associations, not causal effects</a:t>
            </a:r>
            <a:endParaRPr sz="18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000"/>
              <a:buFont typeface="Calibri"/>
              <a:buChar char="●"/>
            </a:pPr>
            <a:r>
              <a:rPr lang="en" sz="18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Limitations of data</a:t>
            </a:r>
            <a:endParaRPr sz="18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000"/>
              <a:buFont typeface="Calibri"/>
              <a:buChar char="○"/>
            </a:pPr>
            <a:r>
              <a:rPr lang="en" sz="18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missing variable details that halt us from deeper exploration</a:t>
            </a:r>
            <a:endParaRPr sz="18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2" marL="1371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000"/>
              <a:buFont typeface="Calibri"/>
              <a:buChar char="■"/>
            </a:pPr>
            <a:r>
              <a:rPr lang="en" sz="18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transfers, euthanasia reason</a:t>
            </a:r>
            <a:endParaRPr sz="18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3" marL="18288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000"/>
              <a:buFont typeface="Calibri"/>
              <a:buChar char="●"/>
            </a:pPr>
            <a:r>
              <a:rPr lang="en" sz="18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dogs killed or transfered are excluded from our study, because of the lack of reasoning</a:t>
            </a:r>
            <a:endParaRPr sz="18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000"/>
              <a:buFont typeface="Calibri"/>
              <a:buChar char="○"/>
            </a:pPr>
            <a:r>
              <a:rPr lang="en" sz="18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lack of health, behavior information</a:t>
            </a:r>
            <a:endParaRPr sz="18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000"/>
              <a:buFont typeface="Calibri"/>
              <a:buChar char="○"/>
            </a:pPr>
            <a:r>
              <a:rPr lang="en" sz="18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lack of foster, capacity, or marketing fields</a:t>
            </a:r>
            <a:endParaRPr sz="18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53"/>
          <p:cNvSpPr txBox="1"/>
          <p:nvPr/>
        </p:nvSpPr>
        <p:spPr>
          <a:xfrm>
            <a:off x="423706" y="3297100"/>
            <a:ext cx="8274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Future Research</a:t>
            </a:r>
            <a:endParaRPr b="1" i="0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53"/>
          <p:cNvSpPr txBox="1"/>
          <p:nvPr/>
        </p:nvSpPr>
        <p:spPr>
          <a:xfrm>
            <a:off x="398688" y="3674188"/>
            <a:ext cx="80928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200"/>
              <a:buFont typeface="Calibri"/>
              <a:buChar char="●"/>
            </a:pPr>
            <a:r>
              <a:rPr lang="en" sz="18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Impact of health &amp; behavior</a:t>
            </a:r>
            <a:endParaRPr sz="18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200"/>
              <a:buFont typeface="Calibri"/>
              <a:buChar char="●"/>
            </a:pPr>
            <a:r>
              <a:rPr lang="en" sz="18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Examination of different shelter policies on marketing and euthanasia</a:t>
            </a:r>
            <a:endParaRPr sz="18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200"/>
              <a:buFont typeface="Calibri"/>
              <a:buChar char="●"/>
            </a:pPr>
            <a:r>
              <a:rPr lang="en" sz="18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Impact of adoption fees</a:t>
            </a:r>
            <a:endParaRPr sz="18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4"/>
          <p:cNvSpPr txBox="1"/>
          <p:nvPr/>
        </p:nvSpPr>
        <p:spPr>
          <a:xfrm>
            <a:off x="377210" y="219456"/>
            <a:ext cx="836720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b="1" i="0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54"/>
          <p:cNvSpPr/>
          <p:nvPr/>
        </p:nvSpPr>
        <p:spPr>
          <a:xfrm>
            <a:off x="397785" y="699516"/>
            <a:ext cx="8367206" cy="7144"/>
          </a:xfrm>
          <a:prstGeom prst="rect">
            <a:avLst/>
          </a:prstGeom>
          <a:solidFill>
            <a:srgbClr val="C8CDD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54"/>
          <p:cNvSpPr txBox="1"/>
          <p:nvPr/>
        </p:nvSpPr>
        <p:spPr>
          <a:xfrm>
            <a:off x="8470082" y="4814316"/>
            <a:ext cx="48008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54"/>
          <p:cNvSpPr txBox="1"/>
          <p:nvPr/>
        </p:nvSpPr>
        <p:spPr>
          <a:xfrm>
            <a:off x="411502" y="960120"/>
            <a:ext cx="8298622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City of Austin Open Data Portal. Austin Animal Center Outcomes. https://data.austintexas.gov/Health-and-Community-Services/Austin-Animal-Center-Outcomes/gsvs-ypi7 (file dated June 30, 2026)</a:t>
            </a:r>
            <a:endParaRPr sz="11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City of Norfolk Open Data Portal. Norfolk Animal Care and Adoption Center (NACC). https://data.norfolk.gov/Government/Norfolk-Animal-Care-and-Adoption-Center-NACC-/vfm4-5wv6 (file dated July 1, 2026)</a:t>
            </a:r>
            <a:endParaRPr sz="11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• County of Sonoma Open Data Portal. Animal Shelter Intake and Outcome. https://data.sonomacounty.ca.gov/Government/Animal-Shelter-Intake-and-Outcome/924a-vesw (file dated July 9, 2026)</a:t>
            </a:r>
            <a:endParaRPr sz="11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5"/>
          <p:cNvSpPr txBox="1"/>
          <p:nvPr/>
        </p:nvSpPr>
        <p:spPr>
          <a:xfrm>
            <a:off x="450000" y="260000"/>
            <a:ext cx="8199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Appendix A: sample dataset rows</a:t>
            </a:r>
            <a:endParaRPr b="1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5"/>
          <p:cNvSpPr/>
          <p:nvPr/>
        </p:nvSpPr>
        <p:spPr>
          <a:xfrm>
            <a:off x="450000" y="840000"/>
            <a:ext cx="8250000" cy="1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5"/>
          <p:cNvSpPr txBox="1"/>
          <p:nvPr/>
        </p:nvSpPr>
        <p:spPr>
          <a:xfrm>
            <a:off x="450000" y="930000"/>
            <a:ext cx="8250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Processed sample: adopted dogs only, valid dates, known sex and spay/neuter status, harmonized age, breed, color, and region fields.</a:t>
            </a:r>
            <a:endParaRPr sz="9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5"/>
          <p:cNvSpPr txBox="1"/>
          <p:nvPr/>
        </p:nvSpPr>
        <p:spPr>
          <a:xfrm>
            <a:off x="450000" y="3920000"/>
            <a:ext cx="82500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Final modeling sample: 2,884 adopted dogs = 2,071 Austin, 486 Norfolk, and 327 Sonoma records. Stay length is recomputed as outcome date minus intake date.</a:t>
            </a:r>
            <a:endParaRPr i="1" sz="8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5"/>
          <p:cNvSpPr txBox="1"/>
          <p:nvPr/>
        </p:nvSpPr>
        <p:spPr>
          <a:xfrm>
            <a:off x="8500000" y="4880000"/>
            <a:ext cx="3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5"/>
          <p:cNvSpPr txBox="1"/>
          <p:nvPr/>
        </p:nvSpPr>
        <p:spPr>
          <a:xfrm>
            <a:off x="450000" y="1280000"/>
            <a:ext cx="825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Region              Intake      Outcome     Stay  Age  Age group  Breed / color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Austin, TX          2025-04-25  2025-05-06  11.5  3.0  Adult      Other / Black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Austin, TX          2025-04-10  2025-05-06  26.5  3.0  Adult      Other / Patterned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Norfolk, VA         2026-03-22  2026-03-31   9.0 13.0  Senior     Small companion / Tan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Norfolk, VA         2026-03-17  2026-03-26   9.0  3.0  Adult      Small companion / White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Sonoma County, CA   2025-10-12  2025-11-21  40.0  0.7  Young      Shepherd / Black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Sonoma County, CA   2025-09-18  2025-10-28  40.0  0.1  Puppy      Other / White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6"/>
          <p:cNvSpPr txBox="1"/>
          <p:nvPr/>
        </p:nvSpPr>
        <p:spPr>
          <a:xfrm>
            <a:off x="450000" y="260000"/>
            <a:ext cx="8199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Appendix B: testing the region x age interaction</a:t>
            </a:r>
            <a:endParaRPr b="1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6"/>
          <p:cNvSpPr/>
          <p:nvPr/>
        </p:nvSpPr>
        <p:spPr>
          <a:xfrm>
            <a:off x="450000" y="840000"/>
            <a:ext cx="8250000" cy="1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6"/>
          <p:cNvSpPr txBox="1"/>
          <p:nvPr/>
        </p:nvSpPr>
        <p:spPr>
          <a:xfrm>
            <a:off x="450000" y="930000"/>
            <a:ext cx="82500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Test logic: compare the structured no-interaction regression with a model adding one interaction block. H0 = the age-group pattern is the same across regions. A small p value supports keeping the interaction.</a:t>
            </a:r>
            <a:endParaRPr sz="9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56"/>
          <p:cNvSpPr txBox="1"/>
          <p:nvPr/>
        </p:nvSpPr>
        <p:spPr>
          <a:xfrm>
            <a:off x="450000" y="4070000"/>
            <a:ext cx="825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Interpretation: the region x age group block is statistically supported and directly matches the research question. Other interactions are treated as supplementary because they answer secondary questions or add many more parameters.</a:t>
            </a:r>
            <a:endParaRPr i="1" sz="8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56"/>
          <p:cNvSpPr txBox="1"/>
          <p:nvPr/>
        </p:nvSpPr>
        <p:spPr>
          <a:xfrm>
            <a:off x="8500000" y="4880000"/>
            <a:ext cx="3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56"/>
          <p:cNvSpPr txBox="1"/>
          <p:nvPr/>
        </p:nvSpPr>
        <p:spPr>
          <a:xfrm>
            <a:off x="450000" y="1750000"/>
            <a:ext cx="8250000" cy="21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Candidate                df  dAdjR2   dAIC     F       p         BH p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Region x age group        6 +0.00130  </a:t>
            </a: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-26.9</a:t>
            </a: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   5.039  3.77e-05  1.51e-04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Region x breed family    12 +0.0084  -17.0   3.393  5.95e-05  1.59e-04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Age group x breed family 18 +0.0071  -18.6   3.472  9.69e-04  7.75e-03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Region x intake month    22 +0.0009  +18.7   1.132  0.3026    0.3458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">
                <a:solidFill>
                  <a:srgbClr val="262B33"/>
                </a:solidFill>
                <a:latin typeface="Courier New"/>
                <a:ea typeface="Courier New"/>
                <a:cs typeface="Courier New"/>
                <a:sym typeface="Courier New"/>
              </a:rPr>
              <a:t>Region x color family    14 -0.0008  +16.4   0.817  0.6509    0.6509</a:t>
            </a:r>
            <a:endParaRPr sz="920">
              <a:solidFill>
                <a:srgbClr val="262B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7"/>
          <p:cNvSpPr txBox="1"/>
          <p:nvPr/>
        </p:nvSpPr>
        <p:spPr>
          <a:xfrm>
            <a:off x="450000" y="260000"/>
            <a:ext cx="8199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Appendix C: AI Usage</a:t>
            </a:r>
            <a:endParaRPr b="1" sz="2000">
              <a:solidFill>
                <a:srgbClr val="1F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57"/>
          <p:cNvSpPr/>
          <p:nvPr/>
        </p:nvSpPr>
        <p:spPr>
          <a:xfrm>
            <a:off x="450000" y="840000"/>
            <a:ext cx="8250000" cy="1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7"/>
          <p:cNvSpPr txBox="1"/>
          <p:nvPr/>
        </p:nvSpPr>
        <p:spPr>
          <a:xfrm>
            <a:off x="450000" y="930000"/>
            <a:ext cx="82500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Used AI to find datasets</a:t>
            </a:r>
            <a:endParaRPr sz="16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Used AI to do basic EDA and data cleaning - distributions, medians by region, and the boxplots</a:t>
            </a:r>
            <a:endParaRPr sz="16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By providing the overall structure </a:t>
            </a:r>
            <a:endParaRPr sz="16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Suggested log(1 + days) for the skewed outcome</a:t>
            </a:r>
            <a:endParaRPr sz="16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62B33"/>
              </a:buClr>
              <a:buSzPts val="1600"/>
              <a:buFont typeface="Calibri"/>
              <a:buChar char="●"/>
            </a:pPr>
            <a:r>
              <a:rPr lang="en" sz="1600">
                <a:solidFill>
                  <a:srgbClr val="262B33"/>
                </a:solidFill>
                <a:latin typeface="Calibri"/>
                <a:ea typeface="Calibri"/>
                <a:cs typeface="Calibri"/>
                <a:sym typeface="Calibri"/>
              </a:rPr>
              <a:t>Had it read each portal's column documentation and note the difference</a:t>
            </a:r>
            <a:endParaRPr sz="1600">
              <a:solidFill>
                <a:srgbClr val="262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7"/>
          <p:cNvSpPr txBox="1"/>
          <p:nvPr/>
        </p:nvSpPr>
        <p:spPr>
          <a:xfrm>
            <a:off x="8500000" y="4880000"/>
            <a:ext cx="3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sz="8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