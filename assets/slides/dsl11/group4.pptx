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9" roundtripDataSignature="AMtx7mhaE9zosxG7oy1DrfDsZdIgtbRM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DB3B124-AF7D-4BCB-ACE9-365E2DC4C48F}">
  <a:tblStyle styleId="{BDB3B124-AF7D-4BCB-ACE9-365E2DC4C48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7" name="Google Shape;22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0" name="Google Shape;25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1" name="Google Shape;25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3" name="Google Shape;263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7" name="Google Shape;277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" name="Google Shape;289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0" name="Google Shape;290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0" name="Google Shape;300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1" name="Google Shape;301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0" name="Google Shape;320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1" name="Google Shape;321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4" name="Google Shape;354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5" name="Google Shape;355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1" name="Google Shape;371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2" name="Google Shape;372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1" name="Google Shape;391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2" name="Google Shape;392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5" name="Google Shape;405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6" name="Google Shape;406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f4611e8b55_0_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5" name="Google Shape;425;g3f4611e8b55_0_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6" name="Google Shape;426;g3f4611e8b55_0_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5" name="Google Shape;435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6" name="Google Shape;436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7" name="Google Shape;447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8" name="Google Shape;448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8" name="Google Shape;468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9" name="Google Shape;469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f4611e8b55_0_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8" name="Google Shape;498;g3f4611e8b55_0_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9" name="Google Shape;499;g3f4611e8b55_0_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" name="Google Shape;23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3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3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3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3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10881360" y="685800"/>
            <a:ext cx="109728" cy="109728"/>
          </a:xfrm>
          <a:prstGeom prst="ellipse">
            <a:avLst/>
          </a:prstGeom>
          <a:solidFill>
            <a:srgbClr val="2C4C7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11201400" y="685800"/>
            <a:ext cx="109728" cy="109728"/>
          </a:xfrm>
          <a:prstGeom prst="ellipse">
            <a:avLst/>
          </a:prstGeom>
          <a:solidFill>
            <a:srgbClr val="2C4C7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11521440" y="685800"/>
            <a:ext cx="109728" cy="10972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868680" y="1252728"/>
            <a:ext cx="118872" cy="118872"/>
          </a:xfrm>
          <a:prstGeom prst="ellipse">
            <a:avLst/>
          </a:prstGeom>
          <a:solidFill>
            <a:srgbClr val="5EAA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088136" y="119786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5EAAA1"/>
                </a:solidFill>
                <a:latin typeface="Calibri"/>
                <a:ea typeface="Calibri"/>
                <a:cs typeface="Calibri"/>
                <a:sym typeface="Calibri"/>
              </a:rPr>
              <a:t>2024 SURVEY OF INCOME AND PROGRAM PARTICIPATION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822960" y="1874519"/>
            <a:ext cx="10424100" cy="24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Disability, Hardship, </a:t>
            </a:r>
            <a:endParaRPr b="1" i="0" sz="5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Wealth</a:t>
            </a:r>
            <a:endParaRPr b="1" i="0" sz="5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-US" sz="5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 the United States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" name="Google Shape;92;p1"/>
          <p:cNvCxnSpPr/>
          <p:nvPr/>
        </p:nvCxnSpPr>
        <p:spPr>
          <a:xfrm>
            <a:off x="868680" y="4343400"/>
            <a:ext cx="2926200" cy="600"/>
          </a:xfrm>
          <a:prstGeom prst="bentConnector3">
            <a:avLst>
              <a:gd fmla="val 50000" name="adj1"/>
            </a:avLst>
          </a:prstGeom>
          <a:noFill/>
          <a:ln cap="flat" cmpd="sng" w="3175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1"/>
          <p:cNvSpPr txBox="1"/>
          <p:nvPr/>
        </p:nvSpPr>
        <p:spPr>
          <a:xfrm>
            <a:off x="868680" y="45262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How disability relates to material hardship, wealth, and saving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868680" y="5806440"/>
            <a:ext cx="1005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Yejun   ·   Mourya   ·   Kalash   ·   Hailey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640080" y="521208"/>
            <a:ext cx="118872" cy="1188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859536" y="46634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THE POLICY PROBLEM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479975" y="1828800"/>
            <a:ext cx="6754500" cy="3840600"/>
          </a:xfrm>
          <a:prstGeom prst="roundRect">
            <a:avLst>
              <a:gd fmla="val 6000" name="adj"/>
            </a:avLst>
          </a:prstGeom>
          <a:solidFill>
            <a:srgbClr val="CADCFC"/>
          </a:solidFill>
          <a:ln>
            <a:noFill/>
          </a:ln>
          <a:effectLst>
            <a:outerShdw blurRad="90000" rotWithShape="0" dir="5400000" dist="38000">
              <a:srgbClr val="1E3A5F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640080" y="758952"/>
            <a:ext cx="1097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Disability</a:t>
            </a:r>
            <a:r>
              <a:rPr b="1" lang="en-US" sz="30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&amp; Supplemental Security Income (SSI)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640080" y="2120324"/>
            <a:ext cx="384000" cy="384000"/>
          </a:xfrm>
          <a:prstGeom prst="ellipse">
            <a:avLst/>
          </a:prstGeom>
          <a:solidFill>
            <a:srgbClr val="F1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640080" y="2120324"/>
            <a:ext cx="38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22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1170432" y="2056316"/>
            <a:ext cx="58521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215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Disability is widespread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1170432" y="2403789"/>
            <a:ext cx="59436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 in 4</a:t>
            </a:r>
            <a:r>
              <a:rPr b="0" i="0" lang="en-US" sz="1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U.S. adults reports a disability: functional limits across six domains, closely tied to poverty and financial insecurity.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640080" y="3290757"/>
            <a:ext cx="384000" cy="384000"/>
          </a:xfrm>
          <a:prstGeom prst="ellipse">
            <a:avLst/>
          </a:prstGeom>
          <a:solidFill>
            <a:srgbClr val="F1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640080" y="3290757"/>
            <a:ext cx="38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22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1170432" y="3226749"/>
            <a:ext cx="58521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215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The safety net has a catch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1170432" y="3574221"/>
            <a:ext cx="59436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SSI, the federal cash program for low-income disabled adults, imposes a </a:t>
            </a:r>
            <a:r>
              <a:rPr b="1" i="0" lang="en-US" sz="1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$2,000 asset limit</a:t>
            </a:r>
            <a:r>
              <a:rPr b="0" i="0" lang="en-US" sz="1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, unchanged since 1989.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640080" y="4461189"/>
            <a:ext cx="384000" cy="384000"/>
          </a:xfrm>
          <a:prstGeom prst="ellipse">
            <a:avLst/>
          </a:prstGeom>
          <a:solidFill>
            <a:srgbClr val="F1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640080" y="4461189"/>
            <a:ext cx="38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22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1170432" y="4397181"/>
            <a:ext cx="58521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215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A testable critique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1170432" y="4744653"/>
            <a:ext cx="59436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Critics argue the limit penalizes saving and traps recipients in poverty. We can test that claim with data.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7635240" y="1828800"/>
            <a:ext cx="3886200" cy="1828800"/>
          </a:xfrm>
          <a:prstGeom prst="roundRect">
            <a:avLst>
              <a:gd fmla="val 6000" name="adj"/>
            </a:avLst>
          </a:prstGeom>
          <a:solidFill>
            <a:srgbClr val="1E3A5F"/>
          </a:solidFill>
          <a:ln>
            <a:noFill/>
          </a:ln>
          <a:effectLst>
            <a:outerShdw blurRad="90000" rotWithShape="0" dir="5400000" dist="38000">
              <a:srgbClr val="1E3A5F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7863840" y="2011680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in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7863840" y="2880360"/>
            <a:ext cx="3474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2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U.S. adults live with a disability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7635240" y="3840480"/>
            <a:ext cx="3886200" cy="1828800"/>
          </a:xfrm>
          <a:prstGeom prst="roundRect">
            <a:avLst>
              <a:gd fmla="val 6000" name="adj"/>
            </a:avLst>
          </a:prstGeom>
          <a:solidFill>
            <a:srgbClr val="F1F4F7"/>
          </a:solidFill>
          <a:ln>
            <a:noFill/>
          </a:ln>
          <a:effectLst>
            <a:outerShdw blurRad="90000" rotWithShape="0" dir="5400000" dist="38000">
              <a:srgbClr val="1E3A5F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7863840" y="4041648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$2,000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7863840" y="4892040"/>
            <a:ext cx="3474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2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SSI asset limit, the same cap for 35+ years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10728655" y="640080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"/>
          <p:cNvSpPr/>
          <p:nvPr/>
        </p:nvSpPr>
        <p:spPr>
          <a:xfrm>
            <a:off x="0" y="32502"/>
            <a:ext cx="121917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640080" y="521208"/>
            <a:ext cx="118872" cy="1188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859536" y="466344"/>
            <a:ext cx="5486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RESEARCH QUESTIONS</a:t>
            </a:r>
            <a:endParaRPr b="1" sz="1150">
              <a:solidFill>
                <a:srgbClr val="0F766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t/>
            </a:r>
            <a:endParaRPr b="1" sz="1150">
              <a:solidFill>
                <a:srgbClr val="0F766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640080" y="777240"/>
            <a:ext cx="10972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35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Does disability worsen financial well-being, and </a:t>
            </a:r>
            <a:r>
              <a:rPr b="1" i="1" lang="en-US" sz="35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why?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640080" y="2148840"/>
            <a:ext cx="3502152" cy="324612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12700">
            <a:solidFill>
              <a:srgbClr val="E2E6EB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8000">
              <a:srgbClr val="1E3A5F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960132" y="2468875"/>
            <a:ext cx="383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220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Research </a:t>
            </a:r>
            <a:r>
              <a:rPr b="1" lang="en-US" sz="220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r>
              <a:rPr b="1" lang="en-US" sz="220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 #1: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960119" y="2999232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960119" y="3200400"/>
            <a:ext cx="28620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Hardship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960119" y="3794760"/>
            <a:ext cx="28620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8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How well does disability predict material hardship?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4526280" y="2148840"/>
            <a:ext cx="3502152" cy="324612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12700">
            <a:solidFill>
              <a:srgbClr val="E2E6EB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8000">
              <a:srgbClr val="1E3A5F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4846330" y="2468875"/>
            <a:ext cx="365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220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Research Question #2: </a:t>
            </a:r>
            <a:endParaRPr b="0" i="0" sz="2100" u="none" cap="none" strike="noStrike">
              <a:solidFill>
                <a:srgbClr val="0F76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4846320" y="2999232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F766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4846320" y="3200400"/>
            <a:ext cx="28620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Wealth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"/>
          <p:cNvSpPr txBox="1"/>
          <p:nvPr/>
        </p:nvSpPr>
        <p:spPr>
          <a:xfrm>
            <a:off x="4846320" y="3794760"/>
            <a:ext cx="2862000" cy="9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8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Do disabled households hold less net worth, and does the gap widen with severity?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8412480" y="2148840"/>
            <a:ext cx="3502152" cy="324612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12700">
            <a:solidFill>
              <a:srgbClr val="E2E6EB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8000">
              <a:srgbClr val="1E3A5F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 txBox="1"/>
          <p:nvPr/>
        </p:nvSpPr>
        <p:spPr>
          <a:xfrm>
            <a:off x="8732530" y="2468875"/>
            <a:ext cx="350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220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Research Question #3:</a:t>
            </a:r>
            <a:endParaRPr b="1" sz="2200">
              <a:solidFill>
                <a:srgbClr val="0F766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8732519" y="2999232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8732519" y="3200400"/>
            <a:ext cx="28620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Savings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/>
          <p:cNvSpPr txBox="1"/>
          <p:nvPr/>
        </p:nvSpPr>
        <p:spPr>
          <a:xfrm>
            <a:off x="8732519" y="3794760"/>
            <a:ext cx="28620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8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Does the SSI $2,000 asset limit </a:t>
            </a:r>
            <a:r>
              <a:rPr lang="en-US" sz="18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discourage</a:t>
            </a:r>
            <a:r>
              <a:rPr b="0" i="0" lang="en-US" sz="18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saving?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"/>
          <p:cNvSpPr txBox="1"/>
          <p:nvPr/>
        </p:nvSpPr>
        <p:spPr>
          <a:xfrm>
            <a:off x="10728655" y="640080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"/>
          <p:cNvSpPr/>
          <p:nvPr/>
        </p:nvSpPr>
        <p:spPr>
          <a:xfrm>
            <a:off x="640080" y="521208"/>
            <a:ext cx="118872" cy="1188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859536" y="466344"/>
            <a:ext cx="5486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65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THE DATA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640080" y="758952"/>
            <a:ext cx="10972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5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The 2024 SIPP: a monthly panel of U.S. households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"/>
          <p:cNvSpPr txBox="1"/>
          <p:nvPr/>
        </p:nvSpPr>
        <p:spPr>
          <a:xfrm>
            <a:off x="640075" y="1919514"/>
            <a:ext cx="5212200" cy="11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20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0" lang="en-US" sz="205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Survey of Income and Program Participation</a:t>
            </a:r>
            <a:r>
              <a:rPr b="0" i="0" lang="en-US" sz="20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is the Census Bureau's flagship longitudinal survey of income, assets, and program receipt.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640068" y="3717810"/>
            <a:ext cx="118800" cy="1188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877812" y="3651389"/>
            <a:ext cx="51207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85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Longitudinal panel:  </a:t>
            </a:r>
            <a:r>
              <a:rPr b="0" i="0" lang="en-US" sz="1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the same people tracked month-by-month across all of 2023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640068" y="4482041"/>
            <a:ext cx="118800" cy="1188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 txBox="1"/>
          <p:nvPr/>
        </p:nvSpPr>
        <p:spPr>
          <a:xfrm>
            <a:off x="877812" y="4399745"/>
            <a:ext cx="51207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85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Person-month format:  </a:t>
            </a:r>
            <a:r>
              <a:rPr b="0" i="0" lang="en-US" sz="1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one row per person per month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640068" y="5241736"/>
            <a:ext cx="118800" cy="1188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877812" y="5159440"/>
            <a:ext cx="51207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85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Nationally representative:  </a:t>
            </a:r>
            <a:r>
              <a:rPr b="0" i="0" lang="en-US" sz="1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survey-weighted (WPFINWGT); oversamples low-income areas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6309360" y="1919514"/>
            <a:ext cx="2587800" cy="1600200"/>
          </a:xfrm>
          <a:prstGeom prst="roundRect">
            <a:avLst>
              <a:gd fmla="val 6000" name="adj"/>
            </a:avLst>
          </a:prstGeom>
          <a:solidFill>
            <a:srgbClr val="F7F8FA"/>
          </a:solidFill>
          <a:ln cap="flat" cmpd="sng" w="12700">
            <a:solidFill>
              <a:srgbClr val="E2E6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6583680" y="2175546"/>
            <a:ext cx="203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~16k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4"/>
          <p:cNvSpPr txBox="1"/>
          <p:nvPr/>
        </p:nvSpPr>
        <p:spPr>
          <a:xfrm>
            <a:off x="6583680" y="2907066"/>
            <a:ext cx="2039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7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households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9098280" y="1919514"/>
            <a:ext cx="2587800" cy="1600200"/>
          </a:xfrm>
          <a:prstGeom prst="roundRect">
            <a:avLst>
              <a:gd fmla="val 6000" name="adj"/>
            </a:avLst>
          </a:prstGeom>
          <a:solidFill>
            <a:srgbClr val="F7F8FA"/>
          </a:solidFill>
          <a:ln cap="flat" cmpd="sng" w="12700">
            <a:solidFill>
              <a:srgbClr val="E2E6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 txBox="1"/>
          <p:nvPr/>
        </p:nvSpPr>
        <p:spPr>
          <a:xfrm>
            <a:off x="9372600" y="2175546"/>
            <a:ext cx="203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~37k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4"/>
          <p:cNvSpPr txBox="1"/>
          <p:nvPr/>
        </p:nvSpPr>
        <p:spPr>
          <a:xfrm>
            <a:off x="9372600" y="2907066"/>
            <a:ext cx="2039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7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6309360" y="3720882"/>
            <a:ext cx="2587800" cy="1600200"/>
          </a:xfrm>
          <a:prstGeom prst="roundRect">
            <a:avLst>
              <a:gd fmla="val 6000" name="adj"/>
            </a:avLst>
          </a:prstGeom>
          <a:solidFill>
            <a:srgbClr val="F7F8FA"/>
          </a:solidFill>
          <a:ln cap="flat" cmpd="sng" w="12700">
            <a:solidFill>
              <a:srgbClr val="E2E6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 txBox="1"/>
          <p:nvPr/>
        </p:nvSpPr>
        <p:spPr>
          <a:xfrm>
            <a:off x="6583680" y="3976914"/>
            <a:ext cx="203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437k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6583680" y="4708434"/>
            <a:ext cx="2039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7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person-month records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9098280" y="3720882"/>
            <a:ext cx="2587800" cy="1600200"/>
          </a:xfrm>
          <a:prstGeom prst="roundRect">
            <a:avLst>
              <a:gd fmla="val 6000" name="adj"/>
            </a:avLst>
          </a:prstGeom>
          <a:solidFill>
            <a:srgbClr val="F7F8FA"/>
          </a:solidFill>
          <a:ln cap="flat" cmpd="sng" w="12700">
            <a:solidFill>
              <a:srgbClr val="E2E6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 txBox="1"/>
          <p:nvPr/>
        </p:nvSpPr>
        <p:spPr>
          <a:xfrm>
            <a:off x="9372600" y="3976914"/>
            <a:ext cx="203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5,203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4"/>
          <p:cNvSpPr txBox="1"/>
          <p:nvPr/>
        </p:nvSpPr>
        <p:spPr>
          <a:xfrm>
            <a:off x="9372600" y="4708434"/>
            <a:ext cx="2039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7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variables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"/>
          <p:cNvSpPr txBox="1"/>
          <p:nvPr/>
        </p:nvSpPr>
        <p:spPr>
          <a:xfrm>
            <a:off x="10728655" y="640080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"/>
          <p:cNvSpPr/>
          <p:nvPr/>
        </p:nvSpPr>
        <p:spPr>
          <a:xfrm>
            <a:off x="640080" y="521208"/>
            <a:ext cx="118872" cy="1188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5"/>
          <p:cNvSpPr txBox="1"/>
          <p:nvPr/>
        </p:nvSpPr>
        <p:spPr>
          <a:xfrm>
            <a:off x="859536" y="46634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FROM RAW FILE TO ANALYSIS SAMPLE</a:t>
            </a:r>
            <a:endParaRPr/>
          </a:p>
        </p:txBody>
      </p:sp>
      <p:sp>
        <p:nvSpPr>
          <p:cNvPr id="184" name="Google Shape;184;p5"/>
          <p:cNvSpPr txBox="1"/>
          <p:nvPr/>
        </p:nvSpPr>
        <p:spPr>
          <a:xfrm>
            <a:off x="640080" y="758952"/>
            <a:ext cx="10972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Data P</a:t>
            </a:r>
            <a:r>
              <a:rPr b="1" i="0" lang="en-US" sz="33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ipeline</a:t>
            </a:r>
            <a:r>
              <a:rPr b="1" lang="en-US" sz="33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i="0" lang="en-US" sz="33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clean, filter, build variables, then pick the sample</a:t>
            </a:r>
            <a:endParaRPr sz="1700"/>
          </a:p>
        </p:txBody>
      </p:sp>
      <p:sp>
        <p:nvSpPr>
          <p:cNvPr id="185" name="Google Shape;185;p5"/>
          <p:cNvSpPr/>
          <p:nvPr/>
        </p:nvSpPr>
        <p:spPr>
          <a:xfrm>
            <a:off x="6333125" y="1852373"/>
            <a:ext cx="5193900" cy="4399200"/>
          </a:xfrm>
          <a:prstGeom prst="roundRect">
            <a:avLst>
              <a:gd fmla="val 4500" name="adj"/>
            </a:avLst>
          </a:prstGeom>
          <a:solidFill>
            <a:srgbClr val="F7F8FA"/>
          </a:solidFill>
          <a:ln cap="flat" cmpd="sng" w="12700">
            <a:solidFill>
              <a:srgbClr val="E2E6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5"/>
          <p:cNvSpPr txBox="1"/>
          <p:nvPr/>
        </p:nvSpPr>
        <p:spPr>
          <a:xfrm>
            <a:off x="6675120" y="2114068"/>
            <a:ext cx="4553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KEY VARIABLES</a:t>
            </a:r>
            <a:endParaRPr/>
          </a:p>
        </p:txBody>
      </p:sp>
      <p:sp>
        <p:nvSpPr>
          <p:cNvPr id="187" name="Google Shape;187;p5"/>
          <p:cNvSpPr txBox="1"/>
          <p:nvPr/>
        </p:nvSpPr>
        <p:spPr>
          <a:xfrm>
            <a:off x="6675120" y="2543835"/>
            <a:ext cx="4553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Disability </a:t>
            </a:r>
            <a:r>
              <a:rPr b="1" lang="en-US" sz="1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US" sz="1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predictor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6812280" y="2882163"/>
            <a:ext cx="68700" cy="687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5"/>
          <p:cNvSpPr txBox="1"/>
          <p:nvPr/>
        </p:nvSpPr>
        <p:spPr>
          <a:xfrm>
            <a:off x="7013448" y="2818155"/>
            <a:ext cx="4279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Any disability  (yes / no)</a:t>
            </a:r>
            <a:endParaRPr sz="2100">
              <a:solidFill>
                <a:srgbClr val="666666"/>
              </a:solidFill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6812280" y="3115335"/>
            <a:ext cx="68700" cy="687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5"/>
          <p:cNvSpPr txBox="1"/>
          <p:nvPr/>
        </p:nvSpPr>
        <p:spPr>
          <a:xfrm>
            <a:off x="7013448" y="3051327"/>
            <a:ext cx="4279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Severity: count of 6 functional limits (0–6)</a:t>
            </a:r>
            <a:endParaRPr sz="2100">
              <a:solidFill>
                <a:srgbClr val="666666"/>
              </a:solidFill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6653223" y="3602122"/>
            <a:ext cx="4553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Outcomes </a:t>
            </a:r>
            <a:r>
              <a:rPr b="1" lang="en-US" sz="1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US" sz="1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what we explain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6790383" y="3940450"/>
            <a:ext cx="68700" cy="687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5"/>
          <p:cNvSpPr txBox="1"/>
          <p:nvPr/>
        </p:nvSpPr>
        <p:spPr>
          <a:xfrm>
            <a:off x="6991551" y="3876442"/>
            <a:ext cx="4279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Material hardship (4 items)</a:t>
            </a:r>
            <a:endParaRPr sz="2100">
              <a:solidFill>
                <a:srgbClr val="666666"/>
              </a:solidFill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6790383" y="4173622"/>
            <a:ext cx="68700" cy="687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6991551" y="4109614"/>
            <a:ext cx="4279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Household net worth</a:t>
            </a:r>
            <a:endParaRPr sz="2100">
              <a:solidFill>
                <a:srgbClr val="666666"/>
              </a:solidFill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6790383" y="4406794"/>
            <a:ext cx="68700" cy="687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6991551" y="4342786"/>
            <a:ext cx="4279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Countable savings (SSI test)</a:t>
            </a:r>
            <a:endParaRPr sz="2100">
              <a:solidFill>
                <a:srgbClr val="666666"/>
              </a:solidFill>
            </a:endParaRPr>
          </a:p>
        </p:txBody>
      </p:sp>
      <p:sp>
        <p:nvSpPr>
          <p:cNvPr id="199" name="Google Shape;199;p5"/>
          <p:cNvSpPr txBox="1"/>
          <p:nvPr/>
        </p:nvSpPr>
        <p:spPr>
          <a:xfrm>
            <a:off x="6653223" y="4849787"/>
            <a:ext cx="4553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Controls </a:t>
            </a:r>
            <a:r>
              <a:rPr b="1" lang="en-US" sz="1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US" sz="1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held constant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6790383" y="5188115"/>
            <a:ext cx="68700" cy="687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5"/>
          <p:cNvSpPr txBox="1"/>
          <p:nvPr/>
        </p:nvSpPr>
        <p:spPr>
          <a:xfrm>
            <a:off x="6991551" y="5124107"/>
            <a:ext cx="4279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Demographics: age, sex, race, city</a:t>
            </a:r>
            <a:endParaRPr sz="2100">
              <a:solidFill>
                <a:srgbClr val="666666"/>
              </a:solidFill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6790383" y="5421287"/>
            <a:ext cx="68700" cy="687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5"/>
          <p:cNvSpPr txBox="1"/>
          <p:nvPr/>
        </p:nvSpPr>
        <p:spPr>
          <a:xfrm>
            <a:off x="6991551" y="5357279"/>
            <a:ext cx="4279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Economic: income, education, work</a:t>
            </a:r>
            <a:endParaRPr sz="2100">
              <a:solidFill>
                <a:srgbClr val="666666"/>
              </a:solidFill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6790383" y="5654459"/>
            <a:ext cx="68700" cy="687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5"/>
          <p:cNvSpPr txBox="1"/>
          <p:nvPr/>
        </p:nvSpPr>
        <p:spPr>
          <a:xfrm>
            <a:off x="6991551" y="5590451"/>
            <a:ext cx="4279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Household: size, ownership, location</a:t>
            </a:r>
            <a:endParaRPr sz="2100">
              <a:solidFill>
                <a:srgbClr val="666666"/>
              </a:solidFill>
            </a:endParaRPr>
          </a:p>
        </p:txBody>
      </p:sp>
      <p:sp>
        <p:nvSpPr>
          <p:cNvPr id="206" name="Google Shape;206;p5"/>
          <p:cNvSpPr txBox="1"/>
          <p:nvPr/>
        </p:nvSpPr>
        <p:spPr>
          <a:xfrm>
            <a:off x="10728655" y="640080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207" name="Google Shape;207;p5"/>
          <p:cNvSpPr/>
          <p:nvPr/>
        </p:nvSpPr>
        <p:spPr>
          <a:xfrm>
            <a:off x="859525" y="1852366"/>
            <a:ext cx="5193900" cy="4399200"/>
          </a:xfrm>
          <a:prstGeom prst="roundRect">
            <a:avLst>
              <a:gd fmla="val 4500" name="adj"/>
            </a:avLst>
          </a:prstGeom>
          <a:solidFill>
            <a:srgbClr val="F7F8FA"/>
          </a:solidFill>
          <a:ln cap="flat" cmpd="sng" w="12700">
            <a:solidFill>
              <a:srgbClr val="E2E6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5"/>
          <p:cNvSpPr txBox="1"/>
          <p:nvPr/>
        </p:nvSpPr>
        <p:spPr>
          <a:xfrm>
            <a:off x="1112519" y="2080348"/>
            <a:ext cx="4553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THE PIPELINE</a:t>
            </a:r>
            <a:endParaRPr/>
          </a:p>
        </p:txBody>
      </p:sp>
      <p:sp>
        <p:nvSpPr>
          <p:cNvPr id="209" name="Google Shape;209;p5"/>
          <p:cNvSpPr/>
          <p:nvPr/>
        </p:nvSpPr>
        <p:spPr>
          <a:xfrm>
            <a:off x="1160487" y="2554519"/>
            <a:ext cx="310800" cy="310800"/>
          </a:xfrm>
          <a:prstGeom prst="ellipse">
            <a:avLst/>
          </a:prstGeom>
          <a:solidFill>
            <a:srgbClr val="F1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5"/>
          <p:cNvSpPr txBox="1"/>
          <p:nvPr/>
        </p:nvSpPr>
        <p:spPr>
          <a:xfrm>
            <a:off x="1160487" y="2602486"/>
            <a:ext cx="310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11" name="Google Shape;211;p5"/>
          <p:cNvSpPr txBox="1"/>
          <p:nvPr/>
        </p:nvSpPr>
        <p:spPr>
          <a:xfrm>
            <a:off x="1569719" y="2535743"/>
            <a:ext cx="4096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Clean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212" name="Google Shape;212;p5"/>
          <p:cNvSpPr txBox="1"/>
          <p:nvPr/>
        </p:nvSpPr>
        <p:spPr>
          <a:xfrm>
            <a:off x="1569719" y="2828351"/>
            <a:ext cx="41421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recode missing values (no SSI amount → $0); keep complete cases per outcome</a:t>
            </a:r>
            <a:endParaRPr sz="2000">
              <a:solidFill>
                <a:srgbClr val="666666"/>
              </a:solidFill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1160487" y="3433268"/>
            <a:ext cx="310800" cy="310800"/>
          </a:xfrm>
          <a:prstGeom prst="ellipse">
            <a:avLst/>
          </a:prstGeom>
          <a:solidFill>
            <a:srgbClr val="F1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5"/>
          <p:cNvSpPr txBox="1"/>
          <p:nvPr/>
        </p:nvSpPr>
        <p:spPr>
          <a:xfrm>
            <a:off x="1160487" y="3512643"/>
            <a:ext cx="310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15" name="Google Shape;215;p5"/>
          <p:cNvSpPr txBox="1"/>
          <p:nvPr/>
        </p:nvSpPr>
        <p:spPr>
          <a:xfrm>
            <a:off x="1569719" y="3414493"/>
            <a:ext cx="4096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Filter</a:t>
            </a:r>
            <a:endParaRPr sz="1900"/>
          </a:p>
        </p:txBody>
      </p:sp>
      <p:sp>
        <p:nvSpPr>
          <p:cNvPr id="216" name="Google Shape;216;p5"/>
          <p:cNvSpPr txBox="1"/>
          <p:nvPr/>
        </p:nvSpPr>
        <p:spPr>
          <a:xfrm>
            <a:off x="1569719" y="3707101"/>
            <a:ext cx="41421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December 2023 snapshot · adults 18+ · one reference person per household</a:t>
            </a:r>
            <a:endParaRPr sz="2000">
              <a:solidFill>
                <a:srgbClr val="666666"/>
              </a:solidFill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1160487" y="4346034"/>
            <a:ext cx="310800" cy="310800"/>
          </a:xfrm>
          <a:prstGeom prst="ellipse">
            <a:avLst/>
          </a:prstGeom>
          <a:solidFill>
            <a:srgbClr val="F1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5"/>
          <p:cNvSpPr txBox="1"/>
          <p:nvPr/>
        </p:nvSpPr>
        <p:spPr>
          <a:xfrm>
            <a:off x="1160487" y="4400153"/>
            <a:ext cx="310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19" name="Google Shape;219;p5"/>
          <p:cNvSpPr txBox="1"/>
          <p:nvPr/>
        </p:nvSpPr>
        <p:spPr>
          <a:xfrm>
            <a:off x="1569719" y="4327260"/>
            <a:ext cx="4096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Build</a:t>
            </a:r>
            <a:endParaRPr sz="1900"/>
          </a:p>
        </p:txBody>
      </p:sp>
      <p:sp>
        <p:nvSpPr>
          <p:cNvPr id="220" name="Google Shape;220;p5"/>
          <p:cNvSpPr txBox="1"/>
          <p:nvPr/>
        </p:nvSpPr>
        <p:spPr>
          <a:xfrm>
            <a:off x="1569719" y="4619868"/>
            <a:ext cx="41421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disability presence + 0–6 severity; hardship (4 items); net worth; savings</a:t>
            </a:r>
            <a:endParaRPr sz="2000">
              <a:solidFill>
                <a:srgbClr val="666666"/>
              </a:solidFill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1160487" y="5208128"/>
            <a:ext cx="310800" cy="310800"/>
          </a:xfrm>
          <a:prstGeom prst="ellipse">
            <a:avLst/>
          </a:prstGeom>
          <a:solidFill>
            <a:srgbClr val="F1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5"/>
          <p:cNvSpPr txBox="1"/>
          <p:nvPr/>
        </p:nvSpPr>
        <p:spPr>
          <a:xfrm>
            <a:off x="1160487" y="5262248"/>
            <a:ext cx="310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23" name="Google Shape;223;p5"/>
          <p:cNvSpPr txBox="1"/>
          <p:nvPr/>
        </p:nvSpPr>
        <p:spPr>
          <a:xfrm>
            <a:off x="1569719" y="5189353"/>
            <a:ext cx="4096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endParaRPr sz="1900"/>
          </a:p>
        </p:txBody>
      </p:sp>
      <p:sp>
        <p:nvSpPr>
          <p:cNvPr id="224" name="Google Shape;224;p5"/>
          <p:cNvSpPr txBox="1"/>
          <p:nvPr/>
        </p:nvSpPr>
        <p:spPr>
          <a:xfrm>
            <a:off x="1569719" y="5481961"/>
            <a:ext cx="41421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≈15,600 households (hardship &amp; wealth) · 8,147 disabled adults (savings)</a:t>
            </a:r>
            <a:endParaRPr sz="20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 txBox="1"/>
          <p:nvPr/>
        </p:nvSpPr>
        <p:spPr>
          <a:xfrm>
            <a:off x="868680" y="2028409"/>
            <a:ext cx="27432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rPr b="1" i="0" lang="en-US" sz="10000" u="none" cap="none" strike="noStrike">
                <a:solidFill>
                  <a:srgbClr val="33537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914400" y="3512978"/>
            <a:ext cx="118800" cy="118800"/>
          </a:xfrm>
          <a:prstGeom prst="ellipse">
            <a:avLst/>
          </a:prstGeom>
          <a:solidFill>
            <a:srgbClr val="5EAA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 txBox="1"/>
          <p:nvPr/>
        </p:nvSpPr>
        <p:spPr>
          <a:xfrm>
            <a:off x="1133856" y="3392424"/>
            <a:ext cx="54864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2150" u="none" cap="none" strike="noStrike">
                <a:solidFill>
                  <a:srgbClr val="5EAAA1"/>
                </a:solidFill>
                <a:latin typeface="Calibri"/>
                <a:ea typeface="Calibri"/>
                <a:cs typeface="Calibri"/>
                <a:sym typeface="Calibri"/>
              </a:rPr>
              <a:t>EXPLORATORY DATA ANALYSIS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7"/>
          <p:cNvSpPr txBox="1"/>
          <p:nvPr/>
        </p:nvSpPr>
        <p:spPr>
          <a:xfrm>
            <a:off x="868680" y="3779937"/>
            <a:ext cx="10058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the raw data shows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6"/>
          <p:cNvSpPr/>
          <p:nvPr/>
        </p:nvSpPr>
        <p:spPr>
          <a:xfrm>
            <a:off x="640080" y="521208"/>
            <a:ext cx="118872" cy="1188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6"/>
          <p:cNvSpPr txBox="1"/>
          <p:nvPr/>
        </p:nvSpPr>
        <p:spPr>
          <a:xfrm>
            <a:off x="859536" y="466344"/>
            <a:ext cx="7315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DISABILITY</a:t>
            </a:r>
            <a:endParaRPr/>
          </a:p>
        </p:txBody>
      </p:sp>
      <p:sp>
        <p:nvSpPr>
          <p:cNvPr id="241" name="Google Shape;241;p6"/>
          <p:cNvSpPr txBox="1"/>
          <p:nvPr/>
        </p:nvSpPr>
        <p:spPr>
          <a:xfrm>
            <a:off x="640080" y="758952"/>
            <a:ext cx="1097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Six functional limits and how common each one is</a:t>
            </a:r>
            <a:endParaRPr sz="2000"/>
          </a:p>
        </p:txBody>
      </p:sp>
      <p:sp>
        <p:nvSpPr>
          <p:cNvPr id="242" name="Google Shape;242;p6"/>
          <p:cNvSpPr txBox="1"/>
          <p:nvPr/>
        </p:nvSpPr>
        <p:spPr>
          <a:xfrm>
            <a:off x="758950" y="2059712"/>
            <a:ext cx="4746600" cy="20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SIPP measures disability as </a:t>
            </a:r>
            <a:r>
              <a:rPr b="1" i="0" lang="en-US" sz="215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serious difficulty in </a:t>
            </a:r>
            <a:r>
              <a:rPr b="1" lang="en-US" sz="21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six</a:t>
            </a:r>
            <a:r>
              <a:rPr b="1" i="0" lang="en-US" sz="215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areas of daily life</a:t>
            </a:r>
            <a:r>
              <a:rPr b="0" i="0" lang="en-US" sz="21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. We use two things: whether a person reports </a:t>
            </a:r>
            <a:r>
              <a:rPr b="0" i="1" lang="en-US" sz="21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any</a:t>
            </a:r>
            <a:r>
              <a:rPr b="0" i="0" lang="en-US" sz="21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limitation, and </a:t>
            </a:r>
            <a:r>
              <a:rPr b="0" i="1" lang="en-US" sz="21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how many</a:t>
            </a:r>
            <a:r>
              <a:rPr b="0" i="0" lang="en-US" sz="21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(0–6) acco</a:t>
            </a:r>
            <a:r>
              <a:rPr lang="en-US" sz="21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rding to </a:t>
            </a:r>
            <a:r>
              <a:rPr b="0" i="0" lang="en-US" sz="21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our severity scale.</a:t>
            </a:r>
            <a:endParaRPr sz="2100"/>
          </a:p>
        </p:txBody>
      </p:sp>
      <p:sp>
        <p:nvSpPr>
          <p:cNvPr id="243" name="Google Shape;243;p6"/>
          <p:cNvSpPr/>
          <p:nvPr/>
        </p:nvSpPr>
        <p:spPr>
          <a:xfrm>
            <a:off x="640075" y="4401050"/>
            <a:ext cx="4746600" cy="1756800"/>
          </a:xfrm>
          <a:prstGeom prst="roundRect">
            <a:avLst>
              <a:gd fmla="val 6000" name="adj"/>
            </a:avLst>
          </a:prstGeom>
          <a:solidFill>
            <a:srgbClr val="1E3A5F"/>
          </a:solidFill>
          <a:ln>
            <a:noFill/>
          </a:ln>
          <a:effectLst>
            <a:outerShdw blurRad="90000" rotWithShape="0" dir="5400000" dist="38000">
              <a:srgbClr val="1E3A5F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6"/>
          <p:cNvSpPr txBox="1"/>
          <p:nvPr/>
        </p:nvSpPr>
        <p:spPr>
          <a:xfrm>
            <a:off x="936869" y="4940743"/>
            <a:ext cx="20118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27.5%</a:t>
            </a:r>
            <a:endParaRPr/>
          </a:p>
        </p:txBody>
      </p:sp>
      <p:sp>
        <p:nvSpPr>
          <p:cNvPr id="245" name="Google Shape;245;p6"/>
          <p:cNvSpPr txBox="1"/>
          <p:nvPr/>
        </p:nvSpPr>
        <p:spPr>
          <a:xfrm>
            <a:off x="2725650" y="4733450"/>
            <a:ext cx="2243400" cy="10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of U.S. adults report at least one of the six limitations</a:t>
            </a:r>
            <a:endParaRPr sz="2200"/>
          </a:p>
        </p:txBody>
      </p:sp>
      <p:pic>
        <p:nvPicPr>
          <p:cNvPr descr="s_distypes.png" id="246" name="Google Shape;2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5550" y="1727925"/>
            <a:ext cx="6497674" cy="4429924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6"/>
          <p:cNvSpPr txBox="1"/>
          <p:nvPr/>
        </p:nvSpPr>
        <p:spPr>
          <a:xfrm>
            <a:off x="10728655" y="640080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"/>
          <p:cNvSpPr/>
          <p:nvPr/>
        </p:nvSpPr>
        <p:spPr>
          <a:xfrm>
            <a:off x="640080" y="521208"/>
            <a:ext cx="118872" cy="1188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 txBox="1"/>
          <p:nvPr/>
        </p:nvSpPr>
        <p:spPr>
          <a:xfrm>
            <a:off x="859536" y="466344"/>
            <a:ext cx="54864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HARDSHIP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8"/>
          <p:cNvSpPr txBox="1"/>
          <p:nvPr/>
        </p:nvSpPr>
        <p:spPr>
          <a:xfrm>
            <a:off x="609443" y="719277"/>
            <a:ext cx="10972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8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About one in four households reports a hardship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6_class_balance.png" id="256" name="Google Shape;256;p8"/>
          <p:cNvPicPr preferRelativeResize="0"/>
          <p:nvPr/>
        </p:nvPicPr>
        <p:blipFill rotWithShape="1">
          <a:blip r:embed="rId3">
            <a:alphaModFix/>
          </a:blip>
          <a:srcRect b="9297" l="0" r="0" t="0"/>
          <a:stretch/>
        </p:blipFill>
        <p:spPr>
          <a:xfrm>
            <a:off x="562200" y="1380200"/>
            <a:ext cx="4366736" cy="4087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6_components.png" id="257" name="Google Shape;25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2725" y="1873698"/>
            <a:ext cx="6982550" cy="3957689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8"/>
          <p:cNvSpPr txBox="1"/>
          <p:nvPr/>
        </p:nvSpPr>
        <p:spPr>
          <a:xfrm>
            <a:off x="10728655" y="640080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6_class_balance.png" id="259" name="Google Shape;259;p8"/>
          <p:cNvPicPr preferRelativeResize="0"/>
          <p:nvPr/>
        </p:nvPicPr>
        <p:blipFill rotWithShape="1">
          <a:blip r:embed="rId3">
            <a:alphaModFix/>
          </a:blip>
          <a:srcRect b="0" l="0" r="0" t="93260"/>
          <a:stretch/>
        </p:blipFill>
        <p:spPr>
          <a:xfrm>
            <a:off x="281100" y="5543975"/>
            <a:ext cx="4928925" cy="342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6"/>
          <p:cNvSpPr/>
          <p:nvPr/>
        </p:nvSpPr>
        <p:spPr>
          <a:xfrm>
            <a:off x="640080" y="521208"/>
            <a:ext cx="118872" cy="1188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6"/>
          <p:cNvSpPr txBox="1"/>
          <p:nvPr/>
        </p:nvSpPr>
        <p:spPr>
          <a:xfrm>
            <a:off x="859536" y="466344"/>
            <a:ext cx="54864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DISABILITIES</a:t>
            </a:r>
            <a:r>
              <a:rPr b="1" i="0" lang="en-US" sz="115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 DOSE-RESPONSE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6"/>
          <p:cNvSpPr txBox="1"/>
          <p:nvPr/>
        </p:nvSpPr>
        <p:spPr>
          <a:xfrm>
            <a:off x="640080" y="758952"/>
            <a:ext cx="1097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3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Each added limitation raises hardship </a:t>
            </a:r>
            <a:r>
              <a:rPr b="1" lang="en-US" sz="33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rate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6"/>
          <p:cNvSpPr/>
          <p:nvPr/>
        </p:nvSpPr>
        <p:spPr>
          <a:xfrm>
            <a:off x="7638125" y="2103125"/>
            <a:ext cx="3913500" cy="1641900"/>
          </a:xfrm>
          <a:prstGeom prst="roundRect">
            <a:avLst>
              <a:gd fmla="val 6000" name="adj"/>
            </a:avLst>
          </a:prstGeom>
          <a:solidFill>
            <a:srgbClr val="F7F8FA"/>
          </a:solidFill>
          <a:ln cap="flat" cmpd="sng" w="12700">
            <a:solidFill>
              <a:srgbClr val="E2E6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13_graded.png" id="269" name="Google Shape;26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965960"/>
            <a:ext cx="6681742" cy="402336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6"/>
          <p:cNvSpPr txBox="1"/>
          <p:nvPr/>
        </p:nvSpPr>
        <p:spPr>
          <a:xfrm>
            <a:off x="7788125" y="2411525"/>
            <a:ext cx="3613500" cy="10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8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Hardship </a:t>
            </a:r>
            <a:r>
              <a:rPr lang="en-US" sz="18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rate</a:t>
            </a:r>
            <a:r>
              <a:rPr b="0" i="0" lang="en-US" sz="18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increases</a:t>
            </a:r>
            <a:r>
              <a:rPr b="0" i="0" lang="en-US" sz="18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at </a:t>
            </a:r>
            <a:r>
              <a:rPr b="1" i="1" lang="en-US" sz="185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every</a:t>
            </a:r>
            <a:r>
              <a:rPr b="0" i="0" lang="en-US" sz="18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severity step, steepest early (0→2), then flattening</a:t>
            </a:r>
            <a:r>
              <a:rPr lang="en-US" sz="18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0" i="0" lang="en-US" sz="18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It is a </a:t>
            </a:r>
            <a:r>
              <a:rPr b="1" i="0" lang="en-US" sz="185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dose-response</a:t>
            </a:r>
            <a:r>
              <a:rPr lang="en-US" sz="18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6"/>
          <p:cNvSpPr/>
          <p:nvPr/>
        </p:nvSpPr>
        <p:spPr>
          <a:xfrm>
            <a:off x="7642391" y="4169934"/>
            <a:ext cx="3913500" cy="1421400"/>
          </a:xfrm>
          <a:prstGeom prst="roundRect">
            <a:avLst>
              <a:gd fmla="val 6000" name="adj"/>
            </a:avLst>
          </a:prstGeom>
          <a:solidFill>
            <a:srgbClr val="F7F8FA"/>
          </a:solidFill>
          <a:ln cap="flat" cmpd="sng" w="12700">
            <a:solidFill>
              <a:srgbClr val="E2E6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6"/>
          <p:cNvSpPr txBox="1"/>
          <p:nvPr/>
        </p:nvSpPr>
        <p:spPr>
          <a:xfrm>
            <a:off x="7884661" y="4266247"/>
            <a:ext cx="34290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1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+25 </a:t>
            </a:r>
            <a:r>
              <a:rPr b="1" lang="en-US" sz="3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6"/>
          <p:cNvSpPr txBox="1"/>
          <p:nvPr/>
        </p:nvSpPr>
        <p:spPr>
          <a:xfrm>
            <a:off x="7847950" y="4830125"/>
            <a:ext cx="36135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in hardship rate from no limitations</a:t>
            </a:r>
            <a:r>
              <a:rPr lang="en-US" sz="18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(18.6%) to </a:t>
            </a:r>
            <a:r>
              <a:rPr lang="en-US" sz="18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level </a:t>
            </a:r>
            <a:r>
              <a:rPr b="0" i="0" lang="en-US" sz="1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six (43.9%)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6"/>
          <p:cNvSpPr txBox="1"/>
          <p:nvPr/>
        </p:nvSpPr>
        <p:spPr>
          <a:xfrm>
            <a:off x="10728655" y="6400800"/>
            <a:ext cx="822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0"/>
          <p:cNvSpPr/>
          <p:nvPr/>
        </p:nvSpPr>
        <p:spPr>
          <a:xfrm>
            <a:off x="-25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640080" y="521208"/>
            <a:ext cx="118800" cy="1188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 txBox="1"/>
          <p:nvPr/>
        </p:nvSpPr>
        <p:spPr>
          <a:xfrm>
            <a:off x="859536" y="466344"/>
            <a:ext cx="54864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INCOME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0"/>
          <p:cNvSpPr txBox="1"/>
          <p:nvPr/>
        </p:nvSpPr>
        <p:spPr>
          <a:xfrm>
            <a:off x="640080" y="758952"/>
            <a:ext cx="1097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The Impact of Disability on Household Income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0"/>
          <p:cNvSpPr txBox="1"/>
          <p:nvPr/>
        </p:nvSpPr>
        <p:spPr>
          <a:xfrm>
            <a:off x="10728655" y="6400800"/>
            <a:ext cx="822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_incdist_box.png" id="285" name="Google Shape;28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9850" y="1927300"/>
            <a:ext cx="5846481" cy="403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3199" y="1722844"/>
            <a:ext cx="5550174" cy="4239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 txBox="1"/>
          <p:nvPr/>
        </p:nvSpPr>
        <p:spPr>
          <a:xfrm>
            <a:off x="868680" y="2148840"/>
            <a:ext cx="2743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rPr b="1" i="0" lang="en-US" sz="9000" u="none" cap="none" strike="noStrike">
                <a:solidFill>
                  <a:srgbClr val="33537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914400" y="3447288"/>
            <a:ext cx="118872" cy="118872"/>
          </a:xfrm>
          <a:prstGeom prst="ellipse">
            <a:avLst/>
          </a:prstGeom>
          <a:solidFill>
            <a:srgbClr val="5EAA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 txBox="1"/>
          <p:nvPr/>
        </p:nvSpPr>
        <p:spPr>
          <a:xfrm>
            <a:off x="1133856" y="339242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5EAAA1"/>
                </a:solidFill>
                <a:latin typeface="Calibri"/>
                <a:ea typeface="Calibri"/>
                <a:cs typeface="Calibri"/>
                <a:sym typeface="Calibri"/>
              </a:rPr>
              <a:t>PREDICTION · MODEL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1"/>
          <p:cNvSpPr txBox="1"/>
          <p:nvPr/>
        </p:nvSpPr>
        <p:spPr>
          <a:xfrm>
            <a:off x="868680" y="370332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predictive is disability?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1"/>
          <p:cNvSpPr txBox="1"/>
          <p:nvPr/>
        </p:nvSpPr>
        <p:spPr>
          <a:xfrm>
            <a:off x="896112" y="452628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Four models predicting material hardship, and where disability ranks.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2"/>
          <p:cNvSpPr/>
          <p:nvPr/>
        </p:nvSpPr>
        <p:spPr>
          <a:xfrm>
            <a:off x="640080" y="521208"/>
            <a:ext cx="118872" cy="1188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 txBox="1"/>
          <p:nvPr/>
        </p:nvSpPr>
        <p:spPr>
          <a:xfrm>
            <a:off x="859536" y="466344"/>
            <a:ext cx="54864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MODEL #1</a:t>
            </a:r>
            <a:r>
              <a:rPr b="1" lang="en-US" sz="115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i="0" lang="en-US" sz="115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 PREDICTING HARDSHI</a:t>
            </a:r>
            <a:r>
              <a:rPr b="1" lang="en-US" sz="115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2"/>
          <p:cNvSpPr txBox="1"/>
          <p:nvPr/>
        </p:nvSpPr>
        <p:spPr>
          <a:xfrm>
            <a:off x="640080" y="758952"/>
            <a:ext cx="109728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43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A prediction task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2"/>
          <p:cNvSpPr txBox="1"/>
          <p:nvPr/>
        </p:nvSpPr>
        <p:spPr>
          <a:xfrm>
            <a:off x="640075" y="1874525"/>
            <a:ext cx="5706000" cy="16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US" sz="21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We predict </a:t>
            </a:r>
            <a:r>
              <a:rPr b="1" i="0" lang="en-US" sz="215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any material hardship</a:t>
            </a:r>
            <a:r>
              <a:rPr b="0" i="0" lang="en-US" sz="21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(food, utilities, rent/mortgage, or medical debt) from disability plus demographic, household, employment, and income features.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658368" y="3871258"/>
            <a:ext cx="118800" cy="1188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 txBox="1"/>
          <p:nvPr/>
        </p:nvSpPr>
        <p:spPr>
          <a:xfrm>
            <a:off x="896112" y="3761867"/>
            <a:ext cx="5394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2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Disability enters as presence + severity (0–6)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658368" y="4783724"/>
            <a:ext cx="118800" cy="1188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 txBox="1"/>
          <p:nvPr/>
        </p:nvSpPr>
        <p:spPr>
          <a:xfrm>
            <a:off x="896112" y="4650323"/>
            <a:ext cx="5394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2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Assistance-program flags excluded (they leak the outcome)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6990286" y="1896193"/>
            <a:ext cx="4656600" cy="3826800"/>
          </a:xfrm>
          <a:prstGeom prst="roundRect">
            <a:avLst>
              <a:gd fmla="val 5000" name="adj"/>
            </a:avLst>
          </a:prstGeom>
          <a:solidFill>
            <a:srgbClr val="1E3A5F"/>
          </a:solidFill>
          <a:ln>
            <a:noFill/>
          </a:ln>
          <a:effectLst>
            <a:outerShdw blurRad="90762" rotWithShape="0" dir="5400000" dist="38322">
              <a:srgbClr val="1E3A5F">
                <a:alpha val="20000"/>
              </a:srgbClr>
            </a:outerShdw>
          </a:effectLst>
        </p:spPr>
        <p:txBody>
          <a:bodyPr anchorCtr="0" anchor="ctr" bIns="46075" lIns="92200" spcFirstLastPara="1" rIns="92200" wrap="square" tIns="46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5"/>
              <a:buFont typeface="Arial"/>
              <a:buNone/>
            </a:pPr>
            <a:r>
              <a:t/>
            </a:r>
            <a:endParaRPr b="0" i="0" sz="181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 txBox="1"/>
          <p:nvPr/>
        </p:nvSpPr>
        <p:spPr>
          <a:xfrm>
            <a:off x="7313036" y="2335600"/>
            <a:ext cx="40575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1"/>
              <a:buFont typeface="Arial"/>
              <a:buNone/>
            </a:pPr>
            <a:r>
              <a:rPr b="1" i="0" lang="en-US" sz="1261" u="none" cap="none" strike="noStrike">
                <a:solidFill>
                  <a:srgbClr val="5EAAA1"/>
                </a:solidFill>
                <a:latin typeface="Calibri"/>
                <a:ea typeface="Calibri"/>
                <a:cs typeface="Calibri"/>
                <a:sym typeface="Calibri"/>
              </a:rPr>
              <a:t>THE PREDICTION TARGET</a:t>
            </a:r>
            <a:endParaRPr b="0" i="0" sz="141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2"/>
          <p:cNvSpPr txBox="1"/>
          <p:nvPr/>
        </p:nvSpPr>
        <p:spPr>
          <a:xfrm>
            <a:off x="7313036" y="2888888"/>
            <a:ext cx="40575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1"/>
              <a:buFont typeface="Arial"/>
              <a:buNone/>
            </a:pPr>
            <a:r>
              <a:rPr b="1" i="0" lang="en-US" sz="726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23.3%</a:t>
            </a:r>
            <a:endParaRPr b="0" i="0" sz="141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2"/>
          <p:cNvSpPr txBox="1"/>
          <p:nvPr/>
        </p:nvSpPr>
        <p:spPr>
          <a:xfrm>
            <a:off x="7313036" y="4133788"/>
            <a:ext cx="40575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14"/>
              <a:buFont typeface="Arial"/>
              <a:buNone/>
            </a:pPr>
            <a:r>
              <a:rPr b="0" i="0" lang="en-US" sz="1614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of households report at least one hardship</a:t>
            </a:r>
            <a:endParaRPr b="0" i="0" sz="141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5" name="Google Shape;315;p12"/>
          <p:cNvCxnSpPr/>
          <p:nvPr/>
        </p:nvCxnSpPr>
        <p:spPr>
          <a:xfrm>
            <a:off x="7313036" y="4799641"/>
            <a:ext cx="3780900" cy="600"/>
          </a:xfrm>
          <a:prstGeom prst="bentConnector3">
            <a:avLst>
              <a:gd fmla="val 50000" name="adj1"/>
            </a:avLst>
          </a:prstGeom>
          <a:noFill/>
          <a:ln cap="flat" cmpd="sng" w="15350">
            <a:solidFill>
              <a:srgbClr val="3353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6" name="Google Shape;316;p12"/>
          <p:cNvSpPr txBox="1"/>
          <p:nvPr/>
        </p:nvSpPr>
        <p:spPr>
          <a:xfrm>
            <a:off x="7313036" y="4942884"/>
            <a:ext cx="40575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1"/>
              <a:buFont typeface="Arial"/>
              <a:buNone/>
            </a:pPr>
            <a:r>
              <a:rPr b="0" i="0" lang="en-US" sz="1765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n ≈ 15,595 December adult reference persons</a:t>
            </a:r>
            <a:endParaRPr b="0" i="0" sz="191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2"/>
          <p:cNvSpPr txBox="1"/>
          <p:nvPr/>
        </p:nvSpPr>
        <p:spPr>
          <a:xfrm>
            <a:off x="10728655" y="640080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3"/>
          <p:cNvSpPr/>
          <p:nvPr/>
        </p:nvSpPr>
        <p:spPr>
          <a:xfrm>
            <a:off x="640080" y="521208"/>
            <a:ext cx="118872" cy="1188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 txBox="1"/>
          <p:nvPr/>
        </p:nvSpPr>
        <p:spPr>
          <a:xfrm>
            <a:off x="859536" y="466344"/>
            <a:ext cx="54864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Model #1: Several Models</a:t>
            </a:r>
            <a:endParaRPr b="0" i="0" sz="1400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3"/>
          <p:cNvSpPr txBox="1"/>
          <p:nvPr/>
        </p:nvSpPr>
        <p:spPr>
          <a:xfrm>
            <a:off x="640080" y="758952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4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Four models, tuned by 5-fold cross-validation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640080" y="1681751"/>
            <a:ext cx="2606100" cy="2148900"/>
          </a:xfrm>
          <a:prstGeom prst="roundRect">
            <a:avLst>
              <a:gd fmla="val 6000" name="adj"/>
            </a:avLst>
          </a:prstGeom>
          <a:solidFill>
            <a:srgbClr val="F7F8FA"/>
          </a:solidFill>
          <a:ln cap="flat" cmpd="sng" w="12700">
            <a:solidFill>
              <a:srgbClr val="E2E6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 txBox="1"/>
          <p:nvPr/>
        </p:nvSpPr>
        <p:spPr>
          <a:xfrm>
            <a:off x="896112" y="1892063"/>
            <a:ext cx="2148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3"/>
          <p:cNvSpPr txBox="1"/>
          <p:nvPr/>
        </p:nvSpPr>
        <p:spPr>
          <a:xfrm>
            <a:off x="896112" y="2202960"/>
            <a:ext cx="214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22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Logistic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3"/>
          <p:cNvSpPr txBox="1"/>
          <p:nvPr/>
        </p:nvSpPr>
        <p:spPr>
          <a:xfrm>
            <a:off x="896112" y="2934480"/>
            <a:ext cx="2148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Baseline · no tuning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3"/>
          <p:cNvSpPr txBox="1"/>
          <p:nvPr/>
        </p:nvSpPr>
        <p:spPr>
          <a:xfrm>
            <a:off x="896112" y="3391680"/>
            <a:ext cx="214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Interpretable reference point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3429000" y="1706414"/>
            <a:ext cx="2606100" cy="2148900"/>
          </a:xfrm>
          <a:prstGeom prst="roundRect">
            <a:avLst>
              <a:gd fmla="val 6000" name="adj"/>
            </a:avLst>
          </a:prstGeom>
          <a:solidFill>
            <a:srgbClr val="F7F8FA"/>
          </a:solidFill>
          <a:ln cap="flat" cmpd="sng" w="12700">
            <a:solidFill>
              <a:srgbClr val="E2E6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 txBox="1"/>
          <p:nvPr/>
        </p:nvSpPr>
        <p:spPr>
          <a:xfrm>
            <a:off x="3685032" y="1892063"/>
            <a:ext cx="2148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3"/>
          <p:cNvSpPr txBox="1"/>
          <p:nvPr/>
        </p:nvSpPr>
        <p:spPr>
          <a:xfrm>
            <a:off x="3685032" y="2202960"/>
            <a:ext cx="214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22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Penalized logistic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3"/>
          <p:cNvSpPr txBox="1"/>
          <p:nvPr/>
        </p:nvSpPr>
        <p:spPr>
          <a:xfrm>
            <a:off x="3685032" y="2934480"/>
            <a:ext cx="2148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glmnet · tuned α × λ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3"/>
          <p:cNvSpPr txBox="1"/>
          <p:nvPr/>
        </p:nvSpPr>
        <p:spPr>
          <a:xfrm>
            <a:off x="3685032" y="3391680"/>
            <a:ext cx="214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α = 1 (LASSO), λ = 1e-4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640077" y="4069273"/>
            <a:ext cx="2606100" cy="2148900"/>
          </a:xfrm>
          <a:prstGeom prst="roundRect">
            <a:avLst>
              <a:gd fmla="val 6000" name="adj"/>
            </a:avLst>
          </a:prstGeom>
          <a:solidFill>
            <a:srgbClr val="E2F0EE"/>
          </a:solidFill>
          <a:ln cap="flat" cmpd="sng" w="12700">
            <a:solidFill>
              <a:srgbClr val="E2E6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 txBox="1"/>
          <p:nvPr/>
        </p:nvSpPr>
        <p:spPr>
          <a:xfrm>
            <a:off x="896109" y="4279585"/>
            <a:ext cx="2148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3"/>
          <p:cNvSpPr txBox="1"/>
          <p:nvPr/>
        </p:nvSpPr>
        <p:spPr>
          <a:xfrm>
            <a:off x="896109" y="4590482"/>
            <a:ext cx="214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22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3"/>
          <p:cNvSpPr txBox="1"/>
          <p:nvPr/>
        </p:nvSpPr>
        <p:spPr>
          <a:xfrm>
            <a:off x="896109" y="5322002"/>
            <a:ext cx="2148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800" u="none" cap="none" strike="noStrike">
                <a:solidFill>
                  <a:srgbClr val="5EAAA1"/>
                </a:solidFill>
                <a:latin typeface="Calibri"/>
                <a:ea typeface="Calibri"/>
                <a:cs typeface="Calibri"/>
                <a:sym typeface="Calibri"/>
              </a:rPr>
              <a:t>500 trees · tuned mtry</a:t>
            </a:r>
            <a:endParaRPr b="0" i="0" sz="2000" u="none" cap="none" strike="noStrike">
              <a:solidFill>
                <a:srgbClr val="5EAAA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3"/>
          <p:cNvSpPr txBox="1"/>
          <p:nvPr/>
        </p:nvSpPr>
        <p:spPr>
          <a:xfrm>
            <a:off x="896109" y="5779202"/>
            <a:ext cx="2148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mtry = 5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3428997" y="4069273"/>
            <a:ext cx="2606100" cy="2148900"/>
          </a:xfrm>
          <a:prstGeom prst="roundRect">
            <a:avLst>
              <a:gd fmla="val 6000" name="adj"/>
            </a:avLst>
          </a:prstGeom>
          <a:solidFill>
            <a:srgbClr val="1E3A5F"/>
          </a:solidFill>
          <a:ln>
            <a:noFill/>
          </a:ln>
          <a:effectLst>
            <a:outerShdw blurRad="90000" rotWithShape="0" dir="5400000" dist="38000">
              <a:srgbClr val="1E3A5F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 txBox="1"/>
          <p:nvPr/>
        </p:nvSpPr>
        <p:spPr>
          <a:xfrm>
            <a:off x="3685029" y="4279585"/>
            <a:ext cx="2148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EAAA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3"/>
          <p:cNvSpPr txBox="1"/>
          <p:nvPr/>
        </p:nvSpPr>
        <p:spPr>
          <a:xfrm>
            <a:off x="3685029" y="4590482"/>
            <a:ext cx="214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Gradient boosting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3"/>
          <p:cNvSpPr txBox="1"/>
          <p:nvPr/>
        </p:nvSpPr>
        <p:spPr>
          <a:xfrm>
            <a:off x="3685029" y="5322002"/>
            <a:ext cx="2148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xgboost · tuned depth × η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3"/>
          <p:cNvSpPr txBox="1"/>
          <p:nvPr/>
        </p:nvSpPr>
        <p:spPr>
          <a:xfrm>
            <a:off x="3685029" y="5779202"/>
            <a:ext cx="214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u="none" cap="none" strike="noStrike">
                <a:solidFill>
                  <a:srgbClr val="5EAAA1"/>
                </a:solidFill>
                <a:latin typeface="Calibri"/>
                <a:ea typeface="Calibri"/>
                <a:cs typeface="Calibri"/>
                <a:sym typeface="Calibri"/>
              </a:rPr>
              <a:t>depth 2, η 0.05, 252 rounds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3"/>
          <p:cNvSpPr txBox="1"/>
          <p:nvPr/>
        </p:nvSpPr>
        <p:spPr>
          <a:xfrm>
            <a:off x="9262872" y="1640781"/>
            <a:ext cx="21489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10_tuning.png" id="347" name="Google Shape;34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95550" y="3391675"/>
            <a:ext cx="5285650" cy="30209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8" name="Google Shape;348;p13"/>
          <p:cNvGrpSpPr/>
          <p:nvPr/>
        </p:nvGrpSpPr>
        <p:grpSpPr>
          <a:xfrm>
            <a:off x="6562214" y="1619283"/>
            <a:ext cx="4888200" cy="1567295"/>
            <a:chOff x="6724726" y="1684288"/>
            <a:chExt cx="4888200" cy="1567295"/>
          </a:xfrm>
        </p:grpSpPr>
        <p:sp>
          <p:nvSpPr>
            <p:cNvPr id="349" name="Google Shape;349;p13"/>
            <p:cNvSpPr txBox="1"/>
            <p:nvPr/>
          </p:nvSpPr>
          <p:spPr>
            <a:xfrm>
              <a:off x="6724726" y="1684288"/>
              <a:ext cx="4888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1E3A5F"/>
                  </a:solidFill>
                  <a:latin typeface="Calibri"/>
                  <a:ea typeface="Calibri"/>
                  <a:cs typeface="Calibri"/>
                  <a:sym typeface="Calibri"/>
                </a:rPr>
                <a:t>Tuning the winner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13"/>
            <p:cNvSpPr txBox="1"/>
            <p:nvPr/>
          </p:nvSpPr>
          <p:spPr>
            <a:xfrm>
              <a:off x="6724726" y="2118782"/>
              <a:ext cx="4888200" cy="11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6B7280"/>
                  </a:solidFill>
                  <a:latin typeface="Calibri"/>
                  <a:ea typeface="Calibri"/>
                  <a:cs typeface="Calibri"/>
                  <a:sym typeface="Calibri"/>
                </a:rPr>
                <a:t>Grid search over tree depth and learning rate, scored on cross-validated ROC-AUC. </a:t>
              </a:r>
              <a:endParaRPr sz="16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6B728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0" i="0" lang="en-US" sz="1600" u="none" cap="none" strike="noStrike">
                  <a:solidFill>
                    <a:srgbClr val="6B7280"/>
                  </a:solidFill>
                  <a:latin typeface="Calibri"/>
                  <a:ea typeface="Calibri"/>
                  <a:cs typeface="Calibri"/>
                  <a:sym typeface="Calibri"/>
                </a:rPr>
                <a:t>he shallow, slow setup (</a:t>
              </a:r>
              <a:r>
                <a:rPr b="1" i="0" lang="en-US" sz="1600" u="none" cap="none" strike="noStrike">
                  <a:solidFill>
                    <a:srgbClr val="0F766E"/>
                  </a:solidFill>
                  <a:latin typeface="Calibri"/>
                  <a:ea typeface="Calibri"/>
                  <a:cs typeface="Calibri"/>
                  <a:sym typeface="Calibri"/>
                </a:rPr>
                <a:t>depth 2, η 0.05</a:t>
              </a:r>
              <a:r>
                <a:rPr b="0" i="0" lang="en-US" sz="1600" u="none" cap="none" strike="noStrike">
                  <a:solidFill>
                    <a:srgbClr val="6B7280"/>
                  </a:solidFill>
                  <a:latin typeface="Calibri"/>
                  <a:ea typeface="Calibri"/>
                  <a:cs typeface="Calibri"/>
                  <a:sym typeface="Calibri"/>
                </a:rPr>
                <a:t>) wins: many weak trees rather than a few strong ones.</a:t>
              </a:r>
              <a:endPara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1" name="Google Shape;351;p13"/>
          <p:cNvSpPr txBox="1"/>
          <p:nvPr/>
        </p:nvSpPr>
        <p:spPr>
          <a:xfrm>
            <a:off x="10728655" y="640080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4"/>
          <p:cNvSpPr/>
          <p:nvPr/>
        </p:nvSpPr>
        <p:spPr>
          <a:xfrm>
            <a:off x="640080" y="521208"/>
            <a:ext cx="118872" cy="1188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 txBox="1"/>
          <p:nvPr/>
        </p:nvSpPr>
        <p:spPr>
          <a:xfrm>
            <a:off x="859536" y="466344"/>
            <a:ext cx="54864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Model #1: </a:t>
            </a:r>
            <a:r>
              <a:rPr b="1" i="0" lang="en-US" sz="115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MODEL COMPARISON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4"/>
          <p:cNvSpPr txBox="1"/>
          <p:nvPr/>
        </p:nvSpPr>
        <p:spPr>
          <a:xfrm>
            <a:off x="640080" y="758952"/>
            <a:ext cx="1097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40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Model comparison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4"/>
          <p:cNvSpPr txBox="1"/>
          <p:nvPr/>
        </p:nvSpPr>
        <p:spPr>
          <a:xfrm>
            <a:off x="10728655" y="640080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11_sensspec.png" id="361" name="Google Shape;36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2995" y="1462198"/>
            <a:ext cx="4918363" cy="366313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62" name="Google Shape;362;p14"/>
          <p:cNvGraphicFramePr/>
          <p:nvPr/>
        </p:nvGraphicFramePr>
        <p:xfrm>
          <a:off x="640063" y="5350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{BDB3B124-AF7D-4BCB-ACE9-365E2DC4C48F}</a:tableStyleId>
              </a:tblPr>
              <a:tblGrid>
                <a:gridCol w="3049700"/>
                <a:gridCol w="3743100"/>
                <a:gridCol w="3493900"/>
              </a:tblGrid>
              <a:tr h="381000"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Font typeface="Calibri"/>
                        <a:buChar char="-"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 is valued over accuracy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Font typeface="Calibri"/>
                        <a:buChar char="-"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Gradient boosting has the highest F1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Font typeface="Calibri"/>
                        <a:buChar char="-"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 captures 64% hardship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Font typeface="Calibri"/>
                        <a:buChar char="-"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Models cluster near 0.51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Char char="-"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Gradient boosting captures 71% hardship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3" name="Google Shape;363;p14"/>
          <p:cNvSpPr/>
          <p:nvPr/>
        </p:nvSpPr>
        <p:spPr>
          <a:xfrm rot="8659">
            <a:off x="3957658" y="5493690"/>
            <a:ext cx="119100" cy="1191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 rot="8659">
            <a:off x="903166" y="5493696"/>
            <a:ext cx="119100" cy="1191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4"/>
          <p:cNvSpPr/>
          <p:nvPr/>
        </p:nvSpPr>
        <p:spPr>
          <a:xfrm rot="8659">
            <a:off x="7631895" y="5493703"/>
            <a:ext cx="119100" cy="1191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 rot="8659">
            <a:off x="903183" y="5907140"/>
            <a:ext cx="119100" cy="1191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 rot="8659">
            <a:off x="3947209" y="5907140"/>
            <a:ext cx="119100" cy="1191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8" name="Google Shape;36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8950" y="1488477"/>
            <a:ext cx="5320225" cy="3670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5"/>
          <p:cNvSpPr/>
          <p:nvPr/>
        </p:nvSpPr>
        <p:spPr>
          <a:xfrm>
            <a:off x="640080" y="521208"/>
            <a:ext cx="118872" cy="1188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5"/>
          <p:cNvSpPr txBox="1"/>
          <p:nvPr/>
        </p:nvSpPr>
        <p:spPr>
          <a:xfrm>
            <a:off x="859536" y="466344"/>
            <a:ext cx="54864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Model #1: </a:t>
            </a:r>
            <a:r>
              <a:rPr b="1" i="0" lang="en-US" sz="115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WHERE DOES DISABILITY RANK?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5"/>
          <p:cNvSpPr txBox="1"/>
          <p:nvPr/>
        </p:nvSpPr>
        <p:spPr>
          <a:xfrm>
            <a:off x="640080" y="758952"/>
            <a:ext cx="10972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5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Top predictors of material hardship</a:t>
            </a:r>
            <a:endParaRPr b="1" sz="3500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12_importance.png" id="377" name="Google Shape;37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375" y="1600175"/>
            <a:ext cx="6751599" cy="45983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5"/>
          <p:cNvSpPr txBox="1"/>
          <p:nvPr/>
        </p:nvSpPr>
        <p:spPr>
          <a:xfrm>
            <a:off x="7635240" y="1739741"/>
            <a:ext cx="3931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65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READING THE RANKS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7635265" y="2435849"/>
            <a:ext cx="118800" cy="1188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 txBox="1"/>
          <p:nvPr/>
        </p:nvSpPr>
        <p:spPr>
          <a:xfrm>
            <a:off x="7909683" y="2298334"/>
            <a:ext cx="37032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225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Income &amp; age lead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5"/>
          <p:cNvSpPr txBox="1"/>
          <p:nvPr/>
        </p:nvSpPr>
        <p:spPr>
          <a:xfrm>
            <a:off x="7872983" y="2676498"/>
            <a:ext cx="37032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the two dominant predictors, as expected.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7635265" y="3500568"/>
            <a:ext cx="118800" cy="1188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5"/>
          <p:cNvSpPr txBox="1"/>
          <p:nvPr/>
        </p:nvSpPr>
        <p:spPr>
          <a:xfrm>
            <a:off x="7872983" y="3386878"/>
            <a:ext cx="37032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225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Disability presence: 5th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5"/>
          <p:cNvSpPr/>
          <p:nvPr/>
        </p:nvSpPr>
        <p:spPr>
          <a:xfrm flipH="1" rot="10800000">
            <a:off x="7642176" y="3990525"/>
            <a:ext cx="105000" cy="1188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5"/>
          <p:cNvSpPr txBox="1"/>
          <p:nvPr/>
        </p:nvSpPr>
        <p:spPr>
          <a:xfrm>
            <a:off x="7872971" y="3876828"/>
            <a:ext cx="37032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225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Severity: 7th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7644450" y="4497759"/>
            <a:ext cx="3913500" cy="1336200"/>
          </a:xfrm>
          <a:prstGeom prst="roundRect">
            <a:avLst>
              <a:gd fmla="val 6000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5"/>
          <p:cNvSpPr txBox="1"/>
          <p:nvPr/>
        </p:nvSpPr>
        <p:spPr>
          <a:xfrm>
            <a:off x="7873100" y="4638274"/>
            <a:ext cx="34746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9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Because income and employment are already in the model, the </a:t>
            </a:r>
            <a:r>
              <a:rPr lang="en-US" sz="19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signal</a:t>
            </a:r>
            <a:r>
              <a:rPr lang="en-US" sz="19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of disability is not just poverty.</a:t>
            </a:r>
            <a:endParaRPr sz="19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5"/>
          <p:cNvSpPr txBox="1"/>
          <p:nvPr/>
        </p:nvSpPr>
        <p:spPr>
          <a:xfrm>
            <a:off x="10728655" y="640080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8"/>
          <p:cNvSpPr/>
          <p:nvPr/>
        </p:nvSpPr>
        <p:spPr>
          <a:xfrm>
            <a:off x="640080" y="521208"/>
            <a:ext cx="118800" cy="1188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8"/>
          <p:cNvSpPr txBox="1"/>
          <p:nvPr/>
        </p:nvSpPr>
        <p:spPr>
          <a:xfrm>
            <a:off x="859536" y="466344"/>
            <a:ext cx="54864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MODEL #2</a:t>
            </a:r>
            <a:r>
              <a:rPr b="1" lang="en-US" sz="115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i="0" lang="en-US" sz="115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 THE NET-WORTH GAP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8"/>
          <p:cNvSpPr txBox="1"/>
          <p:nvPr/>
        </p:nvSpPr>
        <p:spPr>
          <a:xfrm>
            <a:off x="640080" y="758952"/>
            <a:ext cx="1097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Disabled households hold far less wealth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14_networth.png" id="397" name="Google Shape;39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965960"/>
            <a:ext cx="6766561" cy="392896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18"/>
          <p:cNvSpPr txBox="1"/>
          <p:nvPr/>
        </p:nvSpPr>
        <p:spPr>
          <a:xfrm>
            <a:off x="7726679" y="1972894"/>
            <a:ext cx="3931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35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$289k → $147k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8"/>
          <p:cNvSpPr txBox="1"/>
          <p:nvPr/>
        </p:nvSpPr>
        <p:spPr>
          <a:xfrm>
            <a:off x="7726679" y="2502552"/>
            <a:ext cx="3931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23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median net worth, no-disability vs disability and it falls at every severity step.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8"/>
          <p:cNvSpPr txBox="1"/>
          <p:nvPr/>
        </p:nvSpPr>
        <p:spPr>
          <a:xfrm>
            <a:off x="7726679" y="4063892"/>
            <a:ext cx="3931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35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~48% lower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8"/>
          <p:cNvSpPr txBox="1"/>
          <p:nvPr/>
        </p:nvSpPr>
        <p:spPr>
          <a:xfrm>
            <a:off x="7726679" y="4626053"/>
            <a:ext cx="3931800" cy="7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23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per added limitation, adjusted (95% CI 41–54%).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8"/>
          <p:cNvSpPr txBox="1"/>
          <p:nvPr/>
        </p:nvSpPr>
        <p:spPr>
          <a:xfrm>
            <a:off x="10728655" y="6400800"/>
            <a:ext cx="822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9"/>
          <p:cNvSpPr/>
          <p:nvPr/>
        </p:nvSpPr>
        <p:spPr>
          <a:xfrm>
            <a:off x="640080" y="521208"/>
            <a:ext cx="118800" cy="1188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9"/>
          <p:cNvSpPr txBox="1"/>
          <p:nvPr/>
        </p:nvSpPr>
        <p:spPr>
          <a:xfrm>
            <a:off x="859536" y="466344"/>
            <a:ext cx="54864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MODEL #2</a:t>
            </a:r>
            <a:r>
              <a:rPr b="1" lang="en-US" sz="115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i="0" lang="en-US" sz="115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 INCOME CAN'T EXPLAIN 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9"/>
          <p:cNvSpPr txBox="1"/>
          <p:nvPr/>
        </p:nvSpPr>
        <p:spPr>
          <a:xfrm>
            <a:off x="640080" y="758952"/>
            <a:ext cx="10972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5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The effect of income on the wealth gap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9"/>
          <p:cNvSpPr txBox="1"/>
          <p:nvPr/>
        </p:nvSpPr>
        <p:spPr>
          <a:xfrm>
            <a:off x="585330" y="2135617"/>
            <a:ext cx="5760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b="1" i="0" lang="en-US" sz="8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~95%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9"/>
          <p:cNvSpPr txBox="1"/>
          <p:nvPr/>
        </p:nvSpPr>
        <p:spPr>
          <a:xfrm>
            <a:off x="585330" y="3370057"/>
            <a:ext cx="566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4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of the disability–wealth gap persists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9"/>
          <p:cNvSpPr txBox="1"/>
          <p:nvPr/>
        </p:nvSpPr>
        <p:spPr>
          <a:xfrm>
            <a:off x="585330" y="4287096"/>
            <a:ext cx="5669400" cy="15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20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When household income is added as a control, the per-limitation coefficient barely moves</a:t>
            </a:r>
            <a:r>
              <a:rPr lang="en-US" sz="20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20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205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−0.651 → −0.618</a:t>
            </a:r>
            <a:r>
              <a:rPr b="0" i="0" lang="en-US" sz="20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. Only about 5% of the gap runs through current earnings.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9"/>
          <p:cNvSpPr/>
          <p:nvPr/>
        </p:nvSpPr>
        <p:spPr>
          <a:xfrm>
            <a:off x="6488275" y="1785426"/>
            <a:ext cx="5287800" cy="1953900"/>
          </a:xfrm>
          <a:prstGeom prst="roundRect">
            <a:avLst>
              <a:gd fmla="val 5000" name="adj"/>
            </a:avLst>
          </a:prstGeom>
          <a:solidFill>
            <a:srgbClr val="F7F8FA"/>
          </a:solidFill>
          <a:ln cap="flat" cmpd="sng" w="14550">
            <a:solidFill>
              <a:srgbClr val="E2E6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325" lIns="104700" spcFirstLastPara="1" rIns="104700" wrap="square" tIns="52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61"/>
              <a:buFont typeface="Arial"/>
              <a:buNone/>
            </a:pPr>
            <a:r>
              <a:t/>
            </a:r>
            <a:endParaRPr b="0" i="0" sz="206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9"/>
          <p:cNvSpPr txBox="1"/>
          <p:nvPr/>
        </p:nvSpPr>
        <p:spPr>
          <a:xfrm>
            <a:off x="6844305" y="2015787"/>
            <a:ext cx="46074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7"/>
              <a:buFont typeface="Arial"/>
              <a:buNone/>
            </a:pPr>
            <a:r>
              <a:rPr b="1" i="0" lang="en-US" sz="1661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MODEL A · TOTAL GAP (NO INCOME)</a:t>
            </a:r>
            <a:endParaRPr b="0" i="0" sz="194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9"/>
          <p:cNvSpPr txBox="1"/>
          <p:nvPr/>
        </p:nvSpPr>
        <p:spPr>
          <a:xfrm>
            <a:off x="6844305" y="2361343"/>
            <a:ext cx="46074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77"/>
              <a:buFont typeface="Arial"/>
              <a:buNone/>
            </a:pPr>
            <a:r>
              <a:rPr b="1" i="0" lang="en-US" sz="3092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−0.651</a:t>
            </a:r>
            <a:r>
              <a:rPr b="0" i="0" lang="en-US" sz="1832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  ≈ −48% / limitation</a:t>
            </a:r>
            <a:endParaRPr b="0" i="0" sz="171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9"/>
          <p:cNvSpPr txBox="1"/>
          <p:nvPr/>
        </p:nvSpPr>
        <p:spPr>
          <a:xfrm>
            <a:off x="6844305" y="2958216"/>
            <a:ext cx="46599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4"/>
              <a:buFont typeface="Arial"/>
              <a:buNone/>
            </a:pPr>
            <a:r>
              <a:rPr b="0" i="0" lang="en-US" sz="1718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The full adjusted association, before any income control.</a:t>
            </a:r>
            <a:endParaRPr b="0" i="0" sz="194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9"/>
          <p:cNvSpPr/>
          <p:nvPr/>
        </p:nvSpPr>
        <p:spPr>
          <a:xfrm>
            <a:off x="6488275" y="4132526"/>
            <a:ext cx="5287800" cy="1953900"/>
          </a:xfrm>
          <a:prstGeom prst="roundRect">
            <a:avLst>
              <a:gd fmla="val 5000" name="adj"/>
            </a:avLst>
          </a:prstGeom>
          <a:solidFill>
            <a:srgbClr val="F7F8FA"/>
          </a:solidFill>
          <a:ln cap="flat" cmpd="sng" w="14550">
            <a:solidFill>
              <a:srgbClr val="E2E6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325" lIns="104700" spcFirstLastPara="1" rIns="104700" wrap="square" tIns="52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61"/>
              <a:buFont typeface="Arial"/>
              <a:buNone/>
            </a:pPr>
            <a:r>
              <a:t/>
            </a:r>
            <a:endParaRPr b="0" i="0" sz="206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9"/>
          <p:cNvSpPr txBox="1"/>
          <p:nvPr/>
        </p:nvSpPr>
        <p:spPr>
          <a:xfrm>
            <a:off x="6844305" y="4362884"/>
            <a:ext cx="46074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7"/>
              <a:buFont typeface="Arial"/>
              <a:buNone/>
            </a:pPr>
            <a:r>
              <a:rPr b="1" i="0" lang="en-US" sz="1661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MODEL B · STRUCTURAL GAP (+ INCOME)</a:t>
            </a:r>
            <a:endParaRPr b="0" i="0" sz="194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9"/>
          <p:cNvSpPr txBox="1"/>
          <p:nvPr/>
        </p:nvSpPr>
        <p:spPr>
          <a:xfrm>
            <a:off x="6844305" y="4708442"/>
            <a:ext cx="46074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77"/>
              <a:buFont typeface="Arial"/>
              <a:buNone/>
            </a:pPr>
            <a:r>
              <a:rPr b="1" i="0" lang="en-US" sz="3092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−0.618</a:t>
            </a:r>
            <a:r>
              <a:rPr b="0" i="0" lang="en-US" sz="1832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  ≈ −46% / limitation</a:t>
            </a:r>
            <a:endParaRPr b="0" i="0" sz="171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9"/>
          <p:cNvSpPr txBox="1"/>
          <p:nvPr/>
        </p:nvSpPr>
        <p:spPr>
          <a:xfrm>
            <a:off x="6844305" y="5305313"/>
            <a:ext cx="46599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4"/>
              <a:buFont typeface="Arial"/>
              <a:buNone/>
            </a:pPr>
            <a:r>
              <a:rPr b="0" i="0" lang="en-US" sz="1718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Almost unchanged — 94.9% of the gap remains after income.</a:t>
            </a:r>
            <a:endParaRPr b="0" i="0" sz="194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9"/>
          <p:cNvSpPr txBox="1"/>
          <p:nvPr/>
        </p:nvSpPr>
        <p:spPr>
          <a:xfrm>
            <a:off x="10728655" y="6400800"/>
            <a:ext cx="822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f4611e8b55_0_23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g3f4611e8b55_0_23"/>
          <p:cNvSpPr txBox="1"/>
          <p:nvPr/>
        </p:nvSpPr>
        <p:spPr>
          <a:xfrm>
            <a:off x="868680" y="2148840"/>
            <a:ext cx="27432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rPr b="1" i="0" lang="en-US" sz="9000" u="none" cap="none" strike="noStrike">
                <a:solidFill>
                  <a:srgbClr val="33537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g3f4611e8b55_0_23"/>
          <p:cNvSpPr/>
          <p:nvPr/>
        </p:nvSpPr>
        <p:spPr>
          <a:xfrm>
            <a:off x="914400" y="3447288"/>
            <a:ext cx="118800" cy="118800"/>
          </a:xfrm>
          <a:prstGeom prst="ellipse">
            <a:avLst/>
          </a:prstGeom>
          <a:solidFill>
            <a:srgbClr val="5EAA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g3f4611e8b55_0_23"/>
          <p:cNvSpPr txBox="1"/>
          <p:nvPr/>
        </p:nvSpPr>
        <p:spPr>
          <a:xfrm>
            <a:off x="1133856" y="3392424"/>
            <a:ext cx="54864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5EAAA1"/>
                </a:solidFill>
                <a:latin typeface="Calibri"/>
                <a:ea typeface="Calibri"/>
                <a:cs typeface="Calibri"/>
                <a:sym typeface="Calibri"/>
              </a:rPr>
              <a:t>Bunching Impact before $2000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g3f4611e8b55_0_23"/>
          <p:cNvSpPr txBox="1"/>
          <p:nvPr/>
        </p:nvSpPr>
        <p:spPr>
          <a:xfrm>
            <a:off x="868680" y="3703320"/>
            <a:ext cx="1005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Discussion on SSI exploitation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0"/>
          <p:cNvSpPr/>
          <p:nvPr/>
        </p:nvSpPr>
        <p:spPr>
          <a:xfrm>
            <a:off x="640080" y="521208"/>
            <a:ext cx="118872" cy="1188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0"/>
          <p:cNvSpPr txBox="1"/>
          <p:nvPr/>
        </p:nvSpPr>
        <p:spPr>
          <a:xfrm>
            <a:off x="859536" y="466344"/>
            <a:ext cx="54864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Discussion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20"/>
          <p:cNvSpPr txBox="1"/>
          <p:nvPr/>
        </p:nvSpPr>
        <p:spPr>
          <a:xfrm>
            <a:off x="640080" y="758952"/>
            <a:ext cx="1097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Recipients </a:t>
            </a:r>
            <a:r>
              <a:rPr b="1" lang="en-US" sz="30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net worth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20"/>
          <p:cNvSpPr txBox="1"/>
          <p:nvPr/>
        </p:nvSpPr>
        <p:spPr>
          <a:xfrm>
            <a:off x="10728655" y="640080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15_share.png" id="442" name="Google Shape;44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252" y="2261853"/>
            <a:ext cx="4187274" cy="367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2140" y="1734300"/>
            <a:ext cx="6727236" cy="4666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20"/>
          <p:cNvSpPr/>
          <p:nvPr/>
        </p:nvSpPr>
        <p:spPr>
          <a:xfrm>
            <a:off x="6484846" y="6126600"/>
            <a:ext cx="4097100" cy="274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Countable Assets (log scale)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1"/>
          <p:cNvSpPr/>
          <p:nvPr/>
        </p:nvSpPr>
        <p:spPr>
          <a:xfrm>
            <a:off x="-21" y="0"/>
            <a:ext cx="121917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1"/>
          <p:cNvSpPr/>
          <p:nvPr/>
        </p:nvSpPr>
        <p:spPr>
          <a:xfrm>
            <a:off x="868680" y="658368"/>
            <a:ext cx="118872" cy="118872"/>
          </a:xfrm>
          <a:prstGeom prst="ellipse">
            <a:avLst/>
          </a:prstGeom>
          <a:solidFill>
            <a:srgbClr val="5EAA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1"/>
          <p:cNvSpPr txBox="1"/>
          <p:nvPr/>
        </p:nvSpPr>
        <p:spPr>
          <a:xfrm>
            <a:off x="1088136" y="603503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5EAAA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21"/>
          <p:cNvSpPr txBox="1"/>
          <p:nvPr/>
        </p:nvSpPr>
        <p:spPr>
          <a:xfrm>
            <a:off x="831089" y="474775"/>
            <a:ext cx="106071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Disabled households fare worse, </a:t>
            </a:r>
            <a:r>
              <a:rPr b="1" i="0" lang="en-US" sz="3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and it looks structural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1"/>
          <p:cNvSpPr/>
          <p:nvPr/>
        </p:nvSpPr>
        <p:spPr>
          <a:xfrm>
            <a:off x="831100" y="2099253"/>
            <a:ext cx="3401700" cy="3164700"/>
          </a:xfrm>
          <a:prstGeom prst="roundRect">
            <a:avLst>
              <a:gd fmla="val 5000" name="adj"/>
            </a:avLst>
          </a:prstGeom>
          <a:solidFill>
            <a:srgbClr val="162B47"/>
          </a:solidFill>
          <a:ln>
            <a:noFill/>
          </a:ln>
          <a:effectLst>
            <a:outerShdw blurRad="57150" rotWithShape="0" algn="bl" dir="5400000" dist="11430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1"/>
          <p:cNvSpPr txBox="1"/>
          <p:nvPr/>
        </p:nvSpPr>
        <p:spPr>
          <a:xfrm>
            <a:off x="1123697" y="2346131"/>
            <a:ext cx="285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000" u="none" cap="none" strike="noStrike">
                <a:solidFill>
                  <a:srgbClr val="5EAAA1"/>
                </a:solidFill>
                <a:latin typeface="Calibri"/>
                <a:ea typeface="Calibri"/>
                <a:cs typeface="Calibri"/>
                <a:sym typeface="Calibri"/>
              </a:rPr>
              <a:t>RQ #1: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1"/>
          <p:cNvSpPr txBox="1"/>
          <p:nvPr/>
        </p:nvSpPr>
        <p:spPr>
          <a:xfrm>
            <a:off x="1123697" y="2823700"/>
            <a:ext cx="28530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Prediction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21"/>
          <p:cNvSpPr txBox="1"/>
          <p:nvPr/>
        </p:nvSpPr>
        <p:spPr>
          <a:xfrm>
            <a:off x="1123697" y="3580475"/>
            <a:ext cx="2853000" cy="8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7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Disability is a leading predictor of hardship, independent of income and employment.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21"/>
          <p:cNvSpPr/>
          <p:nvPr/>
        </p:nvSpPr>
        <p:spPr>
          <a:xfrm>
            <a:off x="4525275" y="2099254"/>
            <a:ext cx="3401700" cy="3164700"/>
          </a:xfrm>
          <a:prstGeom prst="roundRect">
            <a:avLst>
              <a:gd fmla="val 5000" name="adj"/>
            </a:avLst>
          </a:prstGeom>
          <a:solidFill>
            <a:srgbClr val="162B47"/>
          </a:solidFill>
          <a:ln>
            <a:noFill/>
          </a:ln>
          <a:effectLst>
            <a:outerShdw blurRad="57150" rotWithShape="0" algn="bl" dir="5400000" dist="11430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1"/>
          <p:cNvSpPr txBox="1"/>
          <p:nvPr/>
        </p:nvSpPr>
        <p:spPr>
          <a:xfrm>
            <a:off x="4817873" y="2346131"/>
            <a:ext cx="285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000" u="none" cap="none" strike="noStrike">
                <a:solidFill>
                  <a:srgbClr val="5EAAA1"/>
                </a:solidFill>
                <a:latin typeface="Calibri"/>
                <a:ea typeface="Calibri"/>
                <a:cs typeface="Calibri"/>
                <a:sym typeface="Calibri"/>
              </a:rPr>
              <a:t>RQ</a:t>
            </a:r>
            <a:r>
              <a:rPr b="1" lang="en-US" sz="2000">
                <a:solidFill>
                  <a:srgbClr val="5EAAA1"/>
                </a:solidFill>
                <a:latin typeface="Calibri"/>
                <a:ea typeface="Calibri"/>
                <a:cs typeface="Calibri"/>
                <a:sym typeface="Calibri"/>
              </a:rPr>
              <a:t> #2: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1"/>
          <p:cNvSpPr txBox="1"/>
          <p:nvPr/>
        </p:nvSpPr>
        <p:spPr>
          <a:xfrm>
            <a:off x="4817873" y="2823700"/>
            <a:ext cx="28530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Wealth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1"/>
          <p:cNvSpPr txBox="1"/>
          <p:nvPr/>
        </p:nvSpPr>
        <p:spPr>
          <a:xfrm>
            <a:off x="4817873" y="3580475"/>
            <a:ext cx="2853000" cy="8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7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 large net-worth gap that widens with severity; ~95% is not explained by income.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1"/>
          <p:cNvSpPr/>
          <p:nvPr/>
        </p:nvSpPr>
        <p:spPr>
          <a:xfrm>
            <a:off x="8219450" y="2099258"/>
            <a:ext cx="3401700" cy="3164700"/>
          </a:xfrm>
          <a:prstGeom prst="roundRect">
            <a:avLst>
              <a:gd fmla="val 5000" name="adj"/>
            </a:avLst>
          </a:prstGeom>
          <a:solidFill>
            <a:srgbClr val="162B47"/>
          </a:solidFill>
          <a:ln>
            <a:noFill/>
          </a:ln>
          <a:effectLst>
            <a:outerShdw blurRad="57150" rotWithShape="0" algn="bl" dir="5400000" dist="11430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1"/>
          <p:cNvSpPr txBox="1"/>
          <p:nvPr/>
        </p:nvSpPr>
        <p:spPr>
          <a:xfrm>
            <a:off x="8512049" y="2346131"/>
            <a:ext cx="285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000" u="none" cap="none" strike="noStrike">
                <a:solidFill>
                  <a:srgbClr val="5EAAA1"/>
                </a:solidFill>
                <a:latin typeface="Calibri"/>
                <a:ea typeface="Calibri"/>
                <a:cs typeface="Calibri"/>
                <a:sym typeface="Calibri"/>
              </a:rPr>
              <a:t>RQ</a:t>
            </a:r>
            <a:r>
              <a:rPr b="1" lang="en-US" sz="2000">
                <a:solidFill>
                  <a:srgbClr val="5EAAA1"/>
                </a:solidFill>
                <a:latin typeface="Calibri"/>
                <a:ea typeface="Calibri"/>
                <a:cs typeface="Calibri"/>
                <a:sym typeface="Calibri"/>
              </a:rPr>
              <a:t> #3: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1"/>
          <p:cNvSpPr txBox="1"/>
          <p:nvPr/>
        </p:nvSpPr>
        <p:spPr>
          <a:xfrm>
            <a:off x="8512049" y="2823700"/>
            <a:ext cx="28530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Savings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21"/>
          <p:cNvSpPr txBox="1"/>
          <p:nvPr/>
        </p:nvSpPr>
        <p:spPr>
          <a:xfrm>
            <a:off x="8512049" y="3580475"/>
            <a:ext cx="2853000" cy="8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7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The frozen $2,000 SSI limit is one concrete mechanism; recipients rarely exceed it.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2"/>
          <p:cNvSpPr/>
          <p:nvPr/>
        </p:nvSpPr>
        <p:spPr>
          <a:xfrm>
            <a:off x="640080" y="521208"/>
            <a:ext cx="118872" cy="1188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2"/>
          <p:cNvSpPr txBox="1"/>
          <p:nvPr/>
        </p:nvSpPr>
        <p:spPr>
          <a:xfrm>
            <a:off x="859536" y="46634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2"/>
          <p:cNvSpPr txBox="1"/>
          <p:nvPr/>
        </p:nvSpPr>
        <p:spPr>
          <a:xfrm>
            <a:off x="609455" y="918990"/>
            <a:ext cx="1097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Data, policy, and methods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2"/>
          <p:cNvSpPr txBox="1"/>
          <p:nvPr/>
        </p:nvSpPr>
        <p:spPr>
          <a:xfrm>
            <a:off x="640080" y="192024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DATA &amp; POLICY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22"/>
          <p:cNvSpPr/>
          <p:nvPr/>
        </p:nvSpPr>
        <p:spPr>
          <a:xfrm>
            <a:off x="640080" y="2395727"/>
            <a:ext cx="91440" cy="91440"/>
          </a:xfrm>
          <a:prstGeom prst="ellipse">
            <a:avLst/>
          </a:prstGeom>
          <a:solidFill>
            <a:srgbClr val="9CA3A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2"/>
          <p:cNvSpPr txBox="1"/>
          <p:nvPr/>
        </p:nvSpPr>
        <p:spPr>
          <a:xfrm>
            <a:off x="859536" y="2331720"/>
            <a:ext cx="4901183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U.S. Census Bureau. Survey of Income and Program Participation (SIPP), 2024 Public-Use File.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22"/>
          <p:cNvSpPr/>
          <p:nvPr/>
        </p:nvSpPr>
        <p:spPr>
          <a:xfrm>
            <a:off x="640080" y="3182111"/>
            <a:ext cx="91440" cy="91440"/>
          </a:xfrm>
          <a:prstGeom prst="ellipse">
            <a:avLst/>
          </a:prstGeom>
          <a:solidFill>
            <a:srgbClr val="9CA3A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2"/>
          <p:cNvSpPr txBox="1"/>
          <p:nvPr/>
        </p:nvSpPr>
        <p:spPr>
          <a:xfrm>
            <a:off x="859536" y="3118103"/>
            <a:ext cx="4901183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Social Security Administration. Supplemental Security Income (SSI) resource limits ($2,000, unchanged since 1989).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22"/>
          <p:cNvSpPr/>
          <p:nvPr/>
        </p:nvSpPr>
        <p:spPr>
          <a:xfrm>
            <a:off x="640080" y="3968496"/>
            <a:ext cx="91440" cy="91440"/>
          </a:xfrm>
          <a:prstGeom prst="ellipse">
            <a:avLst/>
          </a:prstGeom>
          <a:solidFill>
            <a:srgbClr val="9CA3A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2"/>
          <p:cNvSpPr txBox="1"/>
          <p:nvPr/>
        </p:nvSpPr>
        <p:spPr>
          <a:xfrm>
            <a:off x="859536" y="3904487"/>
            <a:ext cx="4901183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SSI Savings Penalty Elimination Act; ABLE Age Adjustment Act (pending federal legislation).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22"/>
          <p:cNvSpPr/>
          <p:nvPr/>
        </p:nvSpPr>
        <p:spPr>
          <a:xfrm>
            <a:off x="640080" y="4754880"/>
            <a:ext cx="91440" cy="91440"/>
          </a:xfrm>
          <a:prstGeom prst="ellipse">
            <a:avLst/>
          </a:prstGeom>
          <a:solidFill>
            <a:srgbClr val="9CA3A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2"/>
          <p:cNvSpPr txBox="1"/>
          <p:nvPr/>
        </p:nvSpPr>
        <p:spPr>
          <a:xfrm>
            <a:off x="859536" y="4690872"/>
            <a:ext cx="4901183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CDC. Disability and Health Data System: disability prevalence among U.S. adults (“1 in 4”).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22"/>
          <p:cNvSpPr txBox="1"/>
          <p:nvPr/>
        </p:nvSpPr>
        <p:spPr>
          <a:xfrm>
            <a:off x="6355080" y="192024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METHODS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2"/>
          <p:cNvSpPr/>
          <p:nvPr/>
        </p:nvSpPr>
        <p:spPr>
          <a:xfrm>
            <a:off x="6355080" y="2395727"/>
            <a:ext cx="91440" cy="91440"/>
          </a:xfrm>
          <a:prstGeom prst="ellipse">
            <a:avLst/>
          </a:prstGeom>
          <a:solidFill>
            <a:srgbClr val="9CA3A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2"/>
          <p:cNvSpPr txBox="1"/>
          <p:nvPr/>
        </p:nvSpPr>
        <p:spPr>
          <a:xfrm>
            <a:off x="6574536" y="2331720"/>
            <a:ext cx="4901183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Chen &amp; Guestrin (2016). XGBoost: A Scalable Tree Boosting System.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2"/>
          <p:cNvSpPr/>
          <p:nvPr/>
        </p:nvSpPr>
        <p:spPr>
          <a:xfrm>
            <a:off x="6355080" y="3182111"/>
            <a:ext cx="91440" cy="91440"/>
          </a:xfrm>
          <a:prstGeom prst="ellipse">
            <a:avLst/>
          </a:prstGeom>
          <a:solidFill>
            <a:srgbClr val="9CA3A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2"/>
          <p:cNvSpPr txBox="1"/>
          <p:nvPr/>
        </p:nvSpPr>
        <p:spPr>
          <a:xfrm>
            <a:off x="6574536" y="3118103"/>
            <a:ext cx="4901183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Lundberg &amp; Lee (2017). A Unified Approach to Interpreting Model Predictions (SHAP).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2"/>
          <p:cNvSpPr/>
          <p:nvPr/>
        </p:nvSpPr>
        <p:spPr>
          <a:xfrm>
            <a:off x="6355080" y="3968496"/>
            <a:ext cx="91440" cy="91440"/>
          </a:xfrm>
          <a:prstGeom prst="ellipse">
            <a:avLst/>
          </a:prstGeom>
          <a:solidFill>
            <a:srgbClr val="9CA3A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2"/>
          <p:cNvSpPr txBox="1"/>
          <p:nvPr/>
        </p:nvSpPr>
        <p:spPr>
          <a:xfrm>
            <a:off x="6574536" y="3904487"/>
            <a:ext cx="4901183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Tibshirani (1996). Regression Shrinkage and Selection via the Lasso.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22"/>
          <p:cNvSpPr/>
          <p:nvPr/>
        </p:nvSpPr>
        <p:spPr>
          <a:xfrm>
            <a:off x="6355080" y="4754880"/>
            <a:ext cx="91440" cy="91440"/>
          </a:xfrm>
          <a:prstGeom prst="ellipse">
            <a:avLst/>
          </a:prstGeom>
          <a:solidFill>
            <a:srgbClr val="9CA3A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2"/>
          <p:cNvSpPr txBox="1"/>
          <p:nvPr/>
        </p:nvSpPr>
        <p:spPr>
          <a:xfrm>
            <a:off x="6574536" y="4690872"/>
            <a:ext cx="4901183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Burbidge, Magee &amp; Robb (1988). Alternative Transformations to Handle Extreme Values (IHS).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3" name="Google Shape;493;p22"/>
          <p:cNvCxnSpPr/>
          <p:nvPr/>
        </p:nvCxnSpPr>
        <p:spPr>
          <a:xfrm>
            <a:off x="640080" y="5806440"/>
            <a:ext cx="10881300" cy="6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rgbClr val="E2E6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4" name="Google Shape;494;p22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Analysis in R (glmnet, ranger, xgboost, SHAPforxgboost) and Python; all figures generated from the 2024 SIPP microdata.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22"/>
          <p:cNvSpPr txBox="1"/>
          <p:nvPr/>
        </p:nvSpPr>
        <p:spPr>
          <a:xfrm>
            <a:off x="10728655" y="640080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f4611e8b55_0_35"/>
          <p:cNvSpPr/>
          <p:nvPr/>
        </p:nvSpPr>
        <p:spPr>
          <a:xfrm>
            <a:off x="640080" y="521208"/>
            <a:ext cx="118800" cy="1188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g3f4611e8b55_0_35"/>
          <p:cNvSpPr txBox="1"/>
          <p:nvPr/>
        </p:nvSpPr>
        <p:spPr>
          <a:xfrm>
            <a:off x="859536" y="466344"/>
            <a:ext cx="54864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AI Usage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g3f4611e8b55_0_35"/>
          <p:cNvSpPr txBox="1"/>
          <p:nvPr/>
        </p:nvSpPr>
        <p:spPr>
          <a:xfrm>
            <a:off x="640080" y="758952"/>
            <a:ext cx="1097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AI Usage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g3f4611e8b55_0_35"/>
          <p:cNvSpPr txBox="1"/>
          <p:nvPr/>
        </p:nvSpPr>
        <p:spPr>
          <a:xfrm>
            <a:off x="640075" y="1509575"/>
            <a:ext cx="10972800" cy="46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Calibri"/>
              <a:buChar char="●"/>
            </a:pPr>
            <a:r>
              <a:rPr lang="en-US" sz="23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Wrangling a massive dataset: The raw SIPP file had 5,203 variables and ~437k records (~3GB). We used AI to write Python scripts that pulled only the ~30 columns we needed, so we could work with the data at all.</a:t>
            </a:r>
            <a:endParaRPr sz="23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Calibri"/>
              <a:buChar char="●"/>
            </a:pPr>
            <a:r>
              <a:rPr lang="en-US" sz="23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Building the prediction pipeline: AI helped us set up the hardship-classification model: constructing the binary target from survey items, one-hot encoding, handling class imbalance, and running several models.  </a:t>
            </a:r>
            <a:endParaRPr sz="23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Calibri"/>
              <a:buChar char="●"/>
            </a:pPr>
            <a:r>
              <a:rPr lang="en-US" sz="23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Debugging tricky problems: When our numbers didn't line up during EDA, AI helped us trace it to 26 dropped cases with missing asset data.</a:t>
            </a:r>
            <a:endParaRPr sz="23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Calibri"/>
              <a:buChar char="●"/>
            </a:pPr>
            <a:r>
              <a:rPr lang="en-US" sz="23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Slides &amp; interpretation: We used AI to give feedback to our slides and edit our slides. For example, we asked to refine working, remove awkward phrases, etc.. </a:t>
            </a:r>
            <a:endParaRPr sz="23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g3f4611e8b55_0_35"/>
          <p:cNvSpPr txBox="1"/>
          <p:nvPr/>
        </p:nvSpPr>
        <p:spPr>
          <a:xfrm>
            <a:off x="10728655" y="6400800"/>
            <a:ext cx="822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