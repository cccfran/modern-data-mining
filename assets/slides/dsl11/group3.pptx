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Lst>
  <p:sldSz cy="6858000" cx="12192000"/>
  <p:notesSz cx="6858000" cy="12192000"/>
  <p:embeddedFontLst>
    <p:embeddedFont>
      <p:font typeface="Roboto"/>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6" roundtripDataSignature="AMtx7mgfvzBdsNb2nLkNPZWUbBOsOY+SK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Roboto-bold.fntdata"/><Relationship Id="rId10" Type="http://schemas.openxmlformats.org/officeDocument/2006/relationships/slide" Target="slides/slide6.xml"/><Relationship Id="rId32" Type="http://schemas.openxmlformats.org/officeDocument/2006/relationships/font" Target="fonts/Roboto-regular.fntdata"/><Relationship Id="rId13" Type="http://schemas.openxmlformats.org/officeDocument/2006/relationships/slide" Target="slides/slide9.xml"/><Relationship Id="rId35" Type="http://schemas.openxmlformats.org/officeDocument/2006/relationships/font" Target="fonts/Roboto-boldItalic.fntdata"/><Relationship Id="rId12" Type="http://schemas.openxmlformats.org/officeDocument/2006/relationships/slide" Target="slides/slide8.xml"/><Relationship Id="rId34" Type="http://schemas.openxmlformats.org/officeDocument/2006/relationships/font" Target="fonts/Roboto-italic.fntdata"/><Relationship Id="rId15" Type="http://schemas.openxmlformats.org/officeDocument/2006/relationships/slide" Target="slides/slide11.xml"/><Relationship Id="rId14" Type="http://schemas.openxmlformats.org/officeDocument/2006/relationships/slide" Target="slides/slide10.xml"/><Relationship Id="rId36" Type="http://customschemas.google.com/relationships/presentationmetadata" Target="meta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 name="Google Shape;2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 name="Google Shape;3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 name="Google Shape;5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 name="Google Shape;7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 name="Google Shape;7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slide explains the sample we modeled. We excluded 0–5 years because many people in that group may not have had enough time to naturalize. We excluded 21+ years because that group is harder to interpret, since most have already naturalized and the remaining non-citizens may face barriers we cannot see. The 6–20 year window gives us a cleaner comparison, but it does not prove why a person stayed a non-citizen. The ACS does not show whether they applied, were eligible, were denied, were waiting, or chose not to apply.</a:t>
            </a:r>
            <a:endParaRPr/>
          </a:p>
        </p:txBody>
      </p:sp>
      <p:sp>
        <p:nvSpPr>
          <p:cNvPr id="94" name="Google Shape;9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This slide shows how we turned the survey into a model. Education was grouped into five readable bands, and English was ordered from weakest to strongest. We dropped occupation and industry because they had hundreds of categories and would make the model harder to interpret. We also dropped age at immigration because it is exactly age minus years in the U.S., so keeping it would double-count the same information. The 81 columns come from expanding categories like state, race, and education, not from 81 separate survey questions.</a:t>
            </a:r>
            <a:endParaRPr/>
          </a:p>
        </p:txBody>
      </p:sp>
      <p:sp>
        <p:nvSpPr>
          <p:cNvPr id="120" name="Google Shape;12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p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3" name="Google Shape;153;p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is the raw 1.77 million-person dataset before the 6–20 year modeling window. Naturalized citizens are older, and naturalization rises strongly with years in the U.S. The problem is that this full view mixes recent arrivals with people who have been in the country for decades. That is why the next slides focus on the narrower cohort.</a:t>
            </a:r>
            <a:endParaRPr/>
          </a:p>
        </p:txBody>
      </p:sp>
      <p:sp>
        <p:nvSpPr>
          <p:cNvPr id="179" name="Google Shape;17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graph shows that English proficiency matters at every year in the 6–20 window. People with stronger English have higher naturalization rates than people with limited English throughout the period. That helps explain why English later appears as one of the strongest personal predictors in the models.</a:t>
            </a:r>
            <a:endParaRPr/>
          </a:p>
        </p:txBody>
      </p:sp>
      <p:sp>
        <p:nvSpPr>
          <p:cNvPr id="194" name="Google Shape;19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slide asks whether English and income together explain most of the outcome. They do not. Even among people who are English proficient and earn at least $50,000, the naturalization rate is only around 55%. The sample is already limited to 6–20 years in the U.S., but the data still cannot tell us who was eligible or who applied.</a:t>
            </a:r>
            <a:endParaRPr/>
          </a:p>
        </p:txBody>
      </p:sp>
      <p:sp>
        <p:nvSpPr>
          <p:cNvPr id="208" name="Google Shape;208;p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zooms into the 6–20 year sample. Even inside this narrower window, the naturalization rate rises from about 19% at year 6 to above 55% near years 19 and 20. Time is the strongest single pattern in the data, so the later models need to account for it before we interpret education, English, or income.</a:t>
            </a:r>
            <a:endParaRPr/>
          </a:p>
        </p:txBody>
      </p:sp>
      <p:sp>
        <p:nvSpPr>
          <p:cNvPr id="222" name="Google Shape;22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Naturalization rises with education through the bachelor's level, from about 28% for less than high school to about 59% for a bachelor's degree. The graduate-degree group is lower, at about 49%. We would not read that as education hurting naturalization. It may reflect differences in immigration pathways or timing that the ACS does not fully capture.</a:t>
            </a:r>
            <a:endParaRPr/>
          </a:p>
        </p:txBody>
      </p:sp>
      <p:sp>
        <p:nvSpPr>
          <p:cNvPr id="236" name="Google Shape;23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 name="Google Shape;24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Income and employment were weaker than we expected. Naturalization ranges only from about 44% to 57% across wage brackets, and employment status is fairly flat. This matters because our original hypothesis gave income and employment a larger role than the data supports.</a:t>
            </a:r>
            <a:endParaRPr/>
          </a:p>
        </p:txBody>
      </p:sp>
      <p:sp>
        <p:nvSpPr>
          <p:cNvPr id="250" name="Google Shape;25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900"/>
              <a:t>State matters enough that we did not want to hide it inside broad regions. Naturalization rates range from about 34% to 62% across states. We therefore included state indicators (variable for each state)  in the model so geography could be controlled directly.</a:t>
            </a:r>
            <a:endParaRPr sz="1900"/>
          </a:p>
        </p:txBody>
      </p:sp>
      <p:sp>
        <p:nvSpPr>
          <p:cNvPr id="265" name="Google Shape;26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slide is mainly here to show exactly what the model used. The left side has the core predictors, and the right side has the state indicators. I would not try to explain every bar here. The point is that the model includes the full set of variables before the next slides summarize the results more clearly.</a:t>
            </a:r>
            <a:endParaRPr/>
          </a:p>
        </p:txBody>
      </p:sp>
      <p:sp>
        <p:nvSpPr>
          <p:cNvPr id="277" name="Google Shape;277;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 name="Google Shape;287;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is the reference key for the coefficient charts. Each category is measured against a baseline. For example, the bachelor's coefficient is compared with less than high school, not with the average person. Race categories are the survey's self-reported categories, and state coefficients are compared with Alabama as the reference state.</a:t>
            </a:r>
            <a:endParaRPr/>
          </a:p>
        </p:txBody>
      </p:sp>
      <p:sp>
        <p:nvSpPr>
          <p:cNvPr id="288" name="Google Shape;288;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2100"/>
              <a:t>Race is strongly associated with naturalization in this model, but that should not be read as a causal effect. It may reflect other differences that the ACS does not measure. Years in the U.S. does not appear among the largest coefficients because the model measures one additional year at a time. One year is a small effect, but those effects build across the 6–20 year window. LASSO removed only four variables, which is a positive sign here because most of our selected predictors carried useful information rather than noise.</a:t>
            </a:r>
            <a:endParaRPr sz="2100"/>
          </a:p>
        </p:txBody>
      </p:sp>
      <p:sp>
        <p:nvSpPr>
          <p:cNvPr id="324" name="Google Shape;324;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1" name="Google Shape;351;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2400">
                <a:latin typeface="Arial"/>
                <a:ea typeface="Arial"/>
                <a:cs typeface="Arial"/>
                <a:sym typeface="Arial"/>
              </a:rPr>
              <a:t>After around year 11, the observed naturalization rate begins to level off while the model keeps rising. One possible reason is that years in the U.S. is only one part of the outcome. After a certain point, other factors may matter more, so time alone no longer captures the pattern as well.</a:t>
            </a:r>
            <a:endParaRPr sz="3100"/>
          </a:p>
        </p:txBody>
      </p:sp>
      <p:sp>
        <p:nvSpPr>
          <p:cNvPr id="352" name="Google Shape;352;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3" name="Google Shape;363;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2000"/>
              <a:t>This chart shows odds ratios from the full logistic model. English proficiency is the largest positive result, with 'very well' at about 3.5 times the odds of the no-English baseline. Some college and bachelor's degree are also around double the odds compared with less than high school. Race categories appear several times, but these are controlled associations, not causal claims. Income and employment do not appear among the largest effects.</a:t>
            </a:r>
            <a:endParaRPr sz="2000"/>
          </a:p>
          <a:p>
            <a:pPr indent="0" lvl="0" marL="0" rtl="0" algn="l">
              <a:lnSpc>
                <a:spcPct val="100000"/>
              </a:lnSpc>
              <a:spcBef>
                <a:spcPts val="0"/>
              </a:spcBef>
              <a:spcAft>
                <a:spcPts val="0"/>
              </a:spcAft>
              <a:buSzPts val="1400"/>
              <a:buNone/>
            </a:pPr>
            <a:r>
              <a:t/>
            </a:r>
            <a:endParaRPr>
              <a:latin typeface="Arial"/>
              <a:ea typeface="Arial"/>
              <a:cs typeface="Arial"/>
              <a:sym typeface="Arial"/>
            </a:endParaRPr>
          </a:p>
          <a:p>
            <a:pPr indent="0" lvl="0" marL="0" rtl="0" algn="l">
              <a:lnSpc>
                <a:spcPct val="100000"/>
              </a:lnSpc>
              <a:spcBef>
                <a:spcPts val="0"/>
              </a:spcBef>
              <a:spcAft>
                <a:spcPts val="0"/>
              </a:spcAft>
              <a:buSzPts val="1400"/>
              <a:buNone/>
            </a:pPr>
            <a:r>
              <a:t/>
            </a:r>
            <a:endParaRPr>
              <a:latin typeface="Arial"/>
              <a:ea typeface="Arial"/>
              <a:cs typeface="Arial"/>
              <a:sym typeface="Arial"/>
            </a:endParaRPr>
          </a:p>
          <a:p>
            <a:pPr indent="0" lvl="0" marL="0" rtl="0" algn="l">
              <a:lnSpc>
                <a:spcPct val="100000"/>
              </a:lnSpc>
              <a:spcBef>
                <a:spcPts val="0"/>
              </a:spcBef>
              <a:spcAft>
                <a:spcPts val="0"/>
              </a:spcAft>
              <a:buSzPts val="1400"/>
              <a:buNone/>
            </a:pPr>
            <a:r>
              <a:t/>
            </a:r>
            <a:endParaRPr>
              <a:latin typeface="Arial"/>
              <a:ea typeface="Arial"/>
              <a:cs typeface="Arial"/>
              <a:sym typeface="Arial"/>
            </a:endParaRPr>
          </a:p>
          <a:p>
            <a:pPr indent="0" lvl="0" marL="0" rtl="0" algn="l">
              <a:lnSpc>
                <a:spcPct val="100000"/>
              </a:lnSpc>
              <a:spcBef>
                <a:spcPts val="0"/>
              </a:spcBef>
              <a:spcAft>
                <a:spcPts val="0"/>
              </a:spcAft>
              <a:buSzPts val="1400"/>
              <a:buNone/>
            </a:pPr>
            <a:r>
              <a:t/>
            </a:r>
            <a:endParaRPr>
              <a:latin typeface="Arial"/>
              <a:ea typeface="Arial"/>
              <a:cs typeface="Arial"/>
              <a:sym typeface="Arial"/>
            </a:endParaRPr>
          </a:p>
          <a:p>
            <a:pPr indent="0" lvl="0" marL="0" rtl="0" algn="l">
              <a:lnSpc>
                <a:spcPct val="100000"/>
              </a:lnSpc>
              <a:spcBef>
                <a:spcPts val="0"/>
              </a:spcBef>
              <a:spcAft>
                <a:spcPts val="0"/>
              </a:spcAft>
              <a:buSzPts val="1400"/>
              <a:buNone/>
            </a:pPr>
            <a:r>
              <a:rPr lang="en-US" sz="2100">
                <a:latin typeface="Arial"/>
                <a:ea typeface="Arial"/>
                <a:cs typeface="Arial"/>
                <a:sym typeface="Arial"/>
              </a:rPr>
              <a:t>caveat: We removed some respondents who had both very low English and low income, that reference group is somewhat selected and may be better off than the full no-English population. This means the English odds ratios should be interpreted with some caution.</a:t>
            </a:r>
            <a:endParaRPr sz="2900"/>
          </a:p>
        </p:txBody>
      </p:sp>
      <p:sp>
        <p:nvSpPr>
          <p:cNvPr id="364" name="Google Shape;364;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8" name="Google Shape;38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2300">
                <a:latin typeface="Arial"/>
                <a:ea typeface="Arial"/>
                <a:cs typeface="Arial"/>
                <a:sym typeface="Arial"/>
              </a:rPr>
              <a:t>The first split is whether someone has been in the U.S. for fewer than 10 years. That group makes up 25% of the sample, and 68% are classified as not naturalized. The remaining 75%, who have been in the U.S. for at least 10 years, lean toward naturalized at 56%. After that, race separates the outcomes further, showing that time is the strongest first divider, but it does not explain every difference.</a:t>
            </a:r>
            <a:endParaRPr sz="3100"/>
          </a:p>
        </p:txBody>
      </p:sp>
      <p:sp>
        <p:nvSpPr>
          <p:cNvPr id="389" name="Google Shape;389;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1" name="Google Shape;401;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sz="2700"/>
              <a:t>Years in the U.S. is the strongest predictor even within the 6–20 year sample, accounting for 13.0% of total importance. Race is second at 10.5%, followed by education at 8.8%, age at 7.7%, and English proficiency at 7.2%. Time gives the model the strongest signal, but people with similar time in the country can still have different outcomes. That is why the other variables still add predictive information. Race should be read as an association, not a causal effect.</a:t>
            </a:r>
            <a:endParaRPr sz="2700"/>
          </a:p>
        </p:txBody>
      </p:sp>
      <p:sp>
        <p:nvSpPr>
          <p:cNvPr id="402" name="Google Shape;402;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4" name="Google Shape;414;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381000" marR="381000" rtl="0" algn="l">
              <a:lnSpc>
                <a:spcPct val="115000"/>
              </a:lnSpc>
              <a:spcBef>
                <a:spcPts val="1400"/>
              </a:spcBef>
              <a:spcAft>
                <a:spcPts val="0"/>
              </a:spcAft>
              <a:buClr>
                <a:schemeClr val="dk1"/>
              </a:buClr>
              <a:buSzPts val="1100"/>
              <a:buFont typeface="Arial"/>
              <a:buNone/>
            </a:pPr>
            <a:r>
              <a:rPr lang="en-US" sz="2100">
                <a:latin typeface="Arial"/>
                <a:ea typeface="Arial"/>
                <a:cs typeface="Arial"/>
                <a:sym typeface="Arial"/>
              </a:rPr>
              <a:t>“For the neural network, we used an 80/20 train-test split, and 15% of the training data was set aside for validation. The validation set was used during training while the model completed 20 epochs. The training and validation curves level off without separating much, so there is little evidence of overfitting. The final test accuracy is 80.6%, meaning the neural network correctly classified about 81% of people in data it had not seen before. This is similar to the performance of our other strongest models, so the neural network performs well but does not produce a completely different result.”</a:t>
            </a:r>
            <a:endParaRPr sz="2100">
              <a:latin typeface="Arial"/>
              <a:ea typeface="Arial"/>
              <a:cs typeface="Arial"/>
              <a:sym typeface="Arial"/>
            </a:endParaRPr>
          </a:p>
          <a:p>
            <a:pPr indent="0" lvl="0" marL="0" rtl="0" algn="l">
              <a:lnSpc>
                <a:spcPct val="100000"/>
              </a:lnSpc>
              <a:spcBef>
                <a:spcPts val="1400"/>
              </a:spcBef>
              <a:spcAft>
                <a:spcPts val="0"/>
              </a:spcAft>
              <a:buSzPts val="1400"/>
              <a:buNone/>
            </a:pPr>
            <a:r>
              <a:t/>
            </a:r>
            <a:endParaRPr sz="2100">
              <a:latin typeface="Arial"/>
              <a:ea typeface="Arial"/>
              <a:cs typeface="Arial"/>
              <a:sym typeface="Arial"/>
            </a:endParaRPr>
          </a:p>
        </p:txBody>
      </p:sp>
      <p:sp>
        <p:nvSpPr>
          <p:cNvPr id="415" name="Google Shape;415;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1" name="Google Shape;431;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sz="2100"/>
              <a:t>The model comparison shows that complexity helps, but not dramatically. The random forest has the best F1 score at 0.729, and the neural network follows at 0.713. The relaxed logistic model is lower at 0.674, but it is still close enough to show that much of the signal is already captured by the main variables. The more complex models add performance, but the gain is limited.</a:t>
            </a:r>
            <a:endParaRPr sz="2100"/>
          </a:p>
        </p:txBody>
      </p:sp>
      <p:sp>
        <p:nvSpPr>
          <p:cNvPr id="432" name="Google Shape;432;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 name="Google Shape;444;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"So pulling it all together — four findings after running every model.</a:t>
            </a:r>
            <a:endParaRPr/>
          </a:p>
          <a:p>
            <a:pPr indent="0" lvl="0" marL="0" rtl="0" algn="l">
              <a:lnSpc>
                <a:spcPct val="115000"/>
              </a:lnSpc>
              <a:spcBef>
                <a:spcPts val="1200"/>
              </a:spcBef>
              <a:spcAft>
                <a:spcPts val="0"/>
              </a:spcAft>
              <a:buClr>
                <a:schemeClr val="dk1"/>
              </a:buClr>
              <a:buSzPts val="1100"/>
              <a:buFont typeface="Arial"/>
              <a:buNone/>
            </a:pPr>
            <a:r>
              <a:rPr lang="en-US"/>
              <a:t>First, the headline: time in the U.S. beats everything else. Every model agreed. That's why we focused on the 6-to-20-year group in the first place.</a:t>
            </a:r>
            <a:endParaRPr/>
          </a:p>
          <a:p>
            <a:pPr indent="0" lvl="0" marL="0" rtl="0" algn="l">
              <a:lnSpc>
                <a:spcPct val="115000"/>
              </a:lnSpc>
              <a:spcBef>
                <a:spcPts val="1200"/>
              </a:spcBef>
              <a:spcAft>
                <a:spcPts val="0"/>
              </a:spcAft>
              <a:buClr>
                <a:schemeClr val="dk1"/>
              </a:buClr>
              <a:buSzPts val="1100"/>
              <a:buFont typeface="Arial"/>
              <a:buNone/>
            </a:pPr>
            <a:r>
              <a:rPr lang="en-US"/>
              <a:t>Second, race is the second-strongest predictor — but we don't read that as race itself. It's standing in for things we can't see, like legal pathway and origin.</a:t>
            </a:r>
            <a:endParaRPr/>
          </a:p>
          <a:p>
            <a:pPr indent="0" lvl="0" marL="0" rtl="0" algn="l">
              <a:lnSpc>
                <a:spcPct val="115000"/>
              </a:lnSpc>
              <a:spcBef>
                <a:spcPts val="1200"/>
              </a:spcBef>
              <a:spcAft>
                <a:spcPts val="0"/>
              </a:spcAft>
              <a:buClr>
                <a:schemeClr val="dk1"/>
              </a:buClr>
              <a:buSzPts val="1100"/>
              <a:buFont typeface="Arial"/>
              <a:buNone/>
            </a:pPr>
            <a:r>
              <a:rPr lang="en-US"/>
              <a:t>Third, the surprise: English matters way more than income or employment. Speaking English well is worth about 3.5x the odds, while income and employment barely moved the needle — so our hypothesis was only half right.</a:t>
            </a:r>
            <a:endParaRPr/>
          </a:p>
          <a:p>
            <a:pPr indent="0" lvl="0" marL="0" rtl="0" algn="l">
              <a:lnSpc>
                <a:spcPct val="115000"/>
              </a:lnSpc>
              <a:spcBef>
                <a:spcPts val="1200"/>
              </a:spcBef>
              <a:spcAft>
                <a:spcPts val="0"/>
              </a:spcAft>
              <a:buClr>
                <a:schemeClr val="dk1"/>
              </a:buClr>
              <a:buSzPts val="1100"/>
              <a:buFont typeface="Arial"/>
              <a:buNone/>
            </a:pPr>
            <a:r>
              <a:rPr lang="en-US"/>
              <a:t>And fourth, the fancier models only helped a little, which means most of the signal was already in a few key variables.</a:t>
            </a:r>
            <a:endParaRPr/>
          </a:p>
          <a:p>
            <a:pPr indent="0" lvl="0" marL="0" rtl="0" algn="l">
              <a:lnSpc>
                <a:spcPct val="115000"/>
              </a:lnSpc>
              <a:spcBef>
                <a:spcPts val="1200"/>
              </a:spcBef>
              <a:spcAft>
                <a:spcPts val="0"/>
              </a:spcAft>
              <a:buClr>
                <a:schemeClr val="dk1"/>
              </a:buClr>
              <a:buSzPts val="1100"/>
              <a:buFont typeface="Arial"/>
              <a:buNone/>
            </a:pPr>
            <a:r>
              <a:rPr lang="en-US"/>
              <a:t>Bottom line: it's mostly a story about time, with race and English adding the most on top."</a:t>
            </a:r>
            <a:endParaRPr/>
          </a:p>
          <a:p>
            <a:pPr indent="0" lvl="0" marL="0" rtl="0" algn="l">
              <a:lnSpc>
                <a:spcPct val="100000"/>
              </a:lnSpc>
              <a:spcBef>
                <a:spcPts val="1200"/>
              </a:spcBef>
              <a:spcAft>
                <a:spcPts val="0"/>
              </a:spcAft>
              <a:buSzPts val="1400"/>
              <a:buNone/>
            </a:pPr>
            <a:r>
              <a:t/>
            </a:r>
            <a:endParaRPr/>
          </a:p>
        </p:txBody>
      </p:sp>
      <p:sp>
        <p:nvSpPr>
          <p:cNvPr id="445" name="Google Shape;445;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0" name="Google Shape;480;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"Last thing — we want to be honest about what our data can't tell us.</a:t>
            </a:r>
            <a:endParaRPr/>
          </a:p>
          <a:p>
            <a:pPr indent="0" lvl="0" marL="0" rtl="0" algn="l">
              <a:lnSpc>
                <a:spcPct val="115000"/>
              </a:lnSpc>
              <a:spcBef>
                <a:spcPts val="1200"/>
              </a:spcBef>
              <a:spcAft>
                <a:spcPts val="0"/>
              </a:spcAft>
              <a:buClr>
                <a:schemeClr val="dk1"/>
              </a:buClr>
              <a:buSzPts val="1100"/>
              <a:buFont typeface="Arial"/>
              <a:buNone/>
            </a:pPr>
            <a:r>
              <a:rPr lang="en-US"/>
              <a:t>We know who became a citizen, but not the story behind it. Refugees and asylees are on different legal timelines. Dreamers and DACA arrivals have their own path that's invisible here. Some countries discourage giving up citizenship. And fees and backlogs? We just don't see them.</a:t>
            </a:r>
            <a:endParaRPr/>
          </a:p>
          <a:p>
            <a:pPr indent="0" lvl="0" marL="0" rtl="0" algn="l">
              <a:lnSpc>
                <a:spcPct val="115000"/>
              </a:lnSpc>
              <a:spcBef>
                <a:spcPts val="1200"/>
              </a:spcBef>
              <a:spcAft>
                <a:spcPts val="0"/>
              </a:spcAft>
              <a:buClr>
                <a:schemeClr val="dk1"/>
              </a:buClr>
              <a:buSzPts val="1100"/>
              <a:buFont typeface="Arial"/>
              <a:buNone/>
            </a:pPr>
            <a:r>
              <a:rPr lang="en-US"/>
              <a:t>But the biggest gap is at the bottom: we know if someone is a citizen, but not whether they even applied. So a non-citizen might've been denied, might still be waiting, or might've just chosen not to apply — and all three look the same to us.</a:t>
            </a:r>
            <a:endParaRPr/>
          </a:p>
          <a:p>
            <a:pPr indent="0" lvl="0" marL="0" rtl="0" algn="l">
              <a:lnSpc>
                <a:spcPct val="115000"/>
              </a:lnSpc>
              <a:spcBef>
                <a:spcPts val="1200"/>
              </a:spcBef>
              <a:spcAft>
                <a:spcPts val="0"/>
              </a:spcAft>
              <a:buClr>
                <a:schemeClr val="dk1"/>
              </a:buClr>
              <a:buSzPts val="1100"/>
              <a:buFont typeface="Arial"/>
              <a:buNone/>
            </a:pPr>
            <a:r>
              <a:rPr lang="en-US"/>
              <a:t>So we're good at predicting who becomes a citizen. We just can't fully say why someone didn't."</a:t>
            </a:r>
            <a:endParaRPr/>
          </a:p>
          <a:p>
            <a:pPr indent="0" lvl="0" marL="0" rtl="0" algn="l">
              <a:lnSpc>
                <a:spcPct val="100000"/>
              </a:lnSpc>
              <a:spcBef>
                <a:spcPts val="1200"/>
              </a:spcBef>
              <a:spcAft>
                <a:spcPts val="0"/>
              </a:spcAft>
              <a:buSzPts val="1400"/>
              <a:buNone/>
            </a:pPr>
            <a:r>
              <a:t/>
            </a:r>
            <a:endParaRPr/>
          </a:p>
        </p:txBody>
      </p:sp>
      <p:sp>
        <p:nvSpPr>
          <p:cNvPr id="481" name="Google Shape;481;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f48c297209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f48c297209_0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And quickly, to be transparent about how we used AI. We used ChatGPT to help generate the images for our slides. We used Claude to help debug our code, especially the LASSO and tree models that were giving us trouble. And we used ChatGPT to sharpen our own understanding of the data so we could present it accurately. Everything — all the code and models — was reviewed and verified by at least one teammate, so nothing went in unchecked.</a:t>
            </a:r>
            <a:endParaRPr/>
          </a:p>
        </p:txBody>
      </p:sp>
      <p:sp>
        <p:nvSpPr>
          <p:cNvPr id="506" name="Google Shape;506;g3f48c297209_0_1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1" name="Google Shape;511;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2" name="Google Shape;512;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438"/>
        </a:solidFill>
      </p:bgPr>
    </p:bg>
    <p:spTree>
      <p:nvGrpSpPr>
        <p:cNvPr id="15" name="Shape 15"/>
        <p:cNvGrpSpPr/>
        <p:nvPr/>
      </p:nvGrpSpPr>
      <p:grpSpPr>
        <a:xfrm>
          <a:off x="0" y="0"/>
          <a:ext cx="0" cy="0"/>
          <a:chOff x="0" y="0"/>
          <a:chExt cx="0" cy="0"/>
        </a:xfrm>
      </p:grpSpPr>
      <p:sp>
        <p:nvSpPr>
          <p:cNvPr id="16" name="Google Shape;16;p1"/>
          <p:cNvSpPr/>
          <p:nvPr/>
        </p:nvSpPr>
        <p:spPr>
          <a:xfrm>
            <a:off x="548640" y="1188720"/>
            <a:ext cx="91440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9A15C"/>
              </a:buClr>
              <a:buSzPts val="1300"/>
              <a:buFont typeface="Calibri"/>
              <a:buNone/>
            </a:pPr>
            <a:r>
              <a:rPr b="1" i="0" lang="en-US" sz="1300" u="none" cap="none" strike="noStrike">
                <a:solidFill>
                  <a:srgbClr val="D9A15C"/>
                </a:solidFill>
                <a:latin typeface="Calibri"/>
                <a:ea typeface="Calibri"/>
                <a:cs typeface="Calibri"/>
                <a:sym typeface="Calibri"/>
              </a:rPr>
              <a:t>WHARTON DATA SCIENCE ACADEMY, GROUP 3</a:t>
            </a:r>
            <a:endParaRPr b="0" i="0" sz="1300" u="none" cap="none" strike="noStrike">
              <a:solidFill>
                <a:schemeClr val="dk1"/>
              </a:solidFill>
              <a:latin typeface="Calibri"/>
              <a:ea typeface="Calibri"/>
              <a:cs typeface="Calibri"/>
              <a:sym typeface="Calibri"/>
            </a:endParaRPr>
          </a:p>
        </p:txBody>
      </p:sp>
      <p:sp>
        <p:nvSpPr>
          <p:cNvPr id="17" name="Google Shape;17;p1"/>
          <p:cNvSpPr/>
          <p:nvPr/>
        </p:nvSpPr>
        <p:spPr>
          <a:xfrm>
            <a:off x="548640" y="1554480"/>
            <a:ext cx="9601200" cy="1737360"/>
          </a:xfrm>
          <a:prstGeom prst="rect">
            <a:avLst/>
          </a:prstGeom>
          <a:noFill/>
          <a:ln>
            <a:noFill/>
          </a:ln>
        </p:spPr>
        <p:txBody>
          <a:bodyPr anchorCtr="0" anchor="ctr" bIns="0" lIns="0" spcFirstLastPara="1" rIns="0" wrap="square" tIns="0">
            <a:noAutofit/>
          </a:bodyPr>
          <a:lstStyle/>
          <a:p>
            <a:pPr indent="0" lvl="0" marL="0" marR="0" rtl="0" algn="l">
              <a:lnSpc>
                <a:spcPct val="113636"/>
              </a:lnSpc>
              <a:spcBef>
                <a:spcPts val="0"/>
              </a:spcBef>
              <a:spcAft>
                <a:spcPts val="0"/>
              </a:spcAft>
              <a:buClr>
                <a:srgbClr val="FFFFFF"/>
              </a:buClr>
              <a:buSzPts val="4400"/>
              <a:buFont typeface="Cambria"/>
              <a:buNone/>
            </a:pPr>
            <a:r>
              <a:rPr b="1" i="0" lang="en-US" sz="4400" u="none" cap="none" strike="noStrike">
                <a:solidFill>
                  <a:srgbClr val="FFFFFF"/>
                </a:solidFill>
                <a:latin typeface="Cambria"/>
                <a:ea typeface="Cambria"/>
                <a:cs typeface="Cambria"/>
                <a:sym typeface="Cambria"/>
              </a:rPr>
              <a:t>What predicts</a:t>
            </a:r>
            <a:br>
              <a:rPr b="1" i="0" lang="en-US" sz="4400" u="none" cap="none" strike="noStrike">
                <a:solidFill>
                  <a:srgbClr val="FFFFFF"/>
                </a:solidFill>
                <a:latin typeface="Cambria"/>
                <a:ea typeface="Cambria"/>
                <a:cs typeface="Cambria"/>
                <a:sym typeface="Cambria"/>
              </a:rPr>
            </a:br>
            <a:r>
              <a:rPr b="1" i="0" lang="en-US" sz="4400" u="none" cap="none" strike="noStrike">
                <a:solidFill>
                  <a:srgbClr val="FFFFFF"/>
                </a:solidFill>
                <a:latin typeface="Cambria"/>
                <a:ea typeface="Cambria"/>
                <a:cs typeface="Cambria"/>
                <a:sym typeface="Cambria"/>
              </a:rPr>
              <a:t>U.S. </a:t>
            </a:r>
            <a:r>
              <a:rPr b="1" i="0" lang="en-US" sz="4400" u="none" cap="none" strike="noStrike">
                <a:solidFill>
                  <a:srgbClr val="E08A5C"/>
                </a:solidFill>
                <a:latin typeface="Cambria"/>
                <a:ea typeface="Cambria"/>
                <a:cs typeface="Cambria"/>
                <a:sym typeface="Cambria"/>
              </a:rPr>
              <a:t>naturalization?</a:t>
            </a:r>
            <a:endParaRPr b="0" i="0" sz="4400" u="none" cap="none" strike="noStrike">
              <a:solidFill>
                <a:schemeClr val="dk1"/>
              </a:solidFill>
              <a:latin typeface="Calibri"/>
              <a:ea typeface="Calibri"/>
              <a:cs typeface="Calibri"/>
              <a:sym typeface="Calibri"/>
            </a:endParaRPr>
          </a:p>
        </p:txBody>
      </p:sp>
      <p:sp>
        <p:nvSpPr>
          <p:cNvPr id="18" name="Google Shape;18;p1"/>
          <p:cNvSpPr/>
          <p:nvPr/>
        </p:nvSpPr>
        <p:spPr>
          <a:xfrm>
            <a:off x="548640" y="3337560"/>
            <a:ext cx="86868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D6E5"/>
              </a:buClr>
              <a:buSzPts val="1600"/>
              <a:buFont typeface="Calibri"/>
              <a:buNone/>
            </a:pPr>
            <a:r>
              <a:rPr b="0" i="0" lang="en-US" sz="1600" u="none" cap="none" strike="noStrike">
                <a:solidFill>
                  <a:srgbClr val="C9D6E5"/>
                </a:solidFill>
                <a:latin typeface="Calibri"/>
                <a:ea typeface="Calibri"/>
                <a:cs typeface="Calibri"/>
                <a:sym typeface="Calibri"/>
              </a:rPr>
              <a:t>An analysis of 1.77 million immigrants, focused on </a:t>
            </a:r>
            <a:r>
              <a:rPr b="1" i="0" lang="en-US" sz="1600" u="none" cap="none" strike="noStrike">
                <a:solidFill>
                  <a:srgbClr val="C9D6E5"/>
                </a:solidFill>
                <a:latin typeface="Calibri"/>
                <a:ea typeface="Calibri"/>
                <a:cs typeface="Calibri"/>
                <a:sym typeface="Calibri"/>
              </a:rPr>
              <a:t>what predicts who becomes a U.S. citizen</a:t>
            </a:r>
            <a:r>
              <a:rPr b="0" i="0" lang="en-US" sz="1600" u="none" cap="none" strike="noStrike">
                <a:solidFill>
                  <a:srgbClr val="C9D6E5"/>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19" name="Google Shape;19;p1"/>
          <p:cNvSpPr/>
          <p:nvPr/>
        </p:nvSpPr>
        <p:spPr>
          <a:xfrm>
            <a:off x="548640" y="4114800"/>
            <a:ext cx="23774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08A5C"/>
              </a:buClr>
              <a:buSzPts val="2600"/>
              <a:buFont typeface="Calibri"/>
              <a:buNone/>
            </a:pPr>
            <a:r>
              <a:rPr b="1" i="0" lang="en-US" sz="2600" u="none" cap="none" strike="noStrike">
                <a:solidFill>
                  <a:srgbClr val="E08A5C"/>
                </a:solidFill>
                <a:latin typeface="Calibri"/>
                <a:ea typeface="Calibri"/>
                <a:cs typeface="Calibri"/>
                <a:sym typeface="Calibri"/>
              </a:rPr>
              <a:t>551,818</a:t>
            </a:r>
            <a:endParaRPr b="0" i="0" sz="2600" u="none" cap="none" strike="noStrike">
              <a:solidFill>
                <a:schemeClr val="dk1"/>
              </a:solidFill>
              <a:latin typeface="Calibri"/>
              <a:ea typeface="Calibri"/>
              <a:cs typeface="Calibri"/>
              <a:sym typeface="Calibri"/>
            </a:endParaRPr>
          </a:p>
        </p:txBody>
      </p:sp>
      <p:sp>
        <p:nvSpPr>
          <p:cNvPr id="20" name="Google Shape;20;p1"/>
          <p:cNvSpPr/>
          <p:nvPr/>
        </p:nvSpPr>
        <p:spPr>
          <a:xfrm>
            <a:off x="548640" y="4663440"/>
            <a:ext cx="23774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FB3CC"/>
              </a:buClr>
              <a:buSzPts val="1150"/>
              <a:buFont typeface="Calibri"/>
              <a:buNone/>
            </a:pPr>
            <a:r>
              <a:rPr b="0" i="0" lang="en-US" sz="1150" u="none" cap="none" strike="noStrike">
                <a:solidFill>
                  <a:srgbClr val="9FB3CC"/>
                </a:solidFill>
                <a:latin typeface="Calibri"/>
                <a:ea typeface="Calibri"/>
                <a:cs typeface="Calibri"/>
                <a:sym typeface="Calibri"/>
              </a:rPr>
              <a:t>modeling cohort</a:t>
            </a:r>
            <a:endParaRPr b="0" i="0" sz="1150" u="none" cap="none" strike="noStrike">
              <a:solidFill>
                <a:schemeClr val="dk1"/>
              </a:solidFill>
              <a:latin typeface="Calibri"/>
              <a:ea typeface="Calibri"/>
              <a:cs typeface="Calibri"/>
              <a:sym typeface="Calibri"/>
            </a:endParaRPr>
          </a:p>
        </p:txBody>
      </p:sp>
      <p:sp>
        <p:nvSpPr>
          <p:cNvPr id="21" name="Google Shape;21;p1"/>
          <p:cNvSpPr/>
          <p:nvPr/>
        </p:nvSpPr>
        <p:spPr>
          <a:xfrm>
            <a:off x="3200400" y="4114800"/>
            <a:ext cx="23774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08A5C"/>
              </a:buClr>
              <a:buSzPts val="2600"/>
              <a:buFont typeface="Calibri"/>
              <a:buNone/>
            </a:pPr>
            <a:r>
              <a:rPr b="1" i="0" lang="en-US" sz="2600" u="none" cap="none" strike="noStrike">
                <a:solidFill>
                  <a:srgbClr val="E08A5C"/>
                </a:solidFill>
                <a:latin typeface="Calibri"/>
                <a:ea typeface="Calibri"/>
                <a:cs typeface="Calibri"/>
                <a:sym typeface="Calibri"/>
              </a:rPr>
              <a:t>81</a:t>
            </a:r>
            <a:endParaRPr b="0" i="0" sz="2600" u="none" cap="none" strike="noStrike">
              <a:solidFill>
                <a:schemeClr val="dk1"/>
              </a:solidFill>
              <a:latin typeface="Calibri"/>
              <a:ea typeface="Calibri"/>
              <a:cs typeface="Calibri"/>
              <a:sym typeface="Calibri"/>
            </a:endParaRPr>
          </a:p>
        </p:txBody>
      </p:sp>
      <p:sp>
        <p:nvSpPr>
          <p:cNvPr id="22" name="Google Shape;22;p1"/>
          <p:cNvSpPr/>
          <p:nvPr/>
        </p:nvSpPr>
        <p:spPr>
          <a:xfrm>
            <a:off x="3200400" y="4663440"/>
            <a:ext cx="23774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FB3CC"/>
              </a:buClr>
              <a:buSzPts val="1150"/>
              <a:buFont typeface="Calibri"/>
              <a:buNone/>
            </a:pPr>
            <a:r>
              <a:rPr b="0" i="0" lang="en-US" sz="1150" u="none" cap="none" strike="noStrike">
                <a:solidFill>
                  <a:srgbClr val="9FB3CC"/>
                </a:solidFill>
                <a:latin typeface="Calibri"/>
                <a:ea typeface="Calibri"/>
                <a:cs typeface="Calibri"/>
                <a:sym typeface="Calibri"/>
              </a:rPr>
              <a:t>model columns</a:t>
            </a:r>
            <a:endParaRPr b="0" i="0" sz="1150" u="none" cap="none" strike="noStrike">
              <a:solidFill>
                <a:schemeClr val="dk1"/>
              </a:solidFill>
              <a:latin typeface="Calibri"/>
              <a:ea typeface="Calibri"/>
              <a:cs typeface="Calibri"/>
              <a:sym typeface="Calibri"/>
            </a:endParaRPr>
          </a:p>
        </p:txBody>
      </p:sp>
      <p:sp>
        <p:nvSpPr>
          <p:cNvPr id="23" name="Google Shape;23;p1"/>
          <p:cNvSpPr/>
          <p:nvPr/>
        </p:nvSpPr>
        <p:spPr>
          <a:xfrm>
            <a:off x="5852160" y="4114800"/>
            <a:ext cx="23774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08A5C"/>
              </a:buClr>
              <a:buSzPts val="2600"/>
              <a:buFont typeface="Calibri"/>
              <a:buNone/>
            </a:pPr>
            <a:r>
              <a:rPr b="1" i="0" lang="en-US" sz="2600" u="none" cap="none" strike="noStrike">
                <a:solidFill>
                  <a:srgbClr val="E08A5C"/>
                </a:solidFill>
                <a:latin typeface="Calibri"/>
                <a:ea typeface="Calibri"/>
                <a:cs typeface="Calibri"/>
                <a:sym typeface="Calibri"/>
              </a:rPr>
              <a:t>5</a:t>
            </a:r>
            <a:endParaRPr b="0" i="0" sz="2600" u="none" cap="none" strike="noStrike">
              <a:solidFill>
                <a:schemeClr val="dk1"/>
              </a:solidFill>
              <a:latin typeface="Calibri"/>
              <a:ea typeface="Calibri"/>
              <a:cs typeface="Calibri"/>
              <a:sym typeface="Calibri"/>
            </a:endParaRPr>
          </a:p>
        </p:txBody>
      </p:sp>
      <p:sp>
        <p:nvSpPr>
          <p:cNvPr id="24" name="Google Shape;24;p1"/>
          <p:cNvSpPr/>
          <p:nvPr/>
        </p:nvSpPr>
        <p:spPr>
          <a:xfrm>
            <a:off x="5852160" y="4663440"/>
            <a:ext cx="23774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FB3CC"/>
              </a:buClr>
              <a:buSzPts val="1150"/>
              <a:buFont typeface="Calibri"/>
              <a:buNone/>
            </a:pPr>
            <a:r>
              <a:rPr b="0" i="0" lang="en-US" sz="1150" u="none" cap="none" strike="noStrike">
                <a:solidFill>
                  <a:srgbClr val="9FB3CC"/>
                </a:solidFill>
                <a:latin typeface="Calibri"/>
                <a:ea typeface="Calibri"/>
                <a:cs typeface="Calibri"/>
                <a:sym typeface="Calibri"/>
              </a:rPr>
              <a:t>classification models</a:t>
            </a:r>
            <a:endParaRPr b="0" i="0" sz="1150" u="none" cap="none" strike="noStrike">
              <a:solidFill>
                <a:schemeClr val="dk1"/>
              </a:solidFill>
              <a:latin typeface="Calibri"/>
              <a:ea typeface="Calibri"/>
              <a:cs typeface="Calibri"/>
              <a:sym typeface="Calibri"/>
            </a:endParaRPr>
          </a:p>
        </p:txBody>
      </p:sp>
      <p:sp>
        <p:nvSpPr>
          <p:cNvPr id="25" name="Google Shape;25;p1"/>
          <p:cNvSpPr/>
          <p:nvPr/>
        </p:nvSpPr>
        <p:spPr>
          <a:xfrm>
            <a:off x="548640" y="6035040"/>
            <a:ext cx="91440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C93AE"/>
              </a:buClr>
              <a:buSzPts val="1200"/>
              <a:buFont typeface="Calibri"/>
              <a:buNone/>
            </a:pPr>
            <a:r>
              <a:rPr b="0" i="0" lang="en-US" sz="1200" u="none" cap="none" strike="noStrike">
                <a:solidFill>
                  <a:srgbClr val="7C93AE"/>
                </a:solidFill>
                <a:latin typeface="Calibri"/>
                <a:ea typeface="Calibri"/>
                <a:cs typeface="Calibri"/>
                <a:sym typeface="Calibri"/>
              </a:rPr>
              <a:t>Faisal Alsiksek  ·  Cami Kieran  ·  Yichen Yao  ·  Sophia Hur  ·  Dongchan Kim</a:t>
            </a:r>
            <a:endParaRPr b="0" i="0" sz="1200" u="none" cap="none" strike="noStrike">
              <a:solidFill>
                <a:schemeClr val="dk1"/>
              </a:solidFill>
              <a:latin typeface="Calibri"/>
              <a:ea typeface="Calibri"/>
              <a:cs typeface="Calibri"/>
              <a:sym typeface="Calibri"/>
            </a:endParaRPr>
          </a:p>
        </p:txBody>
      </p:sp>
      <p:sp>
        <p:nvSpPr>
          <p:cNvPr id="26" name="Google Shape;26;p1"/>
          <p:cNvSpPr txBox="1"/>
          <p:nvPr/>
        </p:nvSpPr>
        <p:spPr>
          <a:xfrm>
            <a:off x="8229600" y="4114800"/>
            <a:ext cx="3000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chemeClr val="lt1"/>
                </a:solidFill>
                <a:latin typeface="Roboto"/>
                <a:ea typeface="Roboto"/>
                <a:cs typeface="Roboto"/>
                <a:sym typeface="Roboto"/>
              </a:rPr>
              <a:t>Naturalization is the legal process through which a non-citizen voluntarily becomes a citizen of a country</a:t>
            </a:r>
            <a:endParaRPr>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C"/>
        </a:solidFill>
      </p:bgPr>
    </p:bg>
    <p:spTree>
      <p:nvGrpSpPr>
        <p:cNvPr id="31" name="Shape 31"/>
        <p:cNvGrpSpPr/>
        <p:nvPr/>
      </p:nvGrpSpPr>
      <p:grpSpPr>
        <a:xfrm>
          <a:off x="0" y="0"/>
          <a:ext cx="0" cy="0"/>
          <a:chOff x="0" y="0"/>
          <a:chExt cx="0" cy="0"/>
        </a:xfrm>
      </p:grpSpPr>
      <p:sp>
        <p:nvSpPr>
          <p:cNvPr id="32" name="Google Shape;32;p2"/>
          <p:cNvSpPr/>
          <p:nvPr/>
        </p:nvSpPr>
        <p:spPr>
          <a:xfrm>
            <a:off x="548640" y="384048"/>
            <a:ext cx="10058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552E"/>
              </a:buClr>
              <a:buSzPts val="1150"/>
              <a:buFont typeface="Calibri"/>
              <a:buNone/>
            </a:pPr>
            <a:r>
              <a:rPr b="1" i="0" lang="en-US" sz="1150" u="none" cap="none" strike="noStrike">
                <a:solidFill>
                  <a:srgbClr val="C1552E"/>
                </a:solidFill>
                <a:latin typeface="Calibri"/>
                <a:ea typeface="Calibri"/>
                <a:cs typeface="Calibri"/>
                <a:sym typeface="Calibri"/>
              </a:rPr>
              <a:t>MOTIVATION</a:t>
            </a:r>
            <a:endParaRPr b="0" i="0" sz="1150" u="none" cap="none" strike="noStrike">
              <a:solidFill>
                <a:schemeClr val="dk1"/>
              </a:solidFill>
              <a:latin typeface="Calibri"/>
              <a:ea typeface="Calibri"/>
              <a:cs typeface="Calibri"/>
              <a:sym typeface="Calibri"/>
            </a:endParaRPr>
          </a:p>
        </p:txBody>
      </p:sp>
      <p:sp>
        <p:nvSpPr>
          <p:cNvPr id="33" name="Google Shape;33;p2"/>
          <p:cNvSpPr/>
          <p:nvPr/>
        </p:nvSpPr>
        <p:spPr>
          <a:xfrm>
            <a:off x="530352" y="640080"/>
            <a:ext cx="1115568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2700"/>
              <a:buFont typeface="Cambria"/>
              <a:buNone/>
            </a:pPr>
            <a:r>
              <a:rPr b="1" i="0" lang="en-US" sz="2700" u="none" cap="none" strike="noStrike">
                <a:solidFill>
                  <a:srgbClr val="14304F"/>
                </a:solidFill>
                <a:latin typeface="Cambria"/>
                <a:ea typeface="Cambria"/>
                <a:cs typeface="Cambria"/>
                <a:sym typeface="Cambria"/>
              </a:rPr>
              <a:t>Citizenship shapes a life</a:t>
            </a:r>
            <a:endParaRPr b="0" i="0" sz="2700" u="none" cap="none" strike="noStrike">
              <a:solidFill>
                <a:schemeClr val="dk1"/>
              </a:solidFill>
              <a:latin typeface="Calibri"/>
              <a:ea typeface="Calibri"/>
              <a:cs typeface="Calibri"/>
              <a:sym typeface="Calibri"/>
            </a:endParaRPr>
          </a:p>
        </p:txBody>
      </p:sp>
      <p:sp>
        <p:nvSpPr>
          <p:cNvPr id="34" name="Google Shape;34;p2"/>
          <p:cNvSpPr/>
          <p:nvPr/>
        </p:nvSpPr>
        <p:spPr>
          <a:xfrm>
            <a:off x="548640" y="1874520"/>
            <a:ext cx="3520440" cy="1508760"/>
          </a:xfrm>
          <a:prstGeom prst="roundRect">
            <a:avLst>
              <a:gd fmla="val 5455" name="adj"/>
            </a:avLst>
          </a:prstGeom>
          <a:solidFill>
            <a:srgbClr val="FFFFFF"/>
          </a:solidFill>
          <a:ln cap="flat" cmpd="sng" w="12700">
            <a:solidFill>
              <a:srgbClr val="FFFFFF"/>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2"/>
          <p:cNvSpPr/>
          <p:nvPr/>
        </p:nvSpPr>
        <p:spPr>
          <a:xfrm>
            <a:off x="822960" y="2130552"/>
            <a:ext cx="457200" cy="457200"/>
          </a:xfrm>
          <a:prstGeom prst="ellipse">
            <a:avLst/>
          </a:prstGeom>
          <a:solidFill>
            <a:srgbClr val="14304F"/>
          </a:solidFill>
          <a:ln cap="flat" cmpd="sng" w="12700">
            <a:solidFill>
              <a:srgbClr val="1430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2"/>
          <p:cNvSpPr/>
          <p:nvPr/>
        </p:nvSpPr>
        <p:spPr>
          <a:xfrm>
            <a:off x="822960" y="2130552"/>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37" name="Google Shape;37;p2"/>
          <p:cNvSpPr/>
          <p:nvPr/>
        </p:nvSpPr>
        <p:spPr>
          <a:xfrm>
            <a:off x="822960" y="2697480"/>
            <a:ext cx="29718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1500"/>
              <a:buFont typeface="Calibri"/>
              <a:buNone/>
            </a:pPr>
            <a:r>
              <a:rPr b="1" i="0" lang="en-US" sz="1500" u="none" cap="none" strike="noStrike">
                <a:solidFill>
                  <a:srgbClr val="14304F"/>
                </a:solidFill>
                <a:latin typeface="Calibri"/>
                <a:ea typeface="Calibri"/>
                <a:cs typeface="Calibri"/>
                <a:sym typeface="Calibri"/>
              </a:rPr>
              <a:t>Voting rights</a:t>
            </a:r>
            <a:endParaRPr b="0" i="0" sz="1500" u="none" cap="none" strike="noStrike">
              <a:solidFill>
                <a:schemeClr val="dk1"/>
              </a:solidFill>
              <a:latin typeface="Calibri"/>
              <a:ea typeface="Calibri"/>
              <a:cs typeface="Calibri"/>
              <a:sym typeface="Calibri"/>
            </a:endParaRPr>
          </a:p>
        </p:txBody>
      </p:sp>
      <p:sp>
        <p:nvSpPr>
          <p:cNvPr id="38" name="Google Shape;38;p2"/>
          <p:cNvSpPr/>
          <p:nvPr/>
        </p:nvSpPr>
        <p:spPr>
          <a:xfrm>
            <a:off x="822960" y="3017520"/>
            <a:ext cx="29718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150"/>
              <a:buFont typeface="Calibri"/>
              <a:buNone/>
            </a:pPr>
            <a:r>
              <a:rPr b="0" i="0" lang="en-US" sz="1150" u="none" cap="none" strike="noStrike">
                <a:solidFill>
                  <a:srgbClr val="5B6472"/>
                </a:solidFill>
                <a:latin typeface="Calibri"/>
                <a:ea typeface="Calibri"/>
                <a:cs typeface="Calibri"/>
                <a:sym typeface="Calibri"/>
              </a:rPr>
              <a:t>Citizenship decides who has a say in elections.</a:t>
            </a:r>
            <a:endParaRPr b="0" i="0" sz="1150" u="none" cap="none" strike="noStrike">
              <a:solidFill>
                <a:schemeClr val="dk1"/>
              </a:solidFill>
              <a:latin typeface="Calibri"/>
              <a:ea typeface="Calibri"/>
              <a:cs typeface="Calibri"/>
              <a:sym typeface="Calibri"/>
            </a:endParaRPr>
          </a:p>
        </p:txBody>
      </p:sp>
      <p:sp>
        <p:nvSpPr>
          <p:cNvPr id="39" name="Google Shape;39;p2"/>
          <p:cNvSpPr/>
          <p:nvPr/>
        </p:nvSpPr>
        <p:spPr>
          <a:xfrm>
            <a:off x="4343400" y="1874520"/>
            <a:ext cx="3520440" cy="1508760"/>
          </a:xfrm>
          <a:prstGeom prst="roundRect">
            <a:avLst>
              <a:gd fmla="val 5455" name="adj"/>
            </a:avLst>
          </a:prstGeom>
          <a:solidFill>
            <a:srgbClr val="FFFFFF"/>
          </a:solidFill>
          <a:ln cap="flat" cmpd="sng" w="12700">
            <a:solidFill>
              <a:srgbClr val="FFFFFF"/>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2"/>
          <p:cNvSpPr/>
          <p:nvPr/>
        </p:nvSpPr>
        <p:spPr>
          <a:xfrm>
            <a:off x="4617720" y="2130552"/>
            <a:ext cx="457200" cy="457200"/>
          </a:xfrm>
          <a:prstGeom prst="ellipse">
            <a:avLst/>
          </a:prstGeom>
          <a:solidFill>
            <a:srgbClr val="3E8F89"/>
          </a:solidFill>
          <a:ln cap="flat" cmpd="sng" w="12700">
            <a:solidFill>
              <a:srgbClr val="3E8F8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2"/>
          <p:cNvSpPr/>
          <p:nvPr/>
        </p:nvSpPr>
        <p:spPr>
          <a:xfrm>
            <a:off x="4617720" y="2130552"/>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42" name="Google Shape;42;p2"/>
          <p:cNvSpPr/>
          <p:nvPr/>
        </p:nvSpPr>
        <p:spPr>
          <a:xfrm>
            <a:off x="4617720" y="2697480"/>
            <a:ext cx="29718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1500"/>
              <a:buFont typeface="Calibri"/>
              <a:buNone/>
            </a:pPr>
            <a:r>
              <a:rPr b="1" i="0" lang="en-US" sz="1500" u="none" cap="none" strike="noStrike">
                <a:solidFill>
                  <a:srgbClr val="14304F"/>
                </a:solidFill>
                <a:latin typeface="Calibri"/>
                <a:ea typeface="Calibri"/>
                <a:cs typeface="Calibri"/>
                <a:sym typeface="Calibri"/>
              </a:rPr>
              <a:t>Job and economic access</a:t>
            </a:r>
            <a:endParaRPr b="0" i="0" sz="1500" u="none" cap="none" strike="noStrike">
              <a:solidFill>
                <a:schemeClr val="dk1"/>
              </a:solidFill>
              <a:latin typeface="Calibri"/>
              <a:ea typeface="Calibri"/>
              <a:cs typeface="Calibri"/>
              <a:sym typeface="Calibri"/>
            </a:endParaRPr>
          </a:p>
        </p:txBody>
      </p:sp>
      <p:sp>
        <p:nvSpPr>
          <p:cNvPr id="43" name="Google Shape;43;p2"/>
          <p:cNvSpPr/>
          <p:nvPr/>
        </p:nvSpPr>
        <p:spPr>
          <a:xfrm>
            <a:off x="4617720" y="3017520"/>
            <a:ext cx="29718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150"/>
              <a:buFont typeface="Calibri"/>
              <a:buNone/>
            </a:pPr>
            <a:r>
              <a:rPr b="0" i="0" lang="en-US" sz="1150" u="none" cap="none" strike="noStrike">
                <a:solidFill>
                  <a:srgbClr val="5B6472"/>
                </a:solidFill>
                <a:latin typeface="Calibri"/>
                <a:ea typeface="Calibri"/>
                <a:cs typeface="Calibri"/>
                <a:sym typeface="Calibri"/>
              </a:rPr>
              <a:t>Many roles and benefits require citizenship.</a:t>
            </a:r>
            <a:endParaRPr b="0" i="0" sz="1150" u="none" cap="none" strike="noStrike">
              <a:solidFill>
                <a:schemeClr val="dk1"/>
              </a:solidFill>
              <a:latin typeface="Calibri"/>
              <a:ea typeface="Calibri"/>
              <a:cs typeface="Calibri"/>
              <a:sym typeface="Calibri"/>
            </a:endParaRPr>
          </a:p>
        </p:txBody>
      </p:sp>
      <p:sp>
        <p:nvSpPr>
          <p:cNvPr id="44" name="Google Shape;44;p2"/>
          <p:cNvSpPr/>
          <p:nvPr/>
        </p:nvSpPr>
        <p:spPr>
          <a:xfrm>
            <a:off x="8138160" y="1874520"/>
            <a:ext cx="3520440" cy="1508760"/>
          </a:xfrm>
          <a:prstGeom prst="roundRect">
            <a:avLst>
              <a:gd fmla="val 5455" name="adj"/>
            </a:avLst>
          </a:prstGeom>
          <a:solidFill>
            <a:srgbClr val="FFFFFF"/>
          </a:solidFill>
          <a:ln cap="flat" cmpd="sng" w="12700">
            <a:solidFill>
              <a:srgbClr val="FFFFFF"/>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2"/>
          <p:cNvSpPr/>
          <p:nvPr/>
        </p:nvSpPr>
        <p:spPr>
          <a:xfrm>
            <a:off x="8412480" y="2130552"/>
            <a:ext cx="457200" cy="457200"/>
          </a:xfrm>
          <a:prstGeom prst="ellipse">
            <a:avLst/>
          </a:prstGeom>
          <a:solidFill>
            <a:srgbClr val="C1552E"/>
          </a:solidFill>
          <a:ln cap="flat" cmpd="sng" w="12700">
            <a:solidFill>
              <a:srgbClr val="C1552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2"/>
          <p:cNvSpPr/>
          <p:nvPr/>
        </p:nvSpPr>
        <p:spPr>
          <a:xfrm>
            <a:off x="8412480" y="2130552"/>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47" name="Google Shape;47;p2"/>
          <p:cNvSpPr/>
          <p:nvPr/>
        </p:nvSpPr>
        <p:spPr>
          <a:xfrm>
            <a:off x="8412480" y="2697480"/>
            <a:ext cx="29718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1500"/>
              <a:buFont typeface="Calibri"/>
              <a:buNone/>
            </a:pPr>
            <a:r>
              <a:rPr b="1" i="0" lang="en-US" sz="1500" u="none" cap="none" strike="noStrike">
                <a:solidFill>
                  <a:srgbClr val="14304F"/>
                </a:solidFill>
                <a:latin typeface="Calibri"/>
                <a:ea typeface="Calibri"/>
                <a:cs typeface="Calibri"/>
                <a:sym typeface="Calibri"/>
              </a:rPr>
              <a:t>Policy context</a:t>
            </a:r>
            <a:endParaRPr b="0" i="0" sz="1500" u="none" cap="none" strike="noStrike">
              <a:solidFill>
                <a:schemeClr val="dk1"/>
              </a:solidFill>
              <a:latin typeface="Calibri"/>
              <a:ea typeface="Calibri"/>
              <a:cs typeface="Calibri"/>
              <a:sym typeface="Calibri"/>
            </a:endParaRPr>
          </a:p>
        </p:txBody>
      </p:sp>
      <p:sp>
        <p:nvSpPr>
          <p:cNvPr id="48" name="Google Shape;48;p2"/>
          <p:cNvSpPr/>
          <p:nvPr/>
        </p:nvSpPr>
        <p:spPr>
          <a:xfrm>
            <a:off x="8412480" y="3017520"/>
            <a:ext cx="29718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150"/>
              <a:buFont typeface="Calibri"/>
              <a:buNone/>
            </a:pPr>
            <a:r>
              <a:rPr b="0" i="0" lang="en-US" sz="1150" u="none" cap="none" strike="noStrike">
                <a:solidFill>
                  <a:srgbClr val="5B6472"/>
                </a:solidFill>
                <a:latin typeface="Calibri"/>
                <a:ea typeface="Calibri"/>
                <a:cs typeface="Calibri"/>
                <a:sym typeface="Calibri"/>
              </a:rPr>
              <a:t>One of the most contested issues in the country.</a:t>
            </a:r>
            <a:endParaRPr b="0" i="0" sz="1150" u="none" cap="none" strike="noStrike">
              <a:solidFill>
                <a:schemeClr val="dk1"/>
              </a:solidFill>
              <a:latin typeface="Calibri"/>
              <a:ea typeface="Calibri"/>
              <a:cs typeface="Calibri"/>
              <a:sym typeface="Calibri"/>
            </a:endParaRPr>
          </a:p>
        </p:txBody>
      </p:sp>
      <p:sp>
        <p:nvSpPr>
          <p:cNvPr id="49" name="Google Shape;49;p2"/>
          <p:cNvSpPr/>
          <p:nvPr/>
        </p:nvSpPr>
        <p:spPr>
          <a:xfrm>
            <a:off x="548640" y="3794760"/>
            <a:ext cx="96012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400"/>
              <a:buFont typeface="Calibri"/>
              <a:buNone/>
            </a:pPr>
            <a:r>
              <a:rPr b="0" i="0" lang="en-US" sz="1400" u="none" cap="none" strike="noStrike">
                <a:solidFill>
                  <a:srgbClr val="5B6472"/>
                </a:solidFill>
                <a:latin typeface="Calibri"/>
                <a:ea typeface="Calibri"/>
                <a:cs typeface="Calibri"/>
                <a:sym typeface="Calibri"/>
              </a:rPr>
              <a:t>We wanted a question that mattered and a dataset large enough to study carefully.</a:t>
            </a:r>
            <a:endParaRPr b="0" i="0" sz="1400" u="none" cap="none" strike="noStrike">
              <a:solidFill>
                <a:schemeClr val="dk1"/>
              </a:solidFill>
              <a:latin typeface="Calibri"/>
              <a:ea typeface="Calibri"/>
              <a:cs typeface="Calibri"/>
              <a:sym typeface="Calibri"/>
            </a:endParaRPr>
          </a:p>
        </p:txBody>
      </p:sp>
      <p:sp>
        <p:nvSpPr>
          <p:cNvPr id="50" name="Google Shape;50;p2"/>
          <p:cNvSpPr/>
          <p:nvPr/>
        </p:nvSpPr>
        <p:spPr>
          <a:xfrm>
            <a:off x="548640" y="6355080"/>
            <a:ext cx="54864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A7B8"/>
              </a:buClr>
              <a:buSzPts val="950"/>
              <a:buFont typeface="Calibri"/>
              <a:buNone/>
            </a:pPr>
            <a:r>
              <a:t/>
            </a:r>
            <a:endParaRPr b="0" i="0" sz="950" u="none" cap="none" strike="noStrike">
              <a:solidFill>
                <a:schemeClr val="dk1"/>
              </a:solidFill>
              <a:latin typeface="Calibri"/>
              <a:ea typeface="Calibri"/>
              <a:cs typeface="Calibri"/>
              <a:sym typeface="Calibri"/>
            </a:endParaRPr>
          </a:p>
        </p:txBody>
      </p:sp>
      <p:sp>
        <p:nvSpPr>
          <p:cNvPr id="51" name="Google Shape;51;p2"/>
          <p:cNvSpPr/>
          <p:nvPr/>
        </p:nvSpPr>
        <p:spPr>
          <a:xfrm>
            <a:off x="11338560" y="6355080"/>
            <a:ext cx="365760" cy="25603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A7B8"/>
              </a:buClr>
              <a:buSzPts val="950"/>
              <a:buFont typeface="Calibri"/>
              <a:buNone/>
            </a:pPr>
            <a:r>
              <a:rPr b="0" i="0" lang="en-US" sz="950" u="none" cap="none" strike="noStrike">
                <a:solidFill>
                  <a:srgbClr val="9AA7B8"/>
                </a:solidFill>
                <a:latin typeface="Calibri"/>
                <a:ea typeface="Calibri"/>
                <a:cs typeface="Calibri"/>
                <a:sym typeface="Calibri"/>
              </a:rPr>
              <a:t>01</a:t>
            </a:r>
            <a:endParaRPr b="0" i="0" sz="950" u="none" cap="none" strike="noStrike">
              <a:solidFill>
                <a:schemeClr val="dk1"/>
              </a:solidFill>
              <a:latin typeface="Calibri"/>
              <a:ea typeface="Calibri"/>
              <a:cs typeface="Calibri"/>
              <a:sym typeface="Calibri"/>
            </a:endParaRPr>
          </a:p>
        </p:txBody>
      </p:sp>
      <p:pic>
        <p:nvPicPr>
          <p:cNvPr id="52" name="Google Shape;52;p2"/>
          <p:cNvPicPr preferRelativeResize="0"/>
          <p:nvPr/>
        </p:nvPicPr>
        <p:blipFill>
          <a:blip r:embed="rId3">
            <a:alphaModFix/>
          </a:blip>
          <a:stretch>
            <a:fillRect/>
          </a:stretch>
        </p:blipFill>
        <p:spPr>
          <a:xfrm>
            <a:off x="1458440" y="4273195"/>
            <a:ext cx="4260701" cy="2392680"/>
          </a:xfrm>
          <a:prstGeom prst="rect">
            <a:avLst/>
          </a:prstGeom>
          <a:noFill/>
          <a:ln>
            <a:noFill/>
          </a:ln>
        </p:spPr>
      </p:pic>
      <p:pic>
        <p:nvPicPr>
          <p:cNvPr id="53" name="Google Shape;53;p2"/>
          <p:cNvPicPr preferRelativeResize="0"/>
          <p:nvPr/>
        </p:nvPicPr>
        <p:blipFill>
          <a:blip r:embed="rId4">
            <a:alphaModFix/>
          </a:blip>
          <a:stretch>
            <a:fillRect/>
          </a:stretch>
        </p:blipFill>
        <p:spPr>
          <a:xfrm>
            <a:off x="6359000" y="4273200"/>
            <a:ext cx="4655600" cy="23926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C"/>
        </a:solidFill>
      </p:bgPr>
    </p:bg>
    <p:spTree>
      <p:nvGrpSpPr>
        <p:cNvPr id="58" name="Shape 58"/>
        <p:cNvGrpSpPr/>
        <p:nvPr/>
      </p:nvGrpSpPr>
      <p:grpSpPr>
        <a:xfrm>
          <a:off x="0" y="0"/>
          <a:ext cx="0" cy="0"/>
          <a:chOff x="0" y="0"/>
          <a:chExt cx="0" cy="0"/>
        </a:xfrm>
      </p:grpSpPr>
      <p:sp>
        <p:nvSpPr>
          <p:cNvPr id="59" name="Google Shape;59;p3"/>
          <p:cNvSpPr/>
          <p:nvPr/>
        </p:nvSpPr>
        <p:spPr>
          <a:xfrm>
            <a:off x="548640" y="384048"/>
            <a:ext cx="10058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552E"/>
              </a:buClr>
              <a:buSzPts val="1150"/>
              <a:buFont typeface="Calibri"/>
              <a:buNone/>
            </a:pPr>
            <a:r>
              <a:rPr b="1" i="0" lang="en-US" sz="1150" u="none" cap="none" strike="noStrike">
                <a:solidFill>
                  <a:srgbClr val="C1552E"/>
                </a:solidFill>
                <a:latin typeface="Calibri"/>
                <a:ea typeface="Calibri"/>
                <a:cs typeface="Calibri"/>
                <a:sym typeface="Calibri"/>
              </a:rPr>
              <a:t>THE QUESTION</a:t>
            </a:r>
            <a:endParaRPr b="0" i="0" sz="1150" u="none" cap="none" strike="noStrike">
              <a:solidFill>
                <a:schemeClr val="dk1"/>
              </a:solidFill>
              <a:latin typeface="Calibri"/>
              <a:ea typeface="Calibri"/>
              <a:cs typeface="Calibri"/>
              <a:sym typeface="Calibri"/>
            </a:endParaRPr>
          </a:p>
        </p:txBody>
      </p:sp>
      <p:sp>
        <p:nvSpPr>
          <p:cNvPr id="60" name="Google Shape;60;p3"/>
          <p:cNvSpPr/>
          <p:nvPr/>
        </p:nvSpPr>
        <p:spPr>
          <a:xfrm>
            <a:off x="530352" y="640080"/>
            <a:ext cx="1115568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2500"/>
              <a:buFont typeface="Cambria"/>
              <a:buNone/>
            </a:pPr>
            <a:r>
              <a:rPr b="1" i="0" lang="en-US" sz="2500" u="none" cap="none" strike="noStrike">
                <a:solidFill>
                  <a:srgbClr val="14304F"/>
                </a:solidFill>
                <a:latin typeface="Cambria"/>
                <a:ea typeface="Cambria"/>
                <a:cs typeface="Cambria"/>
                <a:sym typeface="Cambria"/>
              </a:rPr>
              <a:t>Which traits predict naturalization status?</a:t>
            </a:r>
            <a:endParaRPr b="0" i="0" sz="2500" u="none" cap="none" strike="noStrike">
              <a:solidFill>
                <a:schemeClr val="dk1"/>
              </a:solidFill>
              <a:latin typeface="Calibri"/>
              <a:ea typeface="Calibri"/>
              <a:cs typeface="Calibri"/>
              <a:sym typeface="Calibri"/>
            </a:endParaRPr>
          </a:p>
        </p:txBody>
      </p:sp>
      <p:sp>
        <p:nvSpPr>
          <p:cNvPr id="61" name="Google Shape;61;p3"/>
          <p:cNvSpPr/>
          <p:nvPr/>
        </p:nvSpPr>
        <p:spPr>
          <a:xfrm>
            <a:off x="548640" y="1691640"/>
            <a:ext cx="5212080" cy="1508760"/>
          </a:xfrm>
          <a:prstGeom prst="roundRect">
            <a:avLst>
              <a:gd fmla="val 5455" name="adj"/>
            </a:avLst>
          </a:prstGeom>
          <a:solidFill>
            <a:srgbClr val="EAEEF3"/>
          </a:solidFill>
          <a:ln cap="flat" cmpd="sng" w="12700">
            <a:solidFill>
              <a:srgbClr val="EAEEF3"/>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3"/>
          <p:cNvSpPr/>
          <p:nvPr/>
        </p:nvSpPr>
        <p:spPr>
          <a:xfrm>
            <a:off x="822960" y="1892808"/>
            <a:ext cx="475488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1150"/>
              <a:buFont typeface="Calibri"/>
              <a:buNone/>
            </a:pPr>
            <a:r>
              <a:rPr b="1" i="0" lang="en-US" sz="1150" u="none" cap="none" strike="noStrike">
                <a:solidFill>
                  <a:srgbClr val="14304F"/>
                </a:solidFill>
                <a:latin typeface="Calibri"/>
                <a:ea typeface="Calibri"/>
                <a:cs typeface="Calibri"/>
                <a:sym typeface="Calibri"/>
              </a:rPr>
              <a:t>RESEARCH QUESTION</a:t>
            </a:r>
            <a:endParaRPr b="0" i="0" sz="1150" u="none" cap="none" strike="noStrike">
              <a:solidFill>
                <a:schemeClr val="dk1"/>
              </a:solidFill>
              <a:latin typeface="Calibri"/>
              <a:ea typeface="Calibri"/>
              <a:cs typeface="Calibri"/>
              <a:sym typeface="Calibri"/>
            </a:endParaRPr>
          </a:p>
        </p:txBody>
      </p:sp>
      <p:sp>
        <p:nvSpPr>
          <p:cNvPr id="63" name="Google Shape;63;p3"/>
          <p:cNvSpPr/>
          <p:nvPr/>
        </p:nvSpPr>
        <p:spPr>
          <a:xfrm>
            <a:off x="822960" y="2221992"/>
            <a:ext cx="470916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1350"/>
              <a:buFont typeface="Calibri"/>
              <a:buNone/>
            </a:pPr>
            <a:r>
              <a:rPr b="0" i="0" lang="en-US" sz="1350" u="none" cap="none" strike="noStrike">
                <a:solidFill>
                  <a:srgbClr val="222222"/>
                </a:solidFill>
                <a:latin typeface="Calibri"/>
                <a:ea typeface="Calibri"/>
                <a:cs typeface="Calibri"/>
                <a:sym typeface="Calibri"/>
              </a:rPr>
              <a:t>Among immigrants here </a:t>
            </a:r>
            <a:r>
              <a:rPr b="1" i="0" lang="en-US" sz="1350" u="none" cap="none" strike="noStrike">
                <a:solidFill>
                  <a:srgbClr val="222222"/>
                </a:solidFill>
                <a:latin typeface="Calibri"/>
                <a:ea typeface="Calibri"/>
                <a:cs typeface="Calibri"/>
                <a:sym typeface="Calibri"/>
              </a:rPr>
              <a:t>6 to 20 years</a:t>
            </a:r>
            <a:r>
              <a:rPr b="0" i="0" lang="en-US" sz="1350" u="none" cap="none" strike="noStrike">
                <a:solidFill>
                  <a:srgbClr val="222222"/>
                </a:solidFill>
                <a:latin typeface="Calibri"/>
                <a:ea typeface="Calibri"/>
                <a:cs typeface="Calibri"/>
                <a:sym typeface="Calibri"/>
              </a:rPr>
              <a:t>, which characteristics predict whether they become citizens?</a:t>
            </a:r>
            <a:endParaRPr b="0" i="0" sz="1350" u="none" cap="none" strike="noStrike">
              <a:solidFill>
                <a:schemeClr val="dk1"/>
              </a:solidFill>
              <a:latin typeface="Calibri"/>
              <a:ea typeface="Calibri"/>
              <a:cs typeface="Calibri"/>
              <a:sym typeface="Calibri"/>
            </a:endParaRPr>
          </a:p>
        </p:txBody>
      </p:sp>
      <p:sp>
        <p:nvSpPr>
          <p:cNvPr id="64" name="Google Shape;64;p3"/>
          <p:cNvSpPr/>
          <p:nvPr/>
        </p:nvSpPr>
        <p:spPr>
          <a:xfrm>
            <a:off x="6080760" y="1691640"/>
            <a:ext cx="5212080" cy="1508760"/>
          </a:xfrm>
          <a:prstGeom prst="roundRect">
            <a:avLst>
              <a:gd fmla="val 5455" name="adj"/>
            </a:avLst>
          </a:prstGeom>
          <a:solidFill>
            <a:srgbClr val="F7E9E3"/>
          </a:solidFill>
          <a:ln cap="flat" cmpd="sng" w="12700">
            <a:solidFill>
              <a:srgbClr val="F7E9E3"/>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3"/>
          <p:cNvSpPr/>
          <p:nvPr/>
        </p:nvSpPr>
        <p:spPr>
          <a:xfrm>
            <a:off x="6355080" y="1892808"/>
            <a:ext cx="475488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552E"/>
              </a:buClr>
              <a:buSzPts val="1150"/>
              <a:buFont typeface="Calibri"/>
              <a:buNone/>
            </a:pPr>
            <a:r>
              <a:rPr b="1" i="0" lang="en-US" sz="1150" u="none" cap="none" strike="noStrike">
                <a:solidFill>
                  <a:srgbClr val="C1552E"/>
                </a:solidFill>
                <a:latin typeface="Calibri"/>
                <a:ea typeface="Calibri"/>
                <a:cs typeface="Calibri"/>
                <a:sym typeface="Calibri"/>
              </a:rPr>
              <a:t>HYPOTHESIS</a:t>
            </a:r>
            <a:endParaRPr b="0" i="0" sz="1150" u="none" cap="none" strike="noStrike">
              <a:solidFill>
                <a:schemeClr val="dk1"/>
              </a:solidFill>
              <a:latin typeface="Calibri"/>
              <a:ea typeface="Calibri"/>
              <a:cs typeface="Calibri"/>
              <a:sym typeface="Calibri"/>
            </a:endParaRPr>
          </a:p>
        </p:txBody>
      </p:sp>
      <p:sp>
        <p:nvSpPr>
          <p:cNvPr id="66" name="Google Shape;66;p3"/>
          <p:cNvSpPr/>
          <p:nvPr/>
        </p:nvSpPr>
        <p:spPr>
          <a:xfrm>
            <a:off x="6355080" y="2221992"/>
            <a:ext cx="470916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1350"/>
              <a:buFont typeface="Calibri"/>
              <a:buNone/>
            </a:pPr>
            <a:r>
              <a:rPr b="0" i="0" lang="en-US" sz="1350" u="none" cap="none" strike="noStrike">
                <a:solidFill>
                  <a:srgbClr val="222222"/>
                </a:solidFill>
                <a:latin typeface="Calibri"/>
                <a:ea typeface="Calibri"/>
                <a:cs typeface="Calibri"/>
                <a:sym typeface="Calibri"/>
              </a:rPr>
              <a:t>People with higher </a:t>
            </a:r>
            <a:r>
              <a:rPr b="1" i="0" lang="en-US" sz="1350" u="none" cap="none" strike="noStrike">
                <a:solidFill>
                  <a:srgbClr val="222222"/>
                </a:solidFill>
                <a:latin typeface="Calibri"/>
                <a:ea typeface="Calibri"/>
                <a:cs typeface="Calibri"/>
                <a:sym typeface="Calibri"/>
              </a:rPr>
              <a:t>education</a:t>
            </a:r>
            <a:r>
              <a:rPr b="0" i="0" lang="en-US" sz="1350" u="none" cap="none" strike="noStrike">
                <a:solidFill>
                  <a:srgbClr val="222222"/>
                </a:solidFill>
                <a:latin typeface="Calibri"/>
                <a:ea typeface="Calibri"/>
                <a:cs typeface="Calibri"/>
                <a:sym typeface="Calibri"/>
              </a:rPr>
              <a:t>, stable </a:t>
            </a:r>
            <a:r>
              <a:rPr b="1" i="0" lang="en-US" sz="1350" u="none" cap="none" strike="noStrike">
                <a:solidFill>
                  <a:srgbClr val="222222"/>
                </a:solidFill>
                <a:latin typeface="Calibri"/>
                <a:ea typeface="Calibri"/>
                <a:cs typeface="Calibri"/>
                <a:sym typeface="Calibri"/>
              </a:rPr>
              <a:t>employment</a:t>
            </a:r>
            <a:r>
              <a:rPr b="0" i="0" lang="en-US" sz="1350" u="none" cap="none" strike="noStrike">
                <a:solidFill>
                  <a:srgbClr val="222222"/>
                </a:solidFill>
                <a:latin typeface="Calibri"/>
                <a:ea typeface="Calibri"/>
                <a:cs typeface="Calibri"/>
                <a:sym typeface="Calibri"/>
              </a:rPr>
              <a:t>, higher </a:t>
            </a:r>
            <a:r>
              <a:rPr b="1" i="0" lang="en-US" sz="1350" u="none" cap="none" strike="noStrike">
                <a:solidFill>
                  <a:srgbClr val="222222"/>
                </a:solidFill>
                <a:latin typeface="Calibri"/>
                <a:ea typeface="Calibri"/>
                <a:cs typeface="Calibri"/>
                <a:sym typeface="Calibri"/>
              </a:rPr>
              <a:t>income</a:t>
            </a:r>
            <a:r>
              <a:rPr b="0" i="0" lang="en-US" sz="1350" u="none" cap="none" strike="noStrike">
                <a:solidFill>
                  <a:srgbClr val="222222"/>
                </a:solidFill>
                <a:latin typeface="Calibri"/>
                <a:ea typeface="Calibri"/>
                <a:cs typeface="Calibri"/>
                <a:sym typeface="Calibri"/>
              </a:rPr>
              <a:t>, and better </a:t>
            </a:r>
            <a:r>
              <a:rPr b="1" i="0" lang="en-US" sz="1350" u="none" cap="none" strike="noStrike">
                <a:solidFill>
                  <a:srgbClr val="222222"/>
                </a:solidFill>
                <a:latin typeface="Calibri"/>
                <a:ea typeface="Calibri"/>
                <a:cs typeface="Calibri"/>
                <a:sym typeface="Calibri"/>
              </a:rPr>
              <a:t>English</a:t>
            </a:r>
            <a:r>
              <a:rPr b="0" i="0" lang="en-US" sz="1350" u="none" cap="none" strike="noStrike">
                <a:solidFill>
                  <a:srgbClr val="222222"/>
                </a:solidFill>
                <a:latin typeface="Calibri"/>
                <a:ea typeface="Calibri"/>
                <a:cs typeface="Calibri"/>
                <a:sym typeface="Calibri"/>
              </a:rPr>
              <a:t> are more likely to be naturalized.</a:t>
            </a:r>
            <a:endParaRPr b="0" i="0" sz="1350" u="none" cap="none" strike="noStrike">
              <a:solidFill>
                <a:schemeClr val="dk1"/>
              </a:solidFill>
              <a:latin typeface="Calibri"/>
              <a:ea typeface="Calibri"/>
              <a:cs typeface="Calibri"/>
              <a:sym typeface="Calibri"/>
            </a:endParaRPr>
          </a:p>
        </p:txBody>
      </p:sp>
      <p:sp>
        <p:nvSpPr>
          <p:cNvPr id="67" name="Google Shape;67;p3"/>
          <p:cNvSpPr/>
          <p:nvPr/>
        </p:nvSpPr>
        <p:spPr>
          <a:xfrm>
            <a:off x="548640" y="6355080"/>
            <a:ext cx="54864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A7B8"/>
              </a:buClr>
              <a:buSzPts val="950"/>
              <a:buFont typeface="Calibri"/>
              <a:buNone/>
            </a:pPr>
            <a:r>
              <a:rPr b="0" i="0" lang="en-US" sz="950" u="none" cap="none" strike="noStrike">
                <a:solidFill>
                  <a:srgbClr val="9AA7B8"/>
                </a:solidFill>
                <a:latin typeface="Calibri"/>
                <a:ea typeface="Calibri"/>
                <a:cs typeface="Calibri"/>
                <a:sym typeface="Calibri"/>
              </a:rPr>
              <a:t>QUESTION AND HYPOTHESIS</a:t>
            </a:r>
            <a:endParaRPr b="0" i="0" sz="950" u="none" cap="none" strike="noStrike">
              <a:solidFill>
                <a:schemeClr val="dk1"/>
              </a:solidFill>
              <a:latin typeface="Calibri"/>
              <a:ea typeface="Calibri"/>
              <a:cs typeface="Calibri"/>
              <a:sym typeface="Calibri"/>
            </a:endParaRPr>
          </a:p>
        </p:txBody>
      </p:sp>
      <p:sp>
        <p:nvSpPr>
          <p:cNvPr id="68" name="Google Shape;68;p3"/>
          <p:cNvSpPr/>
          <p:nvPr/>
        </p:nvSpPr>
        <p:spPr>
          <a:xfrm>
            <a:off x="11338560" y="6355080"/>
            <a:ext cx="365760" cy="25603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A7B8"/>
              </a:buClr>
              <a:buSzPts val="950"/>
              <a:buFont typeface="Calibri"/>
              <a:buNone/>
            </a:pPr>
            <a:r>
              <a:rPr b="0" i="0" lang="en-US" sz="950" u="none" cap="none" strike="noStrike">
                <a:solidFill>
                  <a:srgbClr val="9AA7B8"/>
                </a:solidFill>
                <a:latin typeface="Calibri"/>
                <a:ea typeface="Calibri"/>
                <a:cs typeface="Calibri"/>
                <a:sym typeface="Calibri"/>
              </a:rPr>
              <a:t>02</a:t>
            </a:r>
            <a:endParaRPr b="0" i="0" sz="950" u="none" cap="none" strike="noStrike">
              <a:solidFill>
                <a:schemeClr val="dk1"/>
              </a:solidFill>
              <a:latin typeface="Calibri"/>
              <a:ea typeface="Calibri"/>
              <a:cs typeface="Calibri"/>
              <a:sym typeface="Calibri"/>
            </a:endParaRPr>
          </a:p>
        </p:txBody>
      </p:sp>
      <p:pic>
        <p:nvPicPr>
          <p:cNvPr id="69" name="Google Shape;69;p3"/>
          <p:cNvPicPr preferRelativeResize="0"/>
          <p:nvPr/>
        </p:nvPicPr>
        <p:blipFill>
          <a:blip r:embed="rId3">
            <a:alphaModFix/>
          </a:blip>
          <a:stretch>
            <a:fillRect/>
          </a:stretch>
        </p:blipFill>
        <p:spPr>
          <a:xfrm>
            <a:off x="3106888" y="3761225"/>
            <a:ext cx="5127219" cy="284987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C"/>
        </a:solidFill>
      </p:bgPr>
    </p:bg>
    <p:spTree>
      <p:nvGrpSpPr>
        <p:cNvPr id="74" name="Shape 74"/>
        <p:cNvGrpSpPr/>
        <p:nvPr/>
      </p:nvGrpSpPr>
      <p:grpSpPr>
        <a:xfrm>
          <a:off x="0" y="0"/>
          <a:ext cx="0" cy="0"/>
          <a:chOff x="0" y="0"/>
          <a:chExt cx="0" cy="0"/>
        </a:xfrm>
      </p:grpSpPr>
      <p:sp>
        <p:nvSpPr>
          <p:cNvPr id="75" name="Google Shape;75;p4"/>
          <p:cNvSpPr/>
          <p:nvPr/>
        </p:nvSpPr>
        <p:spPr>
          <a:xfrm>
            <a:off x="548640" y="384048"/>
            <a:ext cx="10058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552E"/>
              </a:buClr>
              <a:buSzPts val="1150"/>
              <a:buFont typeface="Calibri"/>
              <a:buNone/>
            </a:pPr>
            <a:r>
              <a:rPr b="1" i="0" lang="en-US" sz="1150" u="none" cap="none" strike="noStrike">
                <a:solidFill>
                  <a:srgbClr val="C1552E"/>
                </a:solidFill>
                <a:latin typeface="Calibri"/>
                <a:ea typeface="Calibri"/>
                <a:cs typeface="Calibri"/>
                <a:sym typeface="Calibri"/>
              </a:rPr>
              <a:t>THE DATA</a:t>
            </a:r>
            <a:endParaRPr b="0" i="0" sz="1150" u="none" cap="none" strike="noStrike">
              <a:solidFill>
                <a:schemeClr val="dk1"/>
              </a:solidFill>
              <a:latin typeface="Calibri"/>
              <a:ea typeface="Calibri"/>
              <a:cs typeface="Calibri"/>
              <a:sym typeface="Calibri"/>
            </a:endParaRPr>
          </a:p>
        </p:txBody>
      </p:sp>
      <p:sp>
        <p:nvSpPr>
          <p:cNvPr id="76" name="Google Shape;76;p4"/>
          <p:cNvSpPr/>
          <p:nvPr/>
        </p:nvSpPr>
        <p:spPr>
          <a:xfrm>
            <a:off x="530352" y="640080"/>
            <a:ext cx="1115568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2700"/>
              <a:buFont typeface="Cambria"/>
              <a:buNone/>
            </a:pPr>
            <a:r>
              <a:rPr b="1" i="0" lang="en-US" sz="2700" u="none" cap="none" strike="noStrike">
                <a:solidFill>
                  <a:srgbClr val="14304F"/>
                </a:solidFill>
                <a:latin typeface="Cambria"/>
                <a:ea typeface="Cambria"/>
                <a:cs typeface="Cambria"/>
                <a:sym typeface="Cambria"/>
              </a:rPr>
              <a:t>ACS data at large scale</a:t>
            </a:r>
            <a:endParaRPr b="0" i="0" sz="2700" u="none" cap="none" strike="noStrike">
              <a:solidFill>
                <a:schemeClr val="dk1"/>
              </a:solidFill>
              <a:latin typeface="Calibri"/>
              <a:ea typeface="Calibri"/>
              <a:cs typeface="Calibri"/>
              <a:sym typeface="Calibri"/>
            </a:endParaRPr>
          </a:p>
        </p:txBody>
      </p:sp>
      <p:sp>
        <p:nvSpPr>
          <p:cNvPr id="77" name="Google Shape;77;p4"/>
          <p:cNvSpPr/>
          <p:nvPr/>
        </p:nvSpPr>
        <p:spPr>
          <a:xfrm>
            <a:off x="548640" y="1828800"/>
            <a:ext cx="128016" cy="128016"/>
          </a:xfrm>
          <a:prstGeom prst="ellipse">
            <a:avLst/>
          </a:prstGeom>
          <a:solidFill>
            <a:srgbClr val="14304F"/>
          </a:solidFill>
          <a:ln cap="flat" cmpd="sng" w="12700">
            <a:solidFill>
              <a:srgbClr val="1430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4"/>
          <p:cNvSpPr/>
          <p:nvPr/>
        </p:nvSpPr>
        <p:spPr>
          <a:xfrm>
            <a:off x="822960" y="1709928"/>
            <a:ext cx="57607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1400"/>
              <a:buFont typeface="Calibri"/>
              <a:buNone/>
            </a:pPr>
            <a:r>
              <a:rPr b="1" i="0" lang="en-US" sz="1400" u="none" cap="none" strike="noStrike">
                <a:solidFill>
                  <a:srgbClr val="222222"/>
                </a:solidFill>
                <a:latin typeface="Calibri"/>
                <a:ea typeface="Calibri"/>
                <a:cs typeface="Calibri"/>
                <a:sym typeface="Calibri"/>
              </a:rPr>
              <a:t>Source: </a:t>
            </a:r>
            <a:r>
              <a:rPr b="0" i="0" lang="en-US" sz="1400" u="none" cap="none" strike="noStrike">
                <a:solidFill>
                  <a:srgbClr val="222222"/>
                </a:solidFill>
                <a:latin typeface="Calibri"/>
                <a:ea typeface="Calibri"/>
                <a:cs typeface="Calibri"/>
                <a:sym typeface="Calibri"/>
              </a:rPr>
              <a:t>IPUMS USA, American Community Survey, 2019–2023</a:t>
            </a:r>
            <a:endParaRPr b="0" i="0" sz="1400" u="none" cap="none" strike="noStrike">
              <a:solidFill>
                <a:schemeClr val="dk1"/>
              </a:solidFill>
              <a:latin typeface="Calibri"/>
              <a:ea typeface="Calibri"/>
              <a:cs typeface="Calibri"/>
              <a:sym typeface="Calibri"/>
            </a:endParaRPr>
          </a:p>
        </p:txBody>
      </p:sp>
      <p:sp>
        <p:nvSpPr>
          <p:cNvPr id="79" name="Google Shape;79;p4"/>
          <p:cNvSpPr/>
          <p:nvPr/>
        </p:nvSpPr>
        <p:spPr>
          <a:xfrm>
            <a:off x="548640" y="2514600"/>
            <a:ext cx="128016" cy="128016"/>
          </a:xfrm>
          <a:prstGeom prst="ellipse">
            <a:avLst/>
          </a:prstGeom>
          <a:solidFill>
            <a:srgbClr val="14304F"/>
          </a:solidFill>
          <a:ln cap="flat" cmpd="sng" w="12700">
            <a:solidFill>
              <a:srgbClr val="1430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4"/>
          <p:cNvSpPr/>
          <p:nvPr/>
        </p:nvSpPr>
        <p:spPr>
          <a:xfrm>
            <a:off x="822960" y="2395728"/>
            <a:ext cx="57607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1400"/>
              <a:buFont typeface="Calibri"/>
              <a:buNone/>
            </a:pPr>
            <a:r>
              <a:rPr b="1" i="0" lang="en-US" sz="1400" u="none" cap="none" strike="noStrike">
                <a:solidFill>
                  <a:srgbClr val="222222"/>
                </a:solidFill>
                <a:latin typeface="Calibri"/>
                <a:ea typeface="Calibri"/>
                <a:cs typeface="Calibri"/>
                <a:sym typeface="Calibri"/>
              </a:rPr>
              <a:t>Collected by </a:t>
            </a:r>
            <a:r>
              <a:rPr b="0" i="0" lang="en-US" sz="1400" u="none" cap="none" strike="noStrike">
                <a:solidFill>
                  <a:srgbClr val="222222"/>
                </a:solidFill>
                <a:latin typeface="Calibri"/>
                <a:ea typeface="Calibri"/>
                <a:cs typeface="Calibri"/>
                <a:sym typeface="Calibri"/>
              </a:rPr>
              <a:t>the U.S. Census Bureau, nationally representative</a:t>
            </a:r>
            <a:endParaRPr b="0" i="0" sz="1400" u="none" cap="none" strike="noStrike">
              <a:solidFill>
                <a:schemeClr val="dk1"/>
              </a:solidFill>
              <a:latin typeface="Calibri"/>
              <a:ea typeface="Calibri"/>
              <a:cs typeface="Calibri"/>
              <a:sym typeface="Calibri"/>
            </a:endParaRPr>
          </a:p>
        </p:txBody>
      </p:sp>
      <p:sp>
        <p:nvSpPr>
          <p:cNvPr id="81" name="Google Shape;81;p4"/>
          <p:cNvSpPr/>
          <p:nvPr/>
        </p:nvSpPr>
        <p:spPr>
          <a:xfrm>
            <a:off x="548640" y="3200400"/>
            <a:ext cx="128016" cy="128016"/>
          </a:xfrm>
          <a:prstGeom prst="ellipse">
            <a:avLst/>
          </a:prstGeom>
          <a:solidFill>
            <a:srgbClr val="14304F"/>
          </a:solidFill>
          <a:ln cap="flat" cmpd="sng" w="12700">
            <a:solidFill>
              <a:srgbClr val="1430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4"/>
          <p:cNvSpPr/>
          <p:nvPr/>
        </p:nvSpPr>
        <p:spPr>
          <a:xfrm>
            <a:off x="822960" y="3081528"/>
            <a:ext cx="57607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1400"/>
              <a:buFont typeface="Calibri"/>
              <a:buNone/>
            </a:pPr>
            <a:r>
              <a:rPr b="1" i="0" lang="en-US" sz="1400" u="none" cap="none" strike="noStrike">
                <a:solidFill>
                  <a:srgbClr val="222222"/>
                </a:solidFill>
                <a:latin typeface="Calibri"/>
                <a:ea typeface="Calibri"/>
                <a:cs typeface="Calibri"/>
                <a:sym typeface="Calibri"/>
              </a:rPr>
              <a:t>Filtered </a:t>
            </a:r>
            <a:r>
              <a:rPr b="0" i="0" lang="en-US" sz="1400" u="none" cap="none" strike="noStrike">
                <a:solidFill>
                  <a:srgbClr val="222222"/>
                </a:solidFill>
                <a:latin typeface="Calibri"/>
                <a:ea typeface="Calibri"/>
                <a:cs typeface="Calibri"/>
                <a:sym typeface="Calibri"/>
              </a:rPr>
              <a:t>15.9M raw responses down to 1,774,320 foreign-born, income-clean respondents</a:t>
            </a:r>
            <a:endParaRPr b="0" i="0" sz="1400" u="none" cap="none" strike="noStrike">
              <a:solidFill>
                <a:schemeClr val="dk1"/>
              </a:solidFill>
              <a:latin typeface="Calibri"/>
              <a:ea typeface="Calibri"/>
              <a:cs typeface="Calibri"/>
              <a:sym typeface="Calibri"/>
            </a:endParaRPr>
          </a:p>
        </p:txBody>
      </p:sp>
      <p:sp>
        <p:nvSpPr>
          <p:cNvPr id="83" name="Google Shape;83;p4"/>
          <p:cNvSpPr/>
          <p:nvPr/>
        </p:nvSpPr>
        <p:spPr>
          <a:xfrm>
            <a:off x="6858000" y="1828800"/>
            <a:ext cx="4846320" cy="1234440"/>
          </a:xfrm>
          <a:prstGeom prst="roundRect">
            <a:avLst>
              <a:gd fmla="val 6667" name="adj"/>
            </a:avLst>
          </a:prstGeom>
          <a:solidFill>
            <a:srgbClr val="14304F"/>
          </a:solidFill>
          <a:ln cap="flat" cmpd="sng" w="12700">
            <a:solidFill>
              <a:srgbClr val="14304F"/>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4"/>
          <p:cNvSpPr/>
          <p:nvPr/>
        </p:nvSpPr>
        <p:spPr>
          <a:xfrm>
            <a:off x="7132320" y="1938528"/>
            <a:ext cx="429768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08A5C"/>
              </a:buClr>
              <a:buSzPts val="3200"/>
              <a:buFont typeface="Calibri"/>
              <a:buNone/>
            </a:pPr>
            <a:r>
              <a:rPr b="1" i="0" lang="en-US" sz="3200" u="none" cap="none" strike="noStrike">
                <a:solidFill>
                  <a:srgbClr val="E08A5C"/>
                </a:solidFill>
                <a:latin typeface="Calibri"/>
                <a:ea typeface="Calibri"/>
                <a:cs typeface="Calibri"/>
                <a:sym typeface="Calibri"/>
              </a:rPr>
              <a:t>1.77M</a:t>
            </a:r>
            <a:endParaRPr b="0" i="0" sz="3200" u="none" cap="none" strike="noStrike">
              <a:solidFill>
                <a:schemeClr val="dk1"/>
              </a:solidFill>
              <a:latin typeface="Calibri"/>
              <a:ea typeface="Calibri"/>
              <a:cs typeface="Calibri"/>
              <a:sym typeface="Calibri"/>
            </a:endParaRPr>
          </a:p>
        </p:txBody>
      </p:sp>
      <p:sp>
        <p:nvSpPr>
          <p:cNvPr id="85" name="Google Shape;85;p4"/>
          <p:cNvSpPr/>
          <p:nvPr/>
        </p:nvSpPr>
        <p:spPr>
          <a:xfrm>
            <a:off x="7132320" y="2514600"/>
            <a:ext cx="42976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7E1EE"/>
              </a:buClr>
              <a:buSzPts val="1300"/>
              <a:buFont typeface="Calibri"/>
              <a:buNone/>
            </a:pPr>
            <a:r>
              <a:rPr b="0" i="0" lang="en-US" sz="1300" u="none" cap="none" strike="noStrike">
                <a:solidFill>
                  <a:srgbClr val="D7E1EE"/>
                </a:solidFill>
                <a:latin typeface="Calibri"/>
                <a:ea typeface="Calibri"/>
                <a:cs typeface="Calibri"/>
                <a:sym typeface="Calibri"/>
              </a:rPr>
              <a:t>people in the cleaned dataset</a:t>
            </a:r>
            <a:endParaRPr b="0" i="0" sz="1300" u="none" cap="none" strike="noStrike">
              <a:solidFill>
                <a:schemeClr val="dk1"/>
              </a:solidFill>
              <a:latin typeface="Calibri"/>
              <a:ea typeface="Calibri"/>
              <a:cs typeface="Calibri"/>
              <a:sym typeface="Calibri"/>
            </a:endParaRPr>
          </a:p>
        </p:txBody>
      </p:sp>
      <p:sp>
        <p:nvSpPr>
          <p:cNvPr id="86" name="Google Shape;86;p4"/>
          <p:cNvSpPr/>
          <p:nvPr/>
        </p:nvSpPr>
        <p:spPr>
          <a:xfrm>
            <a:off x="6858000" y="3200400"/>
            <a:ext cx="4846320" cy="1371600"/>
          </a:xfrm>
          <a:prstGeom prst="roundRect">
            <a:avLst>
              <a:gd fmla="val 6000" name="adj"/>
            </a:avLst>
          </a:prstGeom>
          <a:solidFill>
            <a:srgbClr val="C1552E"/>
          </a:solidFill>
          <a:ln cap="flat" cmpd="sng" w="12700">
            <a:solidFill>
              <a:srgbClr val="C1552E"/>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4"/>
          <p:cNvSpPr/>
          <p:nvPr/>
        </p:nvSpPr>
        <p:spPr>
          <a:xfrm>
            <a:off x="7132320" y="3291840"/>
            <a:ext cx="42976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Why this source works</a:t>
            </a:r>
            <a:endParaRPr b="0" i="0" sz="1800" u="none" cap="none" strike="noStrike">
              <a:solidFill>
                <a:schemeClr val="dk1"/>
              </a:solidFill>
              <a:latin typeface="Calibri"/>
              <a:ea typeface="Calibri"/>
              <a:cs typeface="Calibri"/>
              <a:sym typeface="Calibri"/>
            </a:endParaRPr>
          </a:p>
        </p:txBody>
      </p:sp>
      <p:sp>
        <p:nvSpPr>
          <p:cNvPr id="88" name="Google Shape;88;p4"/>
          <p:cNvSpPr/>
          <p:nvPr/>
        </p:nvSpPr>
        <p:spPr>
          <a:xfrm>
            <a:off x="7132320" y="3675888"/>
            <a:ext cx="429768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BE7E4"/>
              </a:buClr>
              <a:buSzPts val="1250"/>
              <a:buFont typeface="Calibri"/>
              <a:buNone/>
            </a:pPr>
            <a:r>
              <a:rPr b="0" i="0" lang="en-US" sz="1250" u="none" cap="none" strike="noStrike">
                <a:solidFill>
                  <a:srgbClr val="FBE7E4"/>
                </a:solidFill>
                <a:latin typeface="Calibri"/>
                <a:ea typeface="Calibri"/>
                <a:cs typeface="Calibri"/>
                <a:sym typeface="Calibri"/>
              </a:rPr>
              <a:t>Large, nationally representative survey collected by the Census Bureau.</a:t>
            </a:r>
            <a:endParaRPr b="0" i="0" sz="1250" u="none" cap="none" strike="noStrike">
              <a:solidFill>
                <a:schemeClr val="dk1"/>
              </a:solidFill>
              <a:latin typeface="Calibri"/>
              <a:ea typeface="Calibri"/>
              <a:cs typeface="Calibri"/>
              <a:sym typeface="Calibri"/>
            </a:endParaRPr>
          </a:p>
        </p:txBody>
      </p:sp>
      <p:sp>
        <p:nvSpPr>
          <p:cNvPr id="89" name="Google Shape;89;p4"/>
          <p:cNvSpPr/>
          <p:nvPr/>
        </p:nvSpPr>
        <p:spPr>
          <a:xfrm>
            <a:off x="548640" y="6355080"/>
            <a:ext cx="54864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A7B8"/>
              </a:buClr>
              <a:buSzPts val="950"/>
              <a:buFont typeface="Calibri"/>
              <a:buNone/>
            </a:pPr>
            <a:r>
              <a:rPr b="0" i="0" lang="en-US" sz="950" u="none" cap="none" strike="noStrike">
                <a:solidFill>
                  <a:srgbClr val="9AA7B8"/>
                </a:solidFill>
                <a:latin typeface="Calibri"/>
                <a:ea typeface="Calibri"/>
                <a:cs typeface="Calibri"/>
                <a:sym typeface="Calibri"/>
              </a:rPr>
              <a:t>DATA SOURCE</a:t>
            </a:r>
            <a:endParaRPr b="0" i="0" sz="950" u="none" cap="none" strike="noStrike">
              <a:solidFill>
                <a:schemeClr val="dk1"/>
              </a:solidFill>
              <a:latin typeface="Calibri"/>
              <a:ea typeface="Calibri"/>
              <a:cs typeface="Calibri"/>
              <a:sym typeface="Calibri"/>
            </a:endParaRPr>
          </a:p>
        </p:txBody>
      </p:sp>
      <p:sp>
        <p:nvSpPr>
          <p:cNvPr id="90" name="Google Shape;90;p4"/>
          <p:cNvSpPr/>
          <p:nvPr/>
        </p:nvSpPr>
        <p:spPr>
          <a:xfrm>
            <a:off x="11338560" y="6355080"/>
            <a:ext cx="365760" cy="25603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A7B8"/>
              </a:buClr>
              <a:buSzPts val="950"/>
              <a:buFont typeface="Calibri"/>
              <a:buNone/>
            </a:pPr>
            <a:r>
              <a:rPr b="0" i="0" lang="en-US" sz="950" u="none" cap="none" strike="noStrike">
                <a:solidFill>
                  <a:srgbClr val="9AA7B8"/>
                </a:solidFill>
                <a:latin typeface="Calibri"/>
                <a:ea typeface="Calibri"/>
                <a:cs typeface="Calibri"/>
                <a:sym typeface="Calibri"/>
              </a:rPr>
              <a:t>03</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C"/>
        </a:solidFill>
      </p:bgPr>
    </p:bg>
    <p:spTree>
      <p:nvGrpSpPr>
        <p:cNvPr id="95" name="Shape 95"/>
        <p:cNvGrpSpPr/>
        <p:nvPr/>
      </p:nvGrpSpPr>
      <p:grpSpPr>
        <a:xfrm>
          <a:off x="0" y="0"/>
          <a:ext cx="0" cy="0"/>
          <a:chOff x="0" y="0"/>
          <a:chExt cx="0" cy="0"/>
        </a:xfrm>
      </p:grpSpPr>
      <p:sp>
        <p:nvSpPr>
          <p:cNvPr id="96" name="Google Shape;96;p5"/>
          <p:cNvSpPr/>
          <p:nvPr/>
        </p:nvSpPr>
        <p:spPr>
          <a:xfrm>
            <a:off x="548640" y="384048"/>
            <a:ext cx="10058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552E"/>
              </a:buClr>
              <a:buSzPts val="1150"/>
              <a:buFont typeface="Calibri"/>
              <a:buNone/>
            </a:pPr>
            <a:r>
              <a:rPr b="1" i="0" lang="en-US" sz="1150" u="none" cap="none" strike="noStrike">
                <a:solidFill>
                  <a:srgbClr val="C1552E"/>
                </a:solidFill>
                <a:latin typeface="Calibri"/>
                <a:ea typeface="Calibri"/>
                <a:cs typeface="Calibri"/>
                <a:sym typeface="Calibri"/>
              </a:rPr>
              <a:t>SAMPLE CONSTRUCTION</a:t>
            </a:r>
            <a:endParaRPr b="0" i="0" sz="1150" u="none" cap="none" strike="noStrike">
              <a:solidFill>
                <a:schemeClr val="dk1"/>
              </a:solidFill>
              <a:latin typeface="Calibri"/>
              <a:ea typeface="Calibri"/>
              <a:cs typeface="Calibri"/>
              <a:sym typeface="Calibri"/>
            </a:endParaRPr>
          </a:p>
        </p:txBody>
      </p:sp>
      <p:sp>
        <p:nvSpPr>
          <p:cNvPr id="97" name="Google Shape;97;p5"/>
          <p:cNvSpPr/>
          <p:nvPr/>
        </p:nvSpPr>
        <p:spPr>
          <a:xfrm>
            <a:off x="530352" y="640080"/>
            <a:ext cx="1115568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2600"/>
              <a:buFont typeface="Cambria"/>
              <a:buNone/>
            </a:pPr>
            <a:r>
              <a:rPr b="1" i="0" lang="en-US" sz="2600" u="none" cap="none" strike="noStrike">
                <a:solidFill>
                  <a:srgbClr val="14304F"/>
                </a:solidFill>
                <a:latin typeface="Cambria"/>
                <a:ea typeface="Cambria"/>
                <a:cs typeface="Cambria"/>
                <a:sym typeface="Cambria"/>
              </a:rPr>
              <a:t>Why we focused on 6–20 years in the U.S.</a:t>
            </a:r>
            <a:endParaRPr b="0" i="0" sz="2600" u="none" cap="none" strike="noStrike">
              <a:solidFill>
                <a:schemeClr val="dk1"/>
              </a:solidFill>
              <a:latin typeface="Calibri"/>
              <a:ea typeface="Calibri"/>
              <a:cs typeface="Calibri"/>
              <a:sym typeface="Calibri"/>
            </a:endParaRPr>
          </a:p>
        </p:txBody>
      </p:sp>
      <p:sp>
        <p:nvSpPr>
          <p:cNvPr id="98" name="Google Shape;98;p5"/>
          <p:cNvSpPr/>
          <p:nvPr/>
        </p:nvSpPr>
        <p:spPr>
          <a:xfrm>
            <a:off x="548640" y="1207008"/>
            <a:ext cx="1078992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250"/>
              <a:buFont typeface="Calibri"/>
              <a:buNone/>
            </a:pPr>
            <a:r>
              <a:rPr b="0" i="0" lang="en-US" sz="1250" u="none" cap="none" strike="noStrike">
                <a:solidFill>
                  <a:srgbClr val="5B6472"/>
                </a:solidFill>
                <a:latin typeface="Calibri"/>
                <a:ea typeface="Calibri"/>
                <a:cs typeface="Calibri"/>
                <a:sym typeface="Calibri"/>
              </a:rPr>
              <a:t>This gives us a cleaner group for studying naturalization.</a:t>
            </a:r>
            <a:endParaRPr b="0" i="0" sz="1250" u="none" cap="none" strike="noStrike">
              <a:solidFill>
                <a:schemeClr val="dk1"/>
              </a:solidFill>
              <a:latin typeface="Calibri"/>
              <a:ea typeface="Calibri"/>
              <a:cs typeface="Calibri"/>
              <a:sym typeface="Calibri"/>
            </a:endParaRPr>
          </a:p>
        </p:txBody>
      </p:sp>
      <p:sp>
        <p:nvSpPr>
          <p:cNvPr id="99" name="Google Shape;99;p5"/>
          <p:cNvSpPr/>
          <p:nvPr/>
        </p:nvSpPr>
        <p:spPr>
          <a:xfrm>
            <a:off x="548640" y="1874520"/>
            <a:ext cx="2697480" cy="1783080"/>
          </a:xfrm>
          <a:prstGeom prst="roundRect">
            <a:avLst>
              <a:gd fmla="val 4615" name="adj"/>
            </a:avLst>
          </a:prstGeom>
          <a:solidFill>
            <a:srgbClr val="EAEEF3"/>
          </a:solidFill>
          <a:ln cap="flat" cmpd="sng" w="12700">
            <a:solidFill>
              <a:srgbClr val="EAEEF3"/>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5"/>
          <p:cNvSpPr/>
          <p:nvPr/>
        </p:nvSpPr>
        <p:spPr>
          <a:xfrm>
            <a:off x="749808" y="2039112"/>
            <a:ext cx="2295144"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500"/>
              <a:buFont typeface="Calibri"/>
              <a:buNone/>
            </a:pPr>
            <a:r>
              <a:rPr b="1" i="0" lang="en-US" sz="1500" u="none" cap="none" strike="noStrike">
                <a:solidFill>
                  <a:srgbClr val="5B6472"/>
                </a:solidFill>
                <a:latin typeface="Calibri"/>
                <a:ea typeface="Calibri"/>
                <a:cs typeface="Calibri"/>
                <a:sym typeface="Calibri"/>
              </a:rPr>
              <a:t>0–5 years</a:t>
            </a:r>
            <a:endParaRPr b="0" i="0" sz="1500" u="none" cap="none" strike="noStrike">
              <a:solidFill>
                <a:schemeClr val="dk1"/>
              </a:solidFill>
              <a:latin typeface="Calibri"/>
              <a:ea typeface="Calibri"/>
              <a:cs typeface="Calibri"/>
              <a:sym typeface="Calibri"/>
            </a:endParaRPr>
          </a:p>
        </p:txBody>
      </p:sp>
      <p:sp>
        <p:nvSpPr>
          <p:cNvPr id="101" name="Google Shape;101;p5"/>
          <p:cNvSpPr/>
          <p:nvPr/>
        </p:nvSpPr>
        <p:spPr>
          <a:xfrm>
            <a:off x="749808" y="2331720"/>
            <a:ext cx="2295144"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552E"/>
              </a:buClr>
              <a:buSzPts val="1050"/>
              <a:buFont typeface="Calibri"/>
              <a:buNone/>
            </a:pPr>
            <a:r>
              <a:rPr b="1" i="0" lang="en-US" sz="1050" u="none" cap="none" strike="noStrike">
                <a:solidFill>
                  <a:srgbClr val="C1552E"/>
                </a:solidFill>
                <a:latin typeface="Calibri"/>
                <a:ea typeface="Calibri"/>
                <a:cs typeface="Calibri"/>
                <a:sym typeface="Calibri"/>
              </a:rPr>
              <a:t>Excluded</a:t>
            </a:r>
            <a:endParaRPr b="0" i="0" sz="1050" u="none" cap="none" strike="noStrike">
              <a:solidFill>
                <a:schemeClr val="dk1"/>
              </a:solidFill>
              <a:latin typeface="Calibri"/>
              <a:ea typeface="Calibri"/>
              <a:cs typeface="Calibri"/>
              <a:sym typeface="Calibri"/>
            </a:endParaRPr>
          </a:p>
        </p:txBody>
      </p:sp>
      <p:sp>
        <p:nvSpPr>
          <p:cNvPr id="102" name="Google Shape;102;p5"/>
          <p:cNvSpPr/>
          <p:nvPr/>
        </p:nvSpPr>
        <p:spPr>
          <a:xfrm>
            <a:off x="749808" y="2651760"/>
            <a:ext cx="2295144"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050"/>
              <a:buFont typeface="Calibri"/>
              <a:buNone/>
            </a:pPr>
            <a:r>
              <a:rPr b="0" i="0" lang="en-US" sz="1050" u="none" cap="none" strike="noStrike">
                <a:solidFill>
                  <a:srgbClr val="5B6472"/>
                </a:solidFill>
                <a:latin typeface="Calibri"/>
                <a:ea typeface="Calibri"/>
                <a:cs typeface="Calibri"/>
                <a:sym typeface="Calibri"/>
              </a:rPr>
              <a:t>Many recent immigrants may not yet have been eligible long enough to become citizens. Their non-citizenship may simply reflect limited time in the U.S.</a:t>
            </a:r>
            <a:endParaRPr b="0" i="0" sz="1050" u="none" cap="none" strike="noStrike">
              <a:solidFill>
                <a:schemeClr val="dk1"/>
              </a:solidFill>
              <a:latin typeface="Calibri"/>
              <a:ea typeface="Calibri"/>
              <a:cs typeface="Calibri"/>
              <a:sym typeface="Calibri"/>
            </a:endParaRPr>
          </a:p>
        </p:txBody>
      </p:sp>
      <p:sp>
        <p:nvSpPr>
          <p:cNvPr id="103" name="Google Shape;103;p5"/>
          <p:cNvSpPr/>
          <p:nvPr/>
        </p:nvSpPr>
        <p:spPr>
          <a:xfrm>
            <a:off x="3520440" y="1737360"/>
            <a:ext cx="4343400" cy="2057400"/>
          </a:xfrm>
          <a:prstGeom prst="roundRect">
            <a:avLst>
              <a:gd fmla="val 4000" name="adj"/>
            </a:avLst>
          </a:prstGeom>
          <a:solidFill>
            <a:srgbClr val="14304F"/>
          </a:solidFill>
          <a:ln cap="flat" cmpd="sng" w="12700">
            <a:solidFill>
              <a:srgbClr val="14304F"/>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5"/>
          <p:cNvSpPr/>
          <p:nvPr/>
        </p:nvSpPr>
        <p:spPr>
          <a:xfrm>
            <a:off x="3813048" y="1892808"/>
            <a:ext cx="3758184"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6–20 years</a:t>
            </a:r>
            <a:endParaRPr b="0" i="0" sz="2000" u="none" cap="none" strike="noStrike">
              <a:solidFill>
                <a:schemeClr val="dk1"/>
              </a:solidFill>
              <a:latin typeface="Calibri"/>
              <a:ea typeface="Calibri"/>
              <a:cs typeface="Calibri"/>
              <a:sym typeface="Calibri"/>
            </a:endParaRPr>
          </a:p>
        </p:txBody>
      </p:sp>
      <p:sp>
        <p:nvSpPr>
          <p:cNvPr id="105" name="Google Shape;105;p5"/>
          <p:cNvSpPr/>
          <p:nvPr/>
        </p:nvSpPr>
        <p:spPr>
          <a:xfrm>
            <a:off x="3813048" y="2240280"/>
            <a:ext cx="3758184"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08A5C"/>
              </a:buClr>
              <a:buSzPts val="1050"/>
              <a:buFont typeface="Calibri"/>
              <a:buNone/>
            </a:pPr>
            <a:r>
              <a:rPr b="1" i="0" lang="en-US" sz="1050" u="none" cap="none" strike="noStrike">
                <a:solidFill>
                  <a:srgbClr val="E08A5C"/>
                </a:solidFill>
                <a:latin typeface="Calibri"/>
                <a:ea typeface="Calibri"/>
                <a:cs typeface="Calibri"/>
                <a:sym typeface="Calibri"/>
              </a:rPr>
              <a:t>INCLUDED: ANALYTICAL SAMPLE</a:t>
            </a:r>
            <a:endParaRPr b="0" i="0" sz="1050" u="none" cap="none" strike="noStrike">
              <a:solidFill>
                <a:schemeClr val="dk1"/>
              </a:solidFill>
              <a:latin typeface="Calibri"/>
              <a:ea typeface="Calibri"/>
              <a:cs typeface="Calibri"/>
              <a:sym typeface="Calibri"/>
            </a:endParaRPr>
          </a:p>
        </p:txBody>
      </p:sp>
      <p:sp>
        <p:nvSpPr>
          <p:cNvPr id="106" name="Google Shape;106;p5"/>
          <p:cNvSpPr/>
          <p:nvPr/>
        </p:nvSpPr>
        <p:spPr>
          <a:xfrm>
            <a:off x="3813048" y="2496312"/>
            <a:ext cx="3758184" cy="8229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D1DBE8"/>
              </a:buClr>
              <a:buSzPts val="868"/>
              <a:buFont typeface="Calibri"/>
              <a:buNone/>
            </a:pPr>
            <a:r>
              <a:rPr b="0" i="0" lang="en-US" sz="869" u="none" cap="none" strike="noStrike">
                <a:solidFill>
                  <a:srgbClr val="D1DBE8"/>
                </a:solidFill>
                <a:latin typeface="Calibri"/>
                <a:ea typeface="Calibri"/>
                <a:cs typeface="Calibri"/>
                <a:sym typeface="Calibri"/>
              </a:rPr>
              <a:t>People in this window are more likely to have had enough time to naturalize. We removed a small group with low English and low income, since cost and test barriers likely hit them hardest.</a:t>
            </a:r>
            <a:endParaRPr b="0" i="0" sz="1050" u="none" cap="none" strike="noStrike">
              <a:solidFill>
                <a:schemeClr val="dk1"/>
              </a:solidFill>
              <a:latin typeface="Calibri"/>
              <a:ea typeface="Calibri"/>
              <a:cs typeface="Calibri"/>
              <a:sym typeface="Calibri"/>
            </a:endParaRPr>
          </a:p>
        </p:txBody>
      </p:sp>
      <p:sp>
        <p:nvSpPr>
          <p:cNvPr id="107" name="Google Shape;107;p5"/>
          <p:cNvSpPr/>
          <p:nvPr/>
        </p:nvSpPr>
        <p:spPr>
          <a:xfrm>
            <a:off x="3813048" y="3355848"/>
            <a:ext cx="3758184"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08A5C"/>
              </a:buClr>
              <a:buSzPts val="1600"/>
              <a:buFont typeface="Calibri"/>
              <a:buNone/>
            </a:pPr>
            <a:r>
              <a:rPr b="1" i="0" lang="en-US" sz="1600" u="none" cap="none" strike="noStrike">
                <a:solidFill>
                  <a:srgbClr val="E08A5C"/>
                </a:solidFill>
                <a:latin typeface="Calibri"/>
                <a:ea typeface="Calibri"/>
                <a:cs typeface="Calibri"/>
                <a:sym typeface="Calibri"/>
              </a:rPr>
              <a:t>551,818 people</a:t>
            </a:r>
            <a:endParaRPr b="0" i="0" sz="1600" u="none" cap="none" strike="noStrike">
              <a:solidFill>
                <a:schemeClr val="dk1"/>
              </a:solidFill>
              <a:latin typeface="Calibri"/>
              <a:ea typeface="Calibri"/>
              <a:cs typeface="Calibri"/>
              <a:sym typeface="Calibri"/>
            </a:endParaRPr>
          </a:p>
        </p:txBody>
      </p:sp>
      <p:sp>
        <p:nvSpPr>
          <p:cNvPr id="108" name="Google Shape;108;p5"/>
          <p:cNvSpPr/>
          <p:nvPr/>
        </p:nvSpPr>
        <p:spPr>
          <a:xfrm>
            <a:off x="8138160" y="1874520"/>
            <a:ext cx="2697480" cy="1783080"/>
          </a:xfrm>
          <a:prstGeom prst="roundRect">
            <a:avLst>
              <a:gd fmla="val 4615" name="adj"/>
            </a:avLst>
          </a:prstGeom>
          <a:solidFill>
            <a:srgbClr val="EAEEF3"/>
          </a:solidFill>
          <a:ln cap="flat" cmpd="sng" w="12700">
            <a:solidFill>
              <a:srgbClr val="EAEEF3"/>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5"/>
          <p:cNvSpPr/>
          <p:nvPr/>
        </p:nvSpPr>
        <p:spPr>
          <a:xfrm>
            <a:off x="8339328" y="2039112"/>
            <a:ext cx="2295144"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500"/>
              <a:buFont typeface="Calibri"/>
              <a:buNone/>
            </a:pPr>
            <a:r>
              <a:rPr b="1" i="0" lang="en-US" sz="1500" u="none" cap="none" strike="noStrike">
                <a:solidFill>
                  <a:srgbClr val="5B6472"/>
                </a:solidFill>
                <a:latin typeface="Calibri"/>
                <a:ea typeface="Calibri"/>
                <a:cs typeface="Calibri"/>
                <a:sym typeface="Calibri"/>
              </a:rPr>
              <a:t>21+ years</a:t>
            </a:r>
            <a:endParaRPr b="0" i="0" sz="1500" u="none" cap="none" strike="noStrike">
              <a:solidFill>
                <a:schemeClr val="dk1"/>
              </a:solidFill>
              <a:latin typeface="Calibri"/>
              <a:ea typeface="Calibri"/>
              <a:cs typeface="Calibri"/>
              <a:sym typeface="Calibri"/>
            </a:endParaRPr>
          </a:p>
        </p:txBody>
      </p:sp>
      <p:sp>
        <p:nvSpPr>
          <p:cNvPr id="110" name="Google Shape;110;p5"/>
          <p:cNvSpPr/>
          <p:nvPr/>
        </p:nvSpPr>
        <p:spPr>
          <a:xfrm>
            <a:off x="8339328" y="2331720"/>
            <a:ext cx="2295144"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552E"/>
              </a:buClr>
              <a:buSzPts val="1050"/>
              <a:buFont typeface="Calibri"/>
              <a:buNone/>
            </a:pPr>
            <a:r>
              <a:rPr b="1" i="0" lang="en-US" sz="1050" u="none" cap="none" strike="noStrike">
                <a:solidFill>
                  <a:srgbClr val="C1552E"/>
                </a:solidFill>
                <a:latin typeface="Calibri"/>
                <a:ea typeface="Calibri"/>
                <a:cs typeface="Calibri"/>
                <a:sym typeface="Calibri"/>
              </a:rPr>
              <a:t>Excluded</a:t>
            </a:r>
            <a:endParaRPr b="0" i="0" sz="1050" u="none" cap="none" strike="noStrike">
              <a:solidFill>
                <a:schemeClr val="dk1"/>
              </a:solidFill>
              <a:latin typeface="Calibri"/>
              <a:ea typeface="Calibri"/>
              <a:cs typeface="Calibri"/>
              <a:sym typeface="Calibri"/>
            </a:endParaRPr>
          </a:p>
        </p:txBody>
      </p:sp>
      <p:sp>
        <p:nvSpPr>
          <p:cNvPr id="111" name="Google Shape;111;p5"/>
          <p:cNvSpPr/>
          <p:nvPr/>
        </p:nvSpPr>
        <p:spPr>
          <a:xfrm>
            <a:off x="8339328" y="2651760"/>
            <a:ext cx="2295144"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050"/>
              <a:buFont typeface="Calibri"/>
              <a:buNone/>
            </a:pPr>
            <a:r>
              <a:rPr b="0" i="0" lang="en-US" sz="1050" u="none" cap="none" strike="noStrike">
                <a:solidFill>
                  <a:srgbClr val="5B6472"/>
                </a:solidFill>
                <a:latin typeface="Calibri"/>
                <a:ea typeface="Calibri"/>
                <a:cs typeface="Calibri"/>
                <a:sym typeface="Calibri"/>
              </a:rPr>
              <a:t>Most immigrants in this group had already naturalized. Those who had not may face long-term or unusual barriers that our dataset does not fully measure.</a:t>
            </a:r>
            <a:endParaRPr b="0" i="0" sz="1050" u="none" cap="none" strike="noStrike">
              <a:solidFill>
                <a:schemeClr val="dk1"/>
              </a:solidFill>
              <a:latin typeface="Calibri"/>
              <a:ea typeface="Calibri"/>
              <a:cs typeface="Calibri"/>
              <a:sym typeface="Calibri"/>
            </a:endParaRPr>
          </a:p>
        </p:txBody>
      </p:sp>
      <p:sp>
        <p:nvSpPr>
          <p:cNvPr id="112" name="Google Shape;112;p5"/>
          <p:cNvSpPr/>
          <p:nvPr/>
        </p:nvSpPr>
        <p:spPr>
          <a:xfrm>
            <a:off x="548640" y="3977640"/>
            <a:ext cx="10287000" cy="1325880"/>
          </a:xfrm>
          <a:prstGeom prst="roundRect">
            <a:avLst>
              <a:gd fmla="val 6207" name="adj"/>
            </a:avLst>
          </a:prstGeom>
          <a:solidFill>
            <a:srgbClr val="F7E9E3"/>
          </a:solidFill>
          <a:ln cap="flat" cmpd="sng" w="12700">
            <a:solidFill>
              <a:srgbClr val="F7E9E3"/>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5"/>
          <p:cNvSpPr/>
          <p:nvPr/>
        </p:nvSpPr>
        <p:spPr>
          <a:xfrm>
            <a:off x="822960" y="4123944"/>
            <a:ext cx="96012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552E"/>
              </a:buClr>
              <a:buSzPts val="1250"/>
              <a:buFont typeface="Calibri"/>
              <a:buNone/>
            </a:pPr>
            <a:r>
              <a:rPr b="1" i="0" lang="en-US" sz="1250" u="none" cap="none" strike="noStrike">
                <a:solidFill>
                  <a:srgbClr val="C1552E"/>
                </a:solidFill>
                <a:latin typeface="Calibri"/>
                <a:ea typeface="Calibri"/>
                <a:cs typeface="Calibri"/>
                <a:sym typeface="Calibri"/>
              </a:rPr>
              <a:t>Takeaway</a:t>
            </a:r>
            <a:endParaRPr b="0" i="0" sz="1250" u="none" cap="none" strike="noStrike">
              <a:solidFill>
                <a:schemeClr val="dk1"/>
              </a:solidFill>
              <a:latin typeface="Calibri"/>
              <a:ea typeface="Calibri"/>
              <a:cs typeface="Calibri"/>
              <a:sym typeface="Calibri"/>
            </a:endParaRPr>
          </a:p>
        </p:txBody>
      </p:sp>
      <p:sp>
        <p:nvSpPr>
          <p:cNvPr id="114" name="Google Shape;114;p5"/>
          <p:cNvSpPr/>
          <p:nvPr/>
        </p:nvSpPr>
        <p:spPr>
          <a:xfrm>
            <a:off x="822960" y="4416552"/>
            <a:ext cx="9738360" cy="82296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This sample reduces the obvious time-barrier problem, but it cannot prove why someone remained a non-citizen. Within this group, the model controls for English, education, income, age, and state to compare similar people on measured traits.</a:t>
            </a:r>
            <a:endParaRPr b="0" i="0" sz="1200" u="none" cap="none" strike="noStrike">
              <a:solidFill>
                <a:schemeClr val="dk1"/>
              </a:solidFill>
              <a:latin typeface="Calibri"/>
              <a:ea typeface="Calibri"/>
              <a:cs typeface="Calibri"/>
              <a:sym typeface="Calibri"/>
            </a:endParaRPr>
          </a:p>
        </p:txBody>
      </p:sp>
      <p:sp>
        <p:nvSpPr>
          <p:cNvPr id="115" name="Google Shape;115;p5"/>
          <p:cNvSpPr/>
          <p:nvPr/>
        </p:nvSpPr>
        <p:spPr>
          <a:xfrm>
            <a:off x="548640" y="6355080"/>
            <a:ext cx="54864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A7B8"/>
              </a:buClr>
              <a:buSzPts val="950"/>
              <a:buFont typeface="Calibri"/>
              <a:buNone/>
            </a:pPr>
            <a:r>
              <a:rPr b="0" i="0" lang="en-US" sz="950" u="none" cap="none" strike="noStrike">
                <a:solidFill>
                  <a:srgbClr val="9AA7B8"/>
                </a:solidFill>
                <a:latin typeface="Calibri"/>
                <a:ea typeface="Calibri"/>
                <a:cs typeface="Calibri"/>
                <a:sym typeface="Calibri"/>
              </a:rPr>
              <a:t>SAMPLE CONSTRUCTION</a:t>
            </a:r>
            <a:endParaRPr b="0" i="0" sz="950" u="none" cap="none" strike="noStrike">
              <a:solidFill>
                <a:schemeClr val="dk1"/>
              </a:solidFill>
              <a:latin typeface="Calibri"/>
              <a:ea typeface="Calibri"/>
              <a:cs typeface="Calibri"/>
              <a:sym typeface="Calibri"/>
            </a:endParaRPr>
          </a:p>
        </p:txBody>
      </p:sp>
      <p:sp>
        <p:nvSpPr>
          <p:cNvPr id="116" name="Google Shape;116;p5"/>
          <p:cNvSpPr/>
          <p:nvPr/>
        </p:nvSpPr>
        <p:spPr>
          <a:xfrm>
            <a:off x="11338560" y="6355080"/>
            <a:ext cx="365760" cy="25603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A7B8"/>
              </a:buClr>
              <a:buSzPts val="950"/>
              <a:buFont typeface="Calibri"/>
              <a:buNone/>
            </a:pPr>
            <a:r>
              <a:rPr b="0" i="0" lang="en-US" sz="950" u="none" cap="none" strike="noStrike">
                <a:solidFill>
                  <a:srgbClr val="9AA7B8"/>
                </a:solidFill>
                <a:latin typeface="Calibri"/>
                <a:ea typeface="Calibri"/>
                <a:cs typeface="Calibri"/>
                <a:sym typeface="Calibri"/>
              </a:rPr>
              <a:t>04</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C"/>
        </a:solidFill>
      </p:bgPr>
    </p:bg>
    <p:spTree>
      <p:nvGrpSpPr>
        <p:cNvPr id="121" name="Shape 121"/>
        <p:cNvGrpSpPr/>
        <p:nvPr/>
      </p:nvGrpSpPr>
      <p:grpSpPr>
        <a:xfrm>
          <a:off x="0" y="0"/>
          <a:ext cx="0" cy="0"/>
          <a:chOff x="0" y="0"/>
          <a:chExt cx="0" cy="0"/>
        </a:xfrm>
      </p:grpSpPr>
      <p:sp>
        <p:nvSpPr>
          <p:cNvPr id="122" name="Google Shape;122;p6"/>
          <p:cNvSpPr/>
          <p:nvPr/>
        </p:nvSpPr>
        <p:spPr>
          <a:xfrm>
            <a:off x="548640" y="384048"/>
            <a:ext cx="10058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552E"/>
              </a:buClr>
              <a:buSzPts val="1150"/>
              <a:buFont typeface="Calibri"/>
              <a:buNone/>
            </a:pPr>
            <a:r>
              <a:rPr b="1" i="0" lang="en-US" sz="1150" u="none" cap="none" strike="noStrike">
                <a:solidFill>
                  <a:srgbClr val="C1552E"/>
                </a:solidFill>
                <a:latin typeface="Calibri"/>
                <a:ea typeface="Calibri"/>
                <a:cs typeface="Calibri"/>
                <a:sym typeface="Calibri"/>
              </a:rPr>
              <a:t>MODEL DESIGN</a:t>
            </a:r>
            <a:endParaRPr b="0" i="0" sz="1150" u="none" cap="none" strike="noStrike">
              <a:solidFill>
                <a:schemeClr val="dk1"/>
              </a:solidFill>
              <a:latin typeface="Calibri"/>
              <a:ea typeface="Calibri"/>
              <a:cs typeface="Calibri"/>
              <a:sym typeface="Calibri"/>
            </a:endParaRPr>
          </a:p>
        </p:txBody>
      </p:sp>
      <p:sp>
        <p:nvSpPr>
          <p:cNvPr id="123" name="Google Shape;123;p6"/>
          <p:cNvSpPr/>
          <p:nvPr/>
        </p:nvSpPr>
        <p:spPr>
          <a:xfrm>
            <a:off x="530352" y="640080"/>
            <a:ext cx="1115568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2700"/>
              <a:buFont typeface="Cambria"/>
              <a:buNone/>
            </a:pPr>
            <a:r>
              <a:rPr b="1" i="0" lang="en-US" sz="2700" u="none" cap="none" strike="noStrike">
                <a:solidFill>
                  <a:srgbClr val="14304F"/>
                </a:solidFill>
                <a:latin typeface="Cambria"/>
                <a:ea typeface="Cambria"/>
                <a:cs typeface="Cambria"/>
                <a:sym typeface="Cambria"/>
              </a:rPr>
              <a:t>How we chose our variables</a:t>
            </a:r>
            <a:endParaRPr b="0" i="0" sz="2700" u="none" cap="none" strike="noStrike">
              <a:solidFill>
                <a:schemeClr val="dk1"/>
              </a:solidFill>
              <a:latin typeface="Calibri"/>
              <a:ea typeface="Calibri"/>
              <a:cs typeface="Calibri"/>
              <a:sym typeface="Calibri"/>
            </a:endParaRPr>
          </a:p>
        </p:txBody>
      </p:sp>
      <p:sp>
        <p:nvSpPr>
          <p:cNvPr id="124" name="Google Shape;124;p6"/>
          <p:cNvSpPr/>
          <p:nvPr/>
        </p:nvSpPr>
        <p:spPr>
          <a:xfrm>
            <a:off x="548640" y="1207008"/>
            <a:ext cx="1078992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250"/>
              <a:buFont typeface="Calibri"/>
              <a:buNone/>
            </a:pPr>
            <a:r>
              <a:rPr b="0" i="0" lang="en-US" sz="1250" u="none" cap="none" strike="noStrike">
                <a:solidFill>
                  <a:srgbClr val="5B6472"/>
                </a:solidFill>
                <a:latin typeface="Calibri"/>
                <a:ea typeface="Calibri"/>
                <a:cs typeface="Calibri"/>
                <a:sym typeface="Calibri"/>
              </a:rPr>
              <a:t>We started from the full survey and kept variables that were useful and interpretable.</a:t>
            </a:r>
            <a:endParaRPr b="0" i="0" sz="1250" u="none" cap="none" strike="noStrike">
              <a:solidFill>
                <a:schemeClr val="dk1"/>
              </a:solidFill>
              <a:latin typeface="Calibri"/>
              <a:ea typeface="Calibri"/>
              <a:cs typeface="Calibri"/>
              <a:sym typeface="Calibri"/>
            </a:endParaRPr>
          </a:p>
        </p:txBody>
      </p:sp>
      <p:sp>
        <p:nvSpPr>
          <p:cNvPr id="125" name="Google Shape;125;p6"/>
          <p:cNvSpPr/>
          <p:nvPr/>
        </p:nvSpPr>
        <p:spPr>
          <a:xfrm>
            <a:off x="548640" y="1828800"/>
            <a:ext cx="5394960" cy="1051560"/>
          </a:xfrm>
          <a:prstGeom prst="roundRect">
            <a:avLst>
              <a:gd fmla="val 7826" name="adj"/>
            </a:avLst>
          </a:prstGeom>
          <a:solidFill>
            <a:srgbClr val="FFFFFF"/>
          </a:solidFill>
          <a:ln cap="flat" cmpd="sng" w="12700">
            <a:solidFill>
              <a:srgbClr val="FFFFFF"/>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6"/>
          <p:cNvSpPr/>
          <p:nvPr/>
        </p:nvSpPr>
        <p:spPr>
          <a:xfrm>
            <a:off x="777240" y="1965960"/>
            <a:ext cx="146304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1000"/>
              <a:buFont typeface="Calibri"/>
              <a:buNone/>
            </a:pPr>
            <a:r>
              <a:rPr b="1" i="0" lang="en-US" sz="1000" u="none" cap="none" strike="noStrike">
                <a:solidFill>
                  <a:srgbClr val="14304F"/>
                </a:solidFill>
                <a:latin typeface="Calibri"/>
                <a:ea typeface="Calibri"/>
                <a:cs typeface="Calibri"/>
                <a:sym typeface="Calibri"/>
              </a:rPr>
              <a:t>GROUPED</a:t>
            </a:r>
            <a:endParaRPr b="0" i="0" sz="1000" u="none" cap="none" strike="noStrike">
              <a:solidFill>
                <a:schemeClr val="dk1"/>
              </a:solidFill>
              <a:latin typeface="Calibri"/>
              <a:ea typeface="Calibri"/>
              <a:cs typeface="Calibri"/>
              <a:sym typeface="Calibri"/>
            </a:endParaRPr>
          </a:p>
        </p:txBody>
      </p:sp>
      <p:sp>
        <p:nvSpPr>
          <p:cNvPr id="127" name="Google Shape;127;p6"/>
          <p:cNvSpPr/>
          <p:nvPr/>
        </p:nvSpPr>
        <p:spPr>
          <a:xfrm>
            <a:off x="777240" y="2194560"/>
            <a:ext cx="49377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1350"/>
              <a:buFont typeface="Calibri"/>
              <a:buNone/>
            </a:pPr>
            <a:r>
              <a:rPr b="1" i="0" lang="en-US" sz="1350" u="none" cap="none" strike="noStrike">
                <a:solidFill>
                  <a:srgbClr val="14304F"/>
                </a:solidFill>
                <a:latin typeface="Calibri"/>
                <a:ea typeface="Calibri"/>
                <a:cs typeface="Calibri"/>
                <a:sym typeface="Calibri"/>
              </a:rPr>
              <a:t>Education into 5 bands</a:t>
            </a:r>
            <a:endParaRPr b="0" i="0" sz="1350" u="none" cap="none" strike="noStrike">
              <a:solidFill>
                <a:schemeClr val="dk1"/>
              </a:solidFill>
              <a:latin typeface="Calibri"/>
              <a:ea typeface="Calibri"/>
              <a:cs typeface="Calibri"/>
              <a:sym typeface="Calibri"/>
            </a:endParaRPr>
          </a:p>
        </p:txBody>
      </p:sp>
      <p:sp>
        <p:nvSpPr>
          <p:cNvPr id="128" name="Google Shape;128;p6"/>
          <p:cNvSpPr/>
          <p:nvPr/>
        </p:nvSpPr>
        <p:spPr>
          <a:xfrm>
            <a:off x="777240" y="2450592"/>
            <a:ext cx="49377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050"/>
              <a:buFont typeface="Calibri"/>
              <a:buNone/>
            </a:pPr>
            <a:r>
              <a:rPr b="0" i="0" lang="en-US" sz="1050" u="none" cap="none" strike="noStrike">
                <a:solidFill>
                  <a:srgbClr val="5B6472"/>
                </a:solidFill>
                <a:latin typeface="Calibri"/>
                <a:ea typeface="Calibri"/>
                <a:cs typeface="Calibri"/>
                <a:sym typeface="Calibri"/>
              </a:rPr>
              <a:t>Eleven raw grade codes collapsed into Less than HS, High school, Some college, Bachelor's, and Graduate.</a:t>
            </a:r>
            <a:endParaRPr b="0" i="0" sz="1050" u="none" cap="none" strike="noStrike">
              <a:solidFill>
                <a:schemeClr val="dk1"/>
              </a:solidFill>
              <a:latin typeface="Calibri"/>
              <a:ea typeface="Calibri"/>
              <a:cs typeface="Calibri"/>
              <a:sym typeface="Calibri"/>
            </a:endParaRPr>
          </a:p>
        </p:txBody>
      </p:sp>
      <p:sp>
        <p:nvSpPr>
          <p:cNvPr id="129" name="Google Shape;129;p6"/>
          <p:cNvSpPr/>
          <p:nvPr/>
        </p:nvSpPr>
        <p:spPr>
          <a:xfrm>
            <a:off x="6217920" y="1828800"/>
            <a:ext cx="5394960" cy="1051560"/>
          </a:xfrm>
          <a:prstGeom prst="roundRect">
            <a:avLst>
              <a:gd fmla="val 7826" name="adj"/>
            </a:avLst>
          </a:prstGeom>
          <a:solidFill>
            <a:srgbClr val="FFFFFF"/>
          </a:solidFill>
          <a:ln cap="flat" cmpd="sng" w="12700">
            <a:solidFill>
              <a:srgbClr val="FFFFFF"/>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6"/>
          <p:cNvSpPr/>
          <p:nvPr/>
        </p:nvSpPr>
        <p:spPr>
          <a:xfrm>
            <a:off x="6446520" y="1965960"/>
            <a:ext cx="146304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E8F89"/>
              </a:buClr>
              <a:buSzPts val="1000"/>
              <a:buFont typeface="Calibri"/>
              <a:buNone/>
            </a:pPr>
            <a:r>
              <a:rPr b="1" i="0" lang="en-US" sz="1000" u="none" cap="none" strike="noStrike">
                <a:solidFill>
                  <a:srgbClr val="3E8F89"/>
                </a:solidFill>
                <a:latin typeface="Calibri"/>
                <a:ea typeface="Calibri"/>
                <a:cs typeface="Calibri"/>
                <a:sym typeface="Calibri"/>
              </a:rPr>
              <a:t>RELEVELED</a:t>
            </a:r>
            <a:endParaRPr b="0" i="0" sz="1000" u="none" cap="none" strike="noStrike">
              <a:solidFill>
                <a:schemeClr val="dk1"/>
              </a:solidFill>
              <a:latin typeface="Calibri"/>
              <a:ea typeface="Calibri"/>
              <a:cs typeface="Calibri"/>
              <a:sym typeface="Calibri"/>
            </a:endParaRPr>
          </a:p>
        </p:txBody>
      </p:sp>
      <p:sp>
        <p:nvSpPr>
          <p:cNvPr id="131" name="Google Shape;131;p6"/>
          <p:cNvSpPr/>
          <p:nvPr/>
        </p:nvSpPr>
        <p:spPr>
          <a:xfrm>
            <a:off x="6446520" y="2194560"/>
            <a:ext cx="49377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1350"/>
              <a:buFont typeface="Calibri"/>
              <a:buNone/>
            </a:pPr>
            <a:r>
              <a:rPr b="1" i="0" lang="en-US" sz="1350" u="none" cap="none" strike="noStrike">
                <a:solidFill>
                  <a:srgbClr val="14304F"/>
                </a:solidFill>
                <a:latin typeface="Calibri"/>
                <a:ea typeface="Calibri"/>
                <a:cs typeface="Calibri"/>
                <a:sym typeface="Calibri"/>
              </a:rPr>
              <a:t>English as an ordered factor</a:t>
            </a:r>
            <a:endParaRPr b="0" i="0" sz="1350" u="none" cap="none" strike="noStrike">
              <a:solidFill>
                <a:schemeClr val="dk1"/>
              </a:solidFill>
              <a:latin typeface="Calibri"/>
              <a:ea typeface="Calibri"/>
              <a:cs typeface="Calibri"/>
              <a:sym typeface="Calibri"/>
            </a:endParaRPr>
          </a:p>
        </p:txBody>
      </p:sp>
      <p:sp>
        <p:nvSpPr>
          <p:cNvPr id="132" name="Google Shape;132;p6"/>
          <p:cNvSpPr/>
          <p:nvPr/>
        </p:nvSpPr>
        <p:spPr>
          <a:xfrm>
            <a:off x="6446520" y="2450592"/>
            <a:ext cx="49377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050"/>
              <a:buFont typeface="Calibri"/>
              <a:buNone/>
            </a:pPr>
            <a:r>
              <a:rPr b="0" i="0" lang="en-US" sz="1050" u="none" cap="none" strike="noStrike">
                <a:solidFill>
                  <a:srgbClr val="5B6472"/>
                </a:solidFill>
                <a:latin typeface="Calibri"/>
                <a:ea typeface="Calibri"/>
                <a:cs typeface="Calibri"/>
                <a:sym typeface="Calibri"/>
              </a:rPr>
              <a:t>English was ordered from weakest to strongest so the model reads it correctly.</a:t>
            </a:r>
            <a:endParaRPr b="0" i="0" sz="1050" u="none" cap="none" strike="noStrike">
              <a:solidFill>
                <a:schemeClr val="dk1"/>
              </a:solidFill>
              <a:latin typeface="Calibri"/>
              <a:ea typeface="Calibri"/>
              <a:cs typeface="Calibri"/>
              <a:sym typeface="Calibri"/>
            </a:endParaRPr>
          </a:p>
        </p:txBody>
      </p:sp>
      <p:sp>
        <p:nvSpPr>
          <p:cNvPr id="133" name="Google Shape;133;p6"/>
          <p:cNvSpPr/>
          <p:nvPr/>
        </p:nvSpPr>
        <p:spPr>
          <a:xfrm>
            <a:off x="548640" y="3063240"/>
            <a:ext cx="5394960" cy="1051560"/>
          </a:xfrm>
          <a:prstGeom prst="roundRect">
            <a:avLst>
              <a:gd fmla="val 7826" name="adj"/>
            </a:avLst>
          </a:prstGeom>
          <a:solidFill>
            <a:srgbClr val="FFFFFF"/>
          </a:solidFill>
          <a:ln cap="flat" cmpd="sng" w="12700">
            <a:solidFill>
              <a:srgbClr val="FFFFFF"/>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6"/>
          <p:cNvSpPr/>
          <p:nvPr/>
        </p:nvSpPr>
        <p:spPr>
          <a:xfrm>
            <a:off x="777240" y="3200400"/>
            <a:ext cx="146304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552E"/>
              </a:buClr>
              <a:buSzPts val="1000"/>
              <a:buFont typeface="Calibri"/>
              <a:buNone/>
            </a:pPr>
            <a:r>
              <a:rPr b="1" i="0" lang="en-US" sz="1000" u="none" cap="none" strike="noStrike">
                <a:solidFill>
                  <a:srgbClr val="C1552E"/>
                </a:solidFill>
                <a:latin typeface="Calibri"/>
                <a:ea typeface="Calibri"/>
                <a:cs typeface="Calibri"/>
                <a:sym typeface="Calibri"/>
              </a:rPr>
              <a:t>DROPPED</a:t>
            </a:r>
            <a:endParaRPr b="0" i="0" sz="1000" u="none" cap="none" strike="noStrike">
              <a:solidFill>
                <a:schemeClr val="dk1"/>
              </a:solidFill>
              <a:latin typeface="Calibri"/>
              <a:ea typeface="Calibri"/>
              <a:cs typeface="Calibri"/>
              <a:sym typeface="Calibri"/>
            </a:endParaRPr>
          </a:p>
        </p:txBody>
      </p:sp>
      <p:sp>
        <p:nvSpPr>
          <p:cNvPr id="135" name="Google Shape;135;p6"/>
          <p:cNvSpPr/>
          <p:nvPr/>
        </p:nvSpPr>
        <p:spPr>
          <a:xfrm>
            <a:off x="777240" y="3429000"/>
            <a:ext cx="49377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1350"/>
              <a:buFont typeface="Calibri"/>
              <a:buNone/>
            </a:pPr>
            <a:r>
              <a:rPr b="1" i="0" lang="en-US" sz="1350" u="none" cap="none" strike="noStrike">
                <a:solidFill>
                  <a:srgbClr val="14304F"/>
                </a:solidFill>
                <a:latin typeface="Calibri"/>
                <a:ea typeface="Calibri"/>
                <a:cs typeface="Calibri"/>
                <a:sym typeface="Calibri"/>
              </a:rPr>
              <a:t>Occupation and industry</a:t>
            </a:r>
            <a:endParaRPr b="0" i="0" sz="1350" u="none" cap="none" strike="noStrike">
              <a:solidFill>
                <a:schemeClr val="dk1"/>
              </a:solidFill>
              <a:latin typeface="Calibri"/>
              <a:ea typeface="Calibri"/>
              <a:cs typeface="Calibri"/>
              <a:sym typeface="Calibri"/>
            </a:endParaRPr>
          </a:p>
        </p:txBody>
      </p:sp>
      <p:sp>
        <p:nvSpPr>
          <p:cNvPr id="136" name="Google Shape;136;p6"/>
          <p:cNvSpPr/>
          <p:nvPr/>
        </p:nvSpPr>
        <p:spPr>
          <a:xfrm>
            <a:off x="777240" y="3685032"/>
            <a:ext cx="49377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050"/>
              <a:buFont typeface="Calibri"/>
              <a:buNone/>
            </a:pPr>
            <a:r>
              <a:rPr b="0" i="0" lang="en-US" sz="1050" u="none" cap="none" strike="noStrike">
                <a:solidFill>
                  <a:srgbClr val="5B6472"/>
                </a:solidFill>
                <a:latin typeface="Calibri"/>
                <a:ea typeface="Calibri"/>
                <a:cs typeface="Calibri"/>
                <a:sym typeface="Calibri"/>
              </a:rPr>
              <a:t>Hundreds of categories each, which would make the model harder to interpret.</a:t>
            </a:r>
            <a:endParaRPr b="0" i="0" sz="1050" u="none" cap="none" strike="noStrike">
              <a:solidFill>
                <a:schemeClr val="dk1"/>
              </a:solidFill>
              <a:latin typeface="Calibri"/>
              <a:ea typeface="Calibri"/>
              <a:cs typeface="Calibri"/>
              <a:sym typeface="Calibri"/>
            </a:endParaRPr>
          </a:p>
        </p:txBody>
      </p:sp>
      <p:sp>
        <p:nvSpPr>
          <p:cNvPr id="137" name="Google Shape;137;p6"/>
          <p:cNvSpPr/>
          <p:nvPr/>
        </p:nvSpPr>
        <p:spPr>
          <a:xfrm>
            <a:off x="6217920" y="3063240"/>
            <a:ext cx="5394960" cy="1051560"/>
          </a:xfrm>
          <a:prstGeom prst="roundRect">
            <a:avLst>
              <a:gd fmla="val 7826" name="adj"/>
            </a:avLst>
          </a:prstGeom>
          <a:solidFill>
            <a:srgbClr val="FFFFFF"/>
          </a:solidFill>
          <a:ln cap="flat" cmpd="sng" w="12700">
            <a:solidFill>
              <a:srgbClr val="FFFFFF"/>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6"/>
          <p:cNvSpPr/>
          <p:nvPr/>
        </p:nvSpPr>
        <p:spPr>
          <a:xfrm>
            <a:off x="6446520" y="3200400"/>
            <a:ext cx="146304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552E"/>
              </a:buClr>
              <a:buSzPts val="1000"/>
              <a:buFont typeface="Calibri"/>
              <a:buNone/>
            </a:pPr>
            <a:r>
              <a:rPr b="1" i="0" lang="en-US" sz="1000" u="none" cap="none" strike="noStrike">
                <a:solidFill>
                  <a:srgbClr val="C1552E"/>
                </a:solidFill>
                <a:latin typeface="Calibri"/>
                <a:ea typeface="Calibri"/>
                <a:cs typeface="Calibri"/>
                <a:sym typeface="Calibri"/>
              </a:rPr>
              <a:t>DROPPED</a:t>
            </a:r>
            <a:endParaRPr b="0" i="0" sz="1000" u="none" cap="none" strike="noStrike">
              <a:solidFill>
                <a:schemeClr val="dk1"/>
              </a:solidFill>
              <a:latin typeface="Calibri"/>
              <a:ea typeface="Calibri"/>
              <a:cs typeface="Calibri"/>
              <a:sym typeface="Calibri"/>
            </a:endParaRPr>
          </a:p>
        </p:txBody>
      </p:sp>
      <p:sp>
        <p:nvSpPr>
          <p:cNvPr id="139" name="Google Shape;139;p6"/>
          <p:cNvSpPr/>
          <p:nvPr/>
        </p:nvSpPr>
        <p:spPr>
          <a:xfrm>
            <a:off x="6446520" y="3429000"/>
            <a:ext cx="49377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1350"/>
              <a:buFont typeface="Calibri"/>
              <a:buNone/>
            </a:pPr>
            <a:r>
              <a:rPr b="1" i="0" lang="en-US" sz="1350" u="none" cap="none" strike="noStrike">
                <a:solidFill>
                  <a:srgbClr val="14304F"/>
                </a:solidFill>
                <a:latin typeface="Calibri"/>
                <a:ea typeface="Calibri"/>
                <a:cs typeface="Calibri"/>
                <a:sym typeface="Calibri"/>
              </a:rPr>
              <a:t>Age at immigration</a:t>
            </a:r>
            <a:endParaRPr b="0" i="0" sz="1350" u="none" cap="none" strike="noStrike">
              <a:solidFill>
                <a:schemeClr val="dk1"/>
              </a:solidFill>
              <a:latin typeface="Calibri"/>
              <a:ea typeface="Calibri"/>
              <a:cs typeface="Calibri"/>
              <a:sym typeface="Calibri"/>
            </a:endParaRPr>
          </a:p>
        </p:txBody>
      </p:sp>
      <p:sp>
        <p:nvSpPr>
          <p:cNvPr id="140" name="Google Shape;140;p6"/>
          <p:cNvSpPr/>
          <p:nvPr/>
        </p:nvSpPr>
        <p:spPr>
          <a:xfrm>
            <a:off x="6446520" y="3685032"/>
            <a:ext cx="49377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050"/>
              <a:buFont typeface="Calibri"/>
              <a:buNone/>
            </a:pPr>
            <a:r>
              <a:rPr b="0" i="0" lang="en-US" sz="1050" u="none" cap="none" strike="noStrike">
                <a:solidFill>
                  <a:srgbClr val="5B6472"/>
                </a:solidFill>
                <a:latin typeface="Calibri"/>
                <a:ea typeface="Calibri"/>
                <a:cs typeface="Calibri"/>
                <a:sym typeface="Calibri"/>
              </a:rPr>
              <a:t>Equals age minus years in the U.S. Keeping it would double-count the same information.</a:t>
            </a:r>
            <a:endParaRPr b="0" i="0" sz="1050" u="none" cap="none" strike="noStrike">
              <a:solidFill>
                <a:schemeClr val="dk1"/>
              </a:solidFill>
              <a:latin typeface="Calibri"/>
              <a:ea typeface="Calibri"/>
              <a:cs typeface="Calibri"/>
              <a:sym typeface="Calibri"/>
            </a:endParaRPr>
          </a:p>
        </p:txBody>
      </p:sp>
      <p:sp>
        <p:nvSpPr>
          <p:cNvPr id="141" name="Google Shape;141;p6"/>
          <p:cNvSpPr/>
          <p:nvPr/>
        </p:nvSpPr>
        <p:spPr>
          <a:xfrm>
            <a:off x="548640" y="4343400"/>
            <a:ext cx="11064240" cy="1691640"/>
          </a:xfrm>
          <a:prstGeom prst="roundRect">
            <a:avLst>
              <a:gd fmla="val 4865" name="adj"/>
            </a:avLst>
          </a:prstGeom>
          <a:solidFill>
            <a:srgbClr val="EAEEF3"/>
          </a:solidFill>
          <a:ln cap="flat" cmpd="sng" w="12700">
            <a:solidFill>
              <a:srgbClr val="EAEEF3"/>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6"/>
          <p:cNvSpPr/>
          <p:nvPr/>
        </p:nvSpPr>
        <p:spPr>
          <a:xfrm>
            <a:off x="822960" y="4489704"/>
            <a:ext cx="10515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1350"/>
              <a:buFont typeface="Calibri"/>
              <a:buNone/>
            </a:pPr>
            <a:r>
              <a:rPr b="1" i="0" lang="en-US" sz="1350" u="none" cap="none" strike="noStrike">
                <a:solidFill>
                  <a:srgbClr val="14304F"/>
                </a:solidFill>
                <a:latin typeface="Calibri"/>
                <a:ea typeface="Calibri"/>
                <a:cs typeface="Calibri"/>
                <a:sym typeface="Calibri"/>
              </a:rPr>
              <a:t>What's actually in the model: 15 survey fields → 81 columns</a:t>
            </a:r>
            <a:endParaRPr b="0" i="0" sz="1350" u="none" cap="none" strike="noStrike">
              <a:solidFill>
                <a:schemeClr val="dk1"/>
              </a:solidFill>
              <a:latin typeface="Calibri"/>
              <a:ea typeface="Calibri"/>
              <a:cs typeface="Calibri"/>
              <a:sym typeface="Calibri"/>
            </a:endParaRPr>
          </a:p>
        </p:txBody>
      </p:sp>
      <p:sp>
        <p:nvSpPr>
          <p:cNvPr id="143" name="Google Shape;143;p6"/>
          <p:cNvSpPr/>
          <p:nvPr/>
        </p:nvSpPr>
        <p:spPr>
          <a:xfrm>
            <a:off x="822960" y="4764024"/>
            <a:ext cx="10515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050"/>
              <a:buFont typeface="Calibri"/>
              <a:buNone/>
            </a:pPr>
            <a:r>
              <a:rPr b="0" i="0" lang="en-US" sz="1050" u="none" cap="none" strike="noStrike">
                <a:solidFill>
                  <a:srgbClr val="5B6472"/>
                </a:solidFill>
                <a:latin typeface="Calibri"/>
                <a:ea typeface="Calibri"/>
                <a:cs typeface="Calibri"/>
                <a:sym typeface="Calibri"/>
              </a:rPr>
              <a:t>A model column is not always a separate survey question. Categories like race or state need one column per category.</a:t>
            </a:r>
            <a:endParaRPr b="0" i="0" sz="1050" u="none" cap="none" strike="noStrike">
              <a:solidFill>
                <a:schemeClr val="dk1"/>
              </a:solidFill>
              <a:latin typeface="Calibri"/>
              <a:ea typeface="Calibri"/>
              <a:cs typeface="Calibri"/>
              <a:sym typeface="Calibri"/>
            </a:endParaRPr>
          </a:p>
        </p:txBody>
      </p:sp>
      <p:sp>
        <p:nvSpPr>
          <p:cNvPr id="144" name="Google Shape;144;p6"/>
          <p:cNvSpPr/>
          <p:nvPr/>
        </p:nvSpPr>
        <p:spPr>
          <a:xfrm>
            <a:off x="822960" y="5093208"/>
            <a:ext cx="512064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E8F89"/>
              </a:buClr>
              <a:buSzPts val="950"/>
              <a:buFont typeface="Calibri"/>
              <a:buNone/>
            </a:pPr>
            <a:r>
              <a:rPr b="1" i="0" lang="en-US" sz="950" u="none" cap="none" strike="noStrike">
                <a:solidFill>
                  <a:srgbClr val="3E8F89"/>
                </a:solidFill>
                <a:latin typeface="Calibri"/>
                <a:ea typeface="Calibri"/>
                <a:cs typeface="Calibri"/>
                <a:sym typeface="Calibri"/>
              </a:rPr>
              <a:t>USED DIRECTLY: 10 FIELDS</a:t>
            </a:r>
            <a:endParaRPr b="0" i="0" sz="950" u="none" cap="none" strike="noStrike">
              <a:solidFill>
                <a:schemeClr val="dk1"/>
              </a:solidFill>
              <a:latin typeface="Calibri"/>
              <a:ea typeface="Calibri"/>
              <a:cs typeface="Calibri"/>
              <a:sym typeface="Calibri"/>
            </a:endParaRPr>
          </a:p>
        </p:txBody>
      </p:sp>
      <p:sp>
        <p:nvSpPr>
          <p:cNvPr id="145" name="Google Shape;145;p6"/>
          <p:cNvSpPr/>
          <p:nvPr/>
        </p:nvSpPr>
        <p:spPr>
          <a:xfrm>
            <a:off x="822960" y="5330952"/>
            <a:ext cx="512064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1000"/>
              <a:buFont typeface="Calibri"/>
              <a:buNone/>
            </a:pPr>
            <a:r>
              <a:rPr b="0" i="0" lang="en-US" sz="1000" u="none" cap="none" strike="noStrike">
                <a:solidFill>
                  <a:srgbClr val="222222"/>
                </a:solidFill>
                <a:latin typeface="Calibri"/>
                <a:ea typeface="Calibri"/>
                <a:cs typeface="Calibri"/>
                <a:sym typeface="Calibri"/>
              </a:rPr>
              <a:t>Age · years in the U.S. · wage income · household income · poverty ratio · sex · homeownership · metro area · number of children · household size</a:t>
            </a:r>
            <a:endParaRPr b="0" i="0" sz="1000" u="none" cap="none" strike="noStrike">
              <a:solidFill>
                <a:schemeClr val="dk1"/>
              </a:solidFill>
              <a:latin typeface="Calibri"/>
              <a:ea typeface="Calibri"/>
              <a:cs typeface="Calibri"/>
              <a:sym typeface="Calibri"/>
            </a:endParaRPr>
          </a:p>
        </p:txBody>
      </p:sp>
      <p:sp>
        <p:nvSpPr>
          <p:cNvPr id="146" name="Google Shape;146;p6"/>
          <p:cNvSpPr/>
          <p:nvPr/>
        </p:nvSpPr>
        <p:spPr>
          <a:xfrm>
            <a:off x="6217920" y="5093208"/>
            <a:ext cx="512064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552E"/>
              </a:buClr>
              <a:buSzPts val="950"/>
              <a:buFont typeface="Calibri"/>
              <a:buNone/>
            </a:pPr>
            <a:r>
              <a:rPr b="1" i="0" lang="en-US" sz="950" u="none" cap="none" strike="noStrike">
                <a:solidFill>
                  <a:srgbClr val="C1552E"/>
                </a:solidFill>
                <a:latin typeface="Calibri"/>
                <a:ea typeface="Calibri"/>
                <a:cs typeface="Calibri"/>
                <a:sym typeface="Calibri"/>
              </a:rPr>
              <a:t>EXPANDED INTO CATEGORY COLUMNS</a:t>
            </a:r>
            <a:endParaRPr b="0" i="0" sz="950" u="none" cap="none" strike="noStrike">
              <a:solidFill>
                <a:schemeClr val="dk1"/>
              </a:solidFill>
              <a:latin typeface="Calibri"/>
              <a:ea typeface="Calibri"/>
              <a:cs typeface="Calibri"/>
              <a:sym typeface="Calibri"/>
            </a:endParaRPr>
          </a:p>
        </p:txBody>
      </p:sp>
      <p:sp>
        <p:nvSpPr>
          <p:cNvPr id="147" name="Google Shape;147;p6"/>
          <p:cNvSpPr/>
          <p:nvPr/>
        </p:nvSpPr>
        <p:spPr>
          <a:xfrm>
            <a:off x="6217920" y="5330952"/>
            <a:ext cx="512064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1000"/>
              <a:buFont typeface="Calibri"/>
              <a:buNone/>
            </a:pPr>
            <a:r>
              <a:rPr b="0" i="0" lang="en-US" sz="1000" u="none" cap="none" strike="noStrike">
                <a:solidFill>
                  <a:srgbClr val="222222"/>
                </a:solidFill>
                <a:latin typeface="Calibri"/>
                <a:ea typeface="Calibri"/>
                <a:cs typeface="Calibri"/>
                <a:sym typeface="Calibri"/>
              </a:rPr>
              <a:t>English proficiency (4) · education band (4) · race (8) · marital status (5) · state (50)</a:t>
            </a:r>
            <a:endParaRPr b="0" i="0" sz="1000" u="none" cap="none" strike="noStrike">
              <a:solidFill>
                <a:schemeClr val="dk1"/>
              </a:solidFill>
              <a:latin typeface="Calibri"/>
              <a:ea typeface="Calibri"/>
              <a:cs typeface="Calibri"/>
              <a:sym typeface="Calibri"/>
            </a:endParaRPr>
          </a:p>
        </p:txBody>
      </p:sp>
      <p:sp>
        <p:nvSpPr>
          <p:cNvPr id="148" name="Google Shape;148;p6"/>
          <p:cNvSpPr/>
          <p:nvPr/>
        </p:nvSpPr>
        <p:spPr>
          <a:xfrm>
            <a:off x="548640" y="6355080"/>
            <a:ext cx="54864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A7B8"/>
              </a:buClr>
              <a:buSzPts val="950"/>
              <a:buFont typeface="Calibri"/>
              <a:buNone/>
            </a:pPr>
            <a:r>
              <a:rPr b="0" i="0" lang="en-US" sz="950" u="none" cap="none" strike="noStrike">
                <a:solidFill>
                  <a:srgbClr val="9AA7B8"/>
                </a:solidFill>
                <a:latin typeface="Calibri"/>
                <a:ea typeface="Calibri"/>
                <a:cs typeface="Calibri"/>
                <a:sym typeface="Calibri"/>
              </a:rPr>
              <a:t>VARIABLE SELECTION</a:t>
            </a:r>
            <a:endParaRPr b="0" i="0" sz="950" u="none" cap="none" strike="noStrike">
              <a:solidFill>
                <a:schemeClr val="dk1"/>
              </a:solidFill>
              <a:latin typeface="Calibri"/>
              <a:ea typeface="Calibri"/>
              <a:cs typeface="Calibri"/>
              <a:sym typeface="Calibri"/>
            </a:endParaRPr>
          </a:p>
        </p:txBody>
      </p:sp>
      <p:sp>
        <p:nvSpPr>
          <p:cNvPr id="149" name="Google Shape;149;p6"/>
          <p:cNvSpPr/>
          <p:nvPr/>
        </p:nvSpPr>
        <p:spPr>
          <a:xfrm>
            <a:off x="11338560" y="6355080"/>
            <a:ext cx="365760" cy="25603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A7B8"/>
              </a:buClr>
              <a:buSzPts val="950"/>
              <a:buFont typeface="Calibri"/>
              <a:buNone/>
            </a:pPr>
            <a:r>
              <a:rPr b="0" i="0" lang="en-US" sz="950" u="none" cap="none" strike="noStrike">
                <a:solidFill>
                  <a:srgbClr val="9AA7B8"/>
                </a:solidFill>
                <a:latin typeface="Calibri"/>
                <a:ea typeface="Calibri"/>
                <a:cs typeface="Calibri"/>
                <a:sym typeface="Calibri"/>
              </a:rPr>
              <a:t>05</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C"/>
        </a:solidFill>
      </p:bgPr>
    </p:bg>
    <p:spTree>
      <p:nvGrpSpPr>
        <p:cNvPr id="154" name="Shape 154"/>
        <p:cNvGrpSpPr/>
        <p:nvPr/>
      </p:nvGrpSpPr>
      <p:grpSpPr>
        <a:xfrm>
          <a:off x="0" y="0"/>
          <a:ext cx="0" cy="0"/>
          <a:chOff x="0" y="0"/>
          <a:chExt cx="0" cy="0"/>
        </a:xfrm>
      </p:grpSpPr>
      <p:sp>
        <p:nvSpPr>
          <p:cNvPr id="155" name="Google Shape;155;p17"/>
          <p:cNvSpPr/>
          <p:nvPr/>
        </p:nvSpPr>
        <p:spPr>
          <a:xfrm>
            <a:off x="548640" y="384048"/>
            <a:ext cx="10058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552E"/>
              </a:buClr>
              <a:buSzPts val="1150"/>
              <a:buFont typeface="Calibri"/>
              <a:buNone/>
            </a:pPr>
            <a:r>
              <a:rPr b="1" i="0" lang="en-US" sz="1150" u="none" cap="none" strike="noStrike">
                <a:solidFill>
                  <a:srgbClr val="C1552E"/>
                </a:solidFill>
                <a:latin typeface="Calibri"/>
                <a:ea typeface="Calibri"/>
                <a:cs typeface="Calibri"/>
                <a:sym typeface="Calibri"/>
              </a:rPr>
              <a:t>HOW WE WORKED</a:t>
            </a:r>
            <a:endParaRPr b="0" i="0" sz="1150" u="none" cap="none" strike="noStrike">
              <a:solidFill>
                <a:schemeClr val="dk1"/>
              </a:solidFill>
              <a:latin typeface="Calibri"/>
              <a:ea typeface="Calibri"/>
              <a:cs typeface="Calibri"/>
              <a:sym typeface="Calibri"/>
            </a:endParaRPr>
          </a:p>
        </p:txBody>
      </p:sp>
      <p:sp>
        <p:nvSpPr>
          <p:cNvPr id="156" name="Google Shape;156;p17"/>
          <p:cNvSpPr/>
          <p:nvPr/>
        </p:nvSpPr>
        <p:spPr>
          <a:xfrm>
            <a:off x="530352" y="640080"/>
            <a:ext cx="111558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2700"/>
              <a:buFont typeface="Cambria"/>
              <a:buNone/>
            </a:pPr>
            <a:r>
              <a:rPr b="1" i="0" lang="en-US" sz="2700" u="none" cap="none" strike="noStrike">
                <a:solidFill>
                  <a:srgbClr val="14304F"/>
                </a:solidFill>
                <a:latin typeface="Cambria"/>
                <a:ea typeface="Cambria"/>
                <a:cs typeface="Cambria"/>
                <a:sym typeface="Cambria"/>
              </a:rPr>
              <a:t>Our analysis pipeline</a:t>
            </a:r>
            <a:endParaRPr b="0" i="0" sz="2700" u="none" cap="none" strike="noStrike">
              <a:solidFill>
                <a:schemeClr val="dk1"/>
              </a:solidFill>
              <a:latin typeface="Calibri"/>
              <a:ea typeface="Calibri"/>
              <a:cs typeface="Calibri"/>
              <a:sym typeface="Calibri"/>
            </a:endParaRPr>
          </a:p>
        </p:txBody>
      </p:sp>
      <p:sp>
        <p:nvSpPr>
          <p:cNvPr id="157" name="Google Shape;157;p17"/>
          <p:cNvSpPr/>
          <p:nvPr/>
        </p:nvSpPr>
        <p:spPr>
          <a:xfrm>
            <a:off x="1554480" y="2468880"/>
            <a:ext cx="1463100" cy="914400"/>
          </a:xfrm>
          <a:prstGeom prst="roundRect">
            <a:avLst>
              <a:gd fmla="val 9000" name="adj"/>
            </a:avLst>
          </a:prstGeom>
          <a:solidFill>
            <a:srgbClr val="14304F"/>
          </a:solidFill>
          <a:ln cap="flat" cmpd="sng" w="12700">
            <a:solidFill>
              <a:srgbClr val="1430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17"/>
          <p:cNvSpPr/>
          <p:nvPr/>
        </p:nvSpPr>
        <p:spPr>
          <a:xfrm>
            <a:off x="1554480" y="2468880"/>
            <a:ext cx="1463100" cy="914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EDA</a:t>
            </a:r>
            <a:endParaRPr b="0" i="0" sz="1350" u="none" cap="none" strike="noStrike">
              <a:solidFill>
                <a:schemeClr val="dk1"/>
              </a:solidFill>
              <a:latin typeface="Calibri"/>
              <a:ea typeface="Calibri"/>
              <a:cs typeface="Calibri"/>
              <a:sym typeface="Calibri"/>
            </a:endParaRPr>
          </a:p>
        </p:txBody>
      </p:sp>
      <p:sp>
        <p:nvSpPr>
          <p:cNvPr id="159" name="Google Shape;159;p17"/>
          <p:cNvSpPr/>
          <p:nvPr/>
        </p:nvSpPr>
        <p:spPr>
          <a:xfrm>
            <a:off x="3017520" y="2468880"/>
            <a:ext cx="457200" cy="914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A7B8"/>
              </a:buClr>
              <a:buSzPts val="1800"/>
              <a:buFont typeface="Calibri"/>
              <a:buNone/>
            </a:pPr>
            <a:r>
              <a:rPr b="0" i="0" lang="en-US" sz="1800" u="none" cap="none" strike="noStrike">
                <a:solidFill>
                  <a:srgbClr val="9AA7B8"/>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160" name="Google Shape;160;p17"/>
          <p:cNvSpPr/>
          <p:nvPr/>
        </p:nvSpPr>
        <p:spPr>
          <a:xfrm>
            <a:off x="3474720" y="2468880"/>
            <a:ext cx="1463100" cy="914400"/>
          </a:xfrm>
          <a:prstGeom prst="roundRect">
            <a:avLst>
              <a:gd fmla="val 9000" name="adj"/>
            </a:avLst>
          </a:prstGeom>
          <a:solidFill>
            <a:srgbClr val="14304F"/>
          </a:solidFill>
          <a:ln cap="flat" cmpd="sng" w="12700">
            <a:solidFill>
              <a:srgbClr val="1430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17"/>
          <p:cNvSpPr/>
          <p:nvPr/>
        </p:nvSpPr>
        <p:spPr>
          <a:xfrm>
            <a:off x="3474720" y="2468880"/>
            <a:ext cx="1463100" cy="914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LASSO</a:t>
            </a:r>
            <a:endParaRPr b="0" i="0" sz="1350" u="none" cap="none" strike="noStrike">
              <a:solidFill>
                <a:schemeClr val="dk1"/>
              </a:solidFill>
              <a:latin typeface="Calibri"/>
              <a:ea typeface="Calibri"/>
              <a:cs typeface="Calibri"/>
              <a:sym typeface="Calibri"/>
            </a:endParaRPr>
          </a:p>
        </p:txBody>
      </p:sp>
      <p:sp>
        <p:nvSpPr>
          <p:cNvPr id="162" name="Google Shape;162;p17"/>
          <p:cNvSpPr/>
          <p:nvPr/>
        </p:nvSpPr>
        <p:spPr>
          <a:xfrm>
            <a:off x="4937760" y="2468880"/>
            <a:ext cx="457200" cy="914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A7B8"/>
              </a:buClr>
              <a:buSzPts val="1800"/>
              <a:buFont typeface="Calibri"/>
              <a:buNone/>
            </a:pPr>
            <a:r>
              <a:rPr b="0" i="0" lang="en-US" sz="1800" u="none" cap="none" strike="noStrike">
                <a:solidFill>
                  <a:srgbClr val="9AA7B8"/>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163" name="Google Shape;163;p17"/>
          <p:cNvSpPr/>
          <p:nvPr/>
        </p:nvSpPr>
        <p:spPr>
          <a:xfrm>
            <a:off x="5394960" y="2468880"/>
            <a:ext cx="1463100" cy="914400"/>
          </a:xfrm>
          <a:prstGeom prst="roundRect">
            <a:avLst>
              <a:gd fmla="val 9000" name="adj"/>
            </a:avLst>
          </a:prstGeom>
          <a:solidFill>
            <a:srgbClr val="14304F"/>
          </a:solidFill>
          <a:ln cap="flat" cmpd="sng" w="12700">
            <a:solidFill>
              <a:srgbClr val="1430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17"/>
          <p:cNvSpPr/>
          <p:nvPr/>
        </p:nvSpPr>
        <p:spPr>
          <a:xfrm>
            <a:off x="5394960" y="2468880"/>
            <a:ext cx="1463100" cy="914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Logistic</a:t>
            </a:r>
            <a:endParaRPr b="0" i="0" sz="1350" u="none" cap="none" strike="noStrike">
              <a:solidFill>
                <a:schemeClr val="dk1"/>
              </a:solidFill>
              <a:latin typeface="Calibri"/>
              <a:ea typeface="Calibri"/>
              <a:cs typeface="Calibri"/>
              <a:sym typeface="Calibri"/>
            </a:endParaRPr>
          </a:p>
        </p:txBody>
      </p:sp>
      <p:sp>
        <p:nvSpPr>
          <p:cNvPr id="165" name="Google Shape;165;p17"/>
          <p:cNvSpPr/>
          <p:nvPr/>
        </p:nvSpPr>
        <p:spPr>
          <a:xfrm>
            <a:off x="6858000" y="2468880"/>
            <a:ext cx="457200" cy="914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A7B8"/>
              </a:buClr>
              <a:buSzPts val="1800"/>
              <a:buFont typeface="Calibri"/>
              <a:buNone/>
            </a:pPr>
            <a:r>
              <a:rPr b="0" i="0" lang="en-US" sz="1800" u="none" cap="none" strike="noStrike">
                <a:solidFill>
                  <a:srgbClr val="9AA7B8"/>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166" name="Google Shape;166;p17"/>
          <p:cNvSpPr/>
          <p:nvPr/>
        </p:nvSpPr>
        <p:spPr>
          <a:xfrm>
            <a:off x="7315200" y="2468880"/>
            <a:ext cx="1463100" cy="914400"/>
          </a:xfrm>
          <a:prstGeom prst="roundRect">
            <a:avLst>
              <a:gd fmla="val 9000" name="adj"/>
            </a:avLst>
          </a:prstGeom>
          <a:solidFill>
            <a:srgbClr val="3E8F89"/>
          </a:solidFill>
          <a:ln cap="flat" cmpd="sng" w="12700">
            <a:solidFill>
              <a:srgbClr val="3E8F8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17"/>
          <p:cNvSpPr/>
          <p:nvPr/>
        </p:nvSpPr>
        <p:spPr>
          <a:xfrm>
            <a:off x="7315200" y="2468880"/>
            <a:ext cx="1463100" cy="914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Tree /</a:t>
            </a:r>
            <a:endParaRPr b="0" i="0" sz="13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Forest</a:t>
            </a:r>
            <a:endParaRPr b="0" i="0" sz="1350" u="none" cap="none" strike="noStrike">
              <a:solidFill>
                <a:schemeClr val="dk1"/>
              </a:solidFill>
              <a:latin typeface="Calibri"/>
              <a:ea typeface="Calibri"/>
              <a:cs typeface="Calibri"/>
              <a:sym typeface="Calibri"/>
            </a:endParaRPr>
          </a:p>
        </p:txBody>
      </p:sp>
      <p:sp>
        <p:nvSpPr>
          <p:cNvPr id="168" name="Google Shape;168;p17"/>
          <p:cNvSpPr/>
          <p:nvPr/>
        </p:nvSpPr>
        <p:spPr>
          <a:xfrm>
            <a:off x="8778240" y="2468880"/>
            <a:ext cx="457200" cy="914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A7B8"/>
              </a:buClr>
              <a:buSzPts val="1800"/>
              <a:buFont typeface="Calibri"/>
              <a:buNone/>
            </a:pPr>
            <a:r>
              <a:rPr b="0" i="0" lang="en-US" sz="1800" u="none" cap="none" strike="noStrike">
                <a:solidFill>
                  <a:srgbClr val="9AA7B8"/>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169" name="Google Shape;169;p17"/>
          <p:cNvSpPr/>
          <p:nvPr/>
        </p:nvSpPr>
        <p:spPr>
          <a:xfrm>
            <a:off x="9235440" y="2468880"/>
            <a:ext cx="1463100" cy="914400"/>
          </a:xfrm>
          <a:prstGeom prst="roundRect">
            <a:avLst>
              <a:gd fmla="val 9000" name="adj"/>
            </a:avLst>
          </a:prstGeom>
          <a:solidFill>
            <a:srgbClr val="3E8F89"/>
          </a:solidFill>
          <a:ln cap="flat" cmpd="sng" w="12700">
            <a:solidFill>
              <a:srgbClr val="3E8F8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17"/>
          <p:cNvSpPr/>
          <p:nvPr/>
        </p:nvSpPr>
        <p:spPr>
          <a:xfrm>
            <a:off x="9235440" y="2468880"/>
            <a:ext cx="1463100" cy="914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Neural</a:t>
            </a:r>
            <a:endParaRPr b="0" i="0" sz="13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Net</a:t>
            </a:r>
            <a:endParaRPr b="0" i="0" sz="1350" u="none" cap="none" strike="noStrike">
              <a:solidFill>
                <a:schemeClr val="dk1"/>
              </a:solidFill>
              <a:latin typeface="Calibri"/>
              <a:ea typeface="Calibri"/>
              <a:cs typeface="Calibri"/>
              <a:sym typeface="Calibri"/>
            </a:endParaRPr>
          </a:p>
        </p:txBody>
      </p:sp>
      <p:sp>
        <p:nvSpPr>
          <p:cNvPr id="171" name="Google Shape;171;p17"/>
          <p:cNvSpPr/>
          <p:nvPr/>
        </p:nvSpPr>
        <p:spPr>
          <a:xfrm>
            <a:off x="548640" y="3886200"/>
            <a:ext cx="105156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72" name="Google Shape;172;p17"/>
          <p:cNvSpPr/>
          <p:nvPr/>
        </p:nvSpPr>
        <p:spPr>
          <a:xfrm>
            <a:off x="548640" y="6355080"/>
            <a:ext cx="54864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A7B8"/>
              </a:buClr>
              <a:buSzPts val="950"/>
              <a:buFont typeface="Calibri"/>
              <a:buNone/>
            </a:pPr>
            <a:r>
              <a:rPr b="0" i="0" lang="en-US" sz="950" u="none" cap="none" strike="noStrike">
                <a:solidFill>
                  <a:srgbClr val="9AA7B8"/>
                </a:solidFill>
                <a:latin typeface="Calibri"/>
                <a:ea typeface="Calibri"/>
                <a:cs typeface="Calibri"/>
                <a:sym typeface="Calibri"/>
              </a:rPr>
              <a:t>WORKFLOW</a:t>
            </a:r>
            <a:endParaRPr b="0" i="0" sz="950" u="none" cap="none" strike="noStrike">
              <a:solidFill>
                <a:schemeClr val="dk1"/>
              </a:solidFill>
              <a:latin typeface="Calibri"/>
              <a:ea typeface="Calibri"/>
              <a:cs typeface="Calibri"/>
              <a:sym typeface="Calibri"/>
            </a:endParaRPr>
          </a:p>
        </p:txBody>
      </p:sp>
      <p:sp>
        <p:nvSpPr>
          <p:cNvPr id="173" name="Google Shape;173;p17"/>
          <p:cNvSpPr/>
          <p:nvPr/>
        </p:nvSpPr>
        <p:spPr>
          <a:xfrm>
            <a:off x="11338560" y="6355080"/>
            <a:ext cx="365700" cy="255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A7B8"/>
              </a:buClr>
              <a:buSzPts val="950"/>
              <a:buFont typeface="Calibri"/>
              <a:buNone/>
            </a:pPr>
            <a:r>
              <a:rPr b="0" i="0" lang="en-US" sz="950" u="none" cap="none" strike="noStrike">
                <a:solidFill>
                  <a:srgbClr val="9AA7B8"/>
                </a:solidFill>
                <a:latin typeface="Calibri"/>
                <a:ea typeface="Calibri"/>
                <a:cs typeface="Calibri"/>
                <a:sym typeface="Calibri"/>
              </a:rPr>
              <a:t>16</a:t>
            </a:r>
            <a:endParaRPr b="0" i="0" sz="950" u="none" cap="none" strike="noStrike">
              <a:solidFill>
                <a:schemeClr val="dk1"/>
              </a:solidFill>
              <a:latin typeface="Calibri"/>
              <a:ea typeface="Calibri"/>
              <a:cs typeface="Calibri"/>
              <a:sym typeface="Calibri"/>
            </a:endParaRPr>
          </a:p>
        </p:txBody>
      </p:sp>
      <p:pic>
        <p:nvPicPr>
          <p:cNvPr id="174" name="Google Shape;174;p17"/>
          <p:cNvPicPr preferRelativeResize="0"/>
          <p:nvPr/>
        </p:nvPicPr>
        <p:blipFill>
          <a:blip r:embed="rId3">
            <a:alphaModFix/>
          </a:blip>
          <a:stretch>
            <a:fillRect/>
          </a:stretch>
        </p:blipFill>
        <p:spPr>
          <a:xfrm>
            <a:off x="1683140" y="3886200"/>
            <a:ext cx="4091199" cy="2301299"/>
          </a:xfrm>
          <a:prstGeom prst="rect">
            <a:avLst/>
          </a:prstGeom>
          <a:noFill/>
          <a:ln>
            <a:noFill/>
          </a:ln>
        </p:spPr>
      </p:pic>
      <p:pic>
        <p:nvPicPr>
          <p:cNvPr id="175" name="Google Shape;175;p17"/>
          <p:cNvPicPr preferRelativeResize="0"/>
          <p:nvPr/>
        </p:nvPicPr>
        <p:blipFill>
          <a:blip r:embed="rId4">
            <a:alphaModFix/>
          </a:blip>
          <a:stretch>
            <a:fillRect/>
          </a:stretch>
        </p:blipFill>
        <p:spPr>
          <a:xfrm>
            <a:off x="6857990" y="3893850"/>
            <a:ext cx="3429000" cy="2286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C"/>
        </a:solidFill>
      </p:bgPr>
    </p:bg>
    <p:spTree>
      <p:nvGrpSpPr>
        <p:cNvPr id="180" name="Shape 180"/>
        <p:cNvGrpSpPr/>
        <p:nvPr/>
      </p:nvGrpSpPr>
      <p:grpSpPr>
        <a:xfrm>
          <a:off x="0" y="0"/>
          <a:ext cx="0" cy="0"/>
          <a:chOff x="0" y="0"/>
          <a:chExt cx="0" cy="0"/>
        </a:xfrm>
      </p:grpSpPr>
      <p:sp>
        <p:nvSpPr>
          <p:cNvPr id="181" name="Google Shape;181;p7"/>
          <p:cNvSpPr/>
          <p:nvPr/>
        </p:nvSpPr>
        <p:spPr>
          <a:xfrm>
            <a:off x="548640" y="384048"/>
            <a:ext cx="100584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2600"/>
              <a:buFont typeface="Cambria"/>
              <a:buNone/>
            </a:pPr>
            <a:r>
              <a:rPr b="1" i="0" lang="en-US" sz="2600" u="none" cap="none" strike="noStrike">
                <a:solidFill>
                  <a:srgbClr val="14304F"/>
                </a:solidFill>
                <a:latin typeface="Cambria"/>
                <a:ea typeface="Cambria"/>
                <a:cs typeface="Cambria"/>
                <a:sym typeface="Cambria"/>
              </a:rPr>
              <a:t>EDA: the full 1.77M-person picture</a:t>
            </a:r>
            <a:endParaRPr b="0" i="0" sz="2600" u="none" cap="none" strike="noStrike">
              <a:solidFill>
                <a:schemeClr val="dk1"/>
              </a:solidFill>
              <a:latin typeface="Calibri"/>
              <a:ea typeface="Calibri"/>
              <a:cs typeface="Calibri"/>
              <a:sym typeface="Calibri"/>
            </a:endParaRPr>
          </a:p>
        </p:txBody>
      </p:sp>
      <p:sp>
        <p:nvSpPr>
          <p:cNvPr id="182" name="Google Shape;182;p7"/>
          <p:cNvSpPr/>
          <p:nvPr/>
        </p:nvSpPr>
        <p:spPr>
          <a:xfrm>
            <a:off x="548640" y="1234440"/>
            <a:ext cx="5349240" cy="3063240"/>
          </a:xfrm>
          <a:prstGeom prst="roundRect">
            <a:avLst>
              <a:gd fmla="val 2687" name="adj"/>
            </a:avLst>
          </a:prstGeom>
          <a:solidFill>
            <a:srgbClr val="FFFFFF"/>
          </a:solidFill>
          <a:ln cap="flat" cmpd="sng" w="12700">
            <a:solidFill>
              <a:srgbClr val="FFFFFF"/>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7"/>
          <p:cNvSpPr/>
          <p:nvPr/>
        </p:nvSpPr>
        <p:spPr>
          <a:xfrm>
            <a:off x="777240" y="1371600"/>
            <a:ext cx="48920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1250"/>
              <a:buFont typeface="Calibri"/>
              <a:buNone/>
            </a:pPr>
            <a:r>
              <a:rPr b="1" i="0" lang="en-US" sz="1250" u="none" cap="none" strike="noStrike">
                <a:solidFill>
                  <a:srgbClr val="14304F"/>
                </a:solidFill>
                <a:latin typeface="Calibri"/>
                <a:ea typeface="Calibri"/>
                <a:cs typeface="Calibri"/>
                <a:sym typeface="Calibri"/>
              </a:rPr>
              <a:t>Age distribution by naturalization status</a:t>
            </a:r>
            <a:endParaRPr b="0" i="0" sz="1250" u="none" cap="none" strike="noStrike">
              <a:solidFill>
                <a:schemeClr val="dk1"/>
              </a:solidFill>
              <a:latin typeface="Calibri"/>
              <a:ea typeface="Calibri"/>
              <a:cs typeface="Calibri"/>
              <a:sym typeface="Calibri"/>
            </a:endParaRPr>
          </a:p>
        </p:txBody>
      </p:sp>
      <p:pic>
        <p:nvPicPr>
          <p:cNvPr descr="/home/claude/naturalization_deck/charts/eda_boxplot_age.png" id="184" name="Google Shape;184;p7"/>
          <p:cNvPicPr preferRelativeResize="0"/>
          <p:nvPr/>
        </p:nvPicPr>
        <p:blipFill rotWithShape="1">
          <a:blip r:embed="rId3">
            <a:alphaModFix/>
          </a:blip>
          <a:srcRect b="0" l="0" r="0" t="0"/>
          <a:stretch/>
        </p:blipFill>
        <p:spPr>
          <a:xfrm>
            <a:off x="822960" y="1673352"/>
            <a:ext cx="4800600" cy="2423160"/>
          </a:xfrm>
          <a:prstGeom prst="rect">
            <a:avLst/>
          </a:prstGeom>
          <a:noFill/>
          <a:ln>
            <a:noFill/>
          </a:ln>
        </p:spPr>
      </p:pic>
      <p:sp>
        <p:nvSpPr>
          <p:cNvPr id="185" name="Google Shape;185;p7"/>
          <p:cNvSpPr/>
          <p:nvPr/>
        </p:nvSpPr>
        <p:spPr>
          <a:xfrm>
            <a:off x="6172200" y="1234440"/>
            <a:ext cx="5349240" cy="3063240"/>
          </a:xfrm>
          <a:prstGeom prst="roundRect">
            <a:avLst>
              <a:gd fmla="val 2687" name="adj"/>
            </a:avLst>
          </a:prstGeom>
          <a:solidFill>
            <a:srgbClr val="FFFFFF"/>
          </a:solidFill>
          <a:ln cap="flat" cmpd="sng" w="12700">
            <a:solidFill>
              <a:srgbClr val="FFFFFF"/>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7"/>
          <p:cNvSpPr/>
          <p:nvPr/>
        </p:nvSpPr>
        <p:spPr>
          <a:xfrm>
            <a:off x="6400800" y="1371600"/>
            <a:ext cx="48920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1250"/>
              <a:buFont typeface="Calibri"/>
              <a:buNone/>
            </a:pPr>
            <a:r>
              <a:rPr b="1" i="0" lang="en-US" sz="1250" u="none" cap="none" strike="noStrike">
                <a:solidFill>
                  <a:srgbClr val="14304F"/>
                </a:solidFill>
                <a:latin typeface="Calibri"/>
                <a:ea typeface="Calibri"/>
                <a:cs typeface="Calibri"/>
                <a:sym typeface="Calibri"/>
              </a:rPr>
              <a:t>Naturalization rate rises with years in the U.S.</a:t>
            </a:r>
            <a:endParaRPr b="0" i="0" sz="1250" u="none" cap="none" strike="noStrike">
              <a:solidFill>
                <a:schemeClr val="dk1"/>
              </a:solidFill>
              <a:latin typeface="Calibri"/>
              <a:ea typeface="Calibri"/>
              <a:cs typeface="Calibri"/>
              <a:sym typeface="Calibri"/>
            </a:endParaRPr>
          </a:p>
        </p:txBody>
      </p:sp>
      <p:pic>
        <p:nvPicPr>
          <p:cNvPr descr="/home/claude/naturalization_deck/charts/eda_bar_years_bucket.png" id="187" name="Google Shape;187;p7"/>
          <p:cNvPicPr preferRelativeResize="0"/>
          <p:nvPr/>
        </p:nvPicPr>
        <p:blipFill rotWithShape="1">
          <a:blip r:embed="rId4">
            <a:alphaModFix/>
          </a:blip>
          <a:srcRect b="0" l="0" r="0" t="0"/>
          <a:stretch/>
        </p:blipFill>
        <p:spPr>
          <a:xfrm>
            <a:off x="6446520" y="1673352"/>
            <a:ext cx="4800600" cy="2423160"/>
          </a:xfrm>
          <a:prstGeom prst="rect">
            <a:avLst/>
          </a:prstGeom>
          <a:noFill/>
          <a:ln>
            <a:noFill/>
          </a:ln>
        </p:spPr>
      </p:pic>
      <p:sp>
        <p:nvSpPr>
          <p:cNvPr id="188" name="Google Shape;188;p7"/>
          <p:cNvSpPr/>
          <p:nvPr/>
        </p:nvSpPr>
        <p:spPr>
          <a:xfrm>
            <a:off x="822960" y="4480560"/>
            <a:ext cx="103327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250"/>
              <a:buFont typeface="Calibri"/>
              <a:buNone/>
            </a:pPr>
            <a:r>
              <a:rPr b="0" i="0" lang="en-US" sz="1250" u="none" cap="none" strike="noStrike">
                <a:solidFill>
                  <a:srgbClr val="5B6472"/>
                </a:solidFill>
                <a:latin typeface="Calibri"/>
                <a:ea typeface="Calibri"/>
                <a:cs typeface="Calibri"/>
                <a:sym typeface="Calibri"/>
              </a:rPr>
              <a:t>Naturalized citizens are older, and naturalization climbs sharply with residency time. This full view still mixes recent arrivals with people who have been in the country for decades.</a:t>
            </a:r>
            <a:endParaRPr b="0" i="0" sz="1250" u="none" cap="none" strike="noStrike">
              <a:solidFill>
                <a:schemeClr val="dk1"/>
              </a:solidFill>
              <a:latin typeface="Calibri"/>
              <a:ea typeface="Calibri"/>
              <a:cs typeface="Calibri"/>
              <a:sym typeface="Calibri"/>
            </a:endParaRPr>
          </a:p>
        </p:txBody>
      </p:sp>
      <p:sp>
        <p:nvSpPr>
          <p:cNvPr id="189" name="Google Shape;189;p7"/>
          <p:cNvSpPr/>
          <p:nvPr/>
        </p:nvSpPr>
        <p:spPr>
          <a:xfrm>
            <a:off x="548640" y="6355080"/>
            <a:ext cx="54864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A7B8"/>
              </a:buClr>
              <a:buSzPts val="950"/>
              <a:buFont typeface="Calibri"/>
              <a:buNone/>
            </a:pPr>
            <a:r>
              <a:rPr b="0" i="0" lang="en-US" sz="950" u="none" cap="none" strike="noStrike">
                <a:solidFill>
                  <a:srgbClr val="9AA7B8"/>
                </a:solidFill>
                <a:latin typeface="Calibri"/>
                <a:ea typeface="Calibri"/>
                <a:cs typeface="Calibri"/>
                <a:sym typeface="Calibri"/>
              </a:rPr>
              <a:t>EDA OVERVIEW</a:t>
            </a:r>
            <a:endParaRPr b="0" i="0" sz="950" u="none" cap="none" strike="noStrike">
              <a:solidFill>
                <a:schemeClr val="dk1"/>
              </a:solidFill>
              <a:latin typeface="Calibri"/>
              <a:ea typeface="Calibri"/>
              <a:cs typeface="Calibri"/>
              <a:sym typeface="Calibri"/>
            </a:endParaRPr>
          </a:p>
        </p:txBody>
      </p:sp>
      <p:sp>
        <p:nvSpPr>
          <p:cNvPr id="190" name="Google Shape;190;p7"/>
          <p:cNvSpPr/>
          <p:nvPr/>
        </p:nvSpPr>
        <p:spPr>
          <a:xfrm>
            <a:off x="11338560" y="6355080"/>
            <a:ext cx="365760" cy="25603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A7B8"/>
              </a:buClr>
              <a:buSzPts val="950"/>
              <a:buFont typeface="Calibri"/>
              <a:buNone/>
            </a:pPr>
            <a:r>
              <a:rPr b="0" i="0" lang="en-US" sz="950" u="none" cap="none" strike="noStrike">
                <a:solidFill>
                  <a:srgbClr val="9AA7B8"/>
                </a:solidFill>
                <a:latin typeface="Calibri"/>
                <a:ea typeface="Calibri"/>
                <a:cs typeface="Calibri"/>
                <a:sym typeface="Calibri"/>
              </a:rPr>
              <a:t>06</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C"/>
        </a:solidFill>
      </p:bgPr>
    </p:bg>
    <p:spTree>
      <p:nvGrpSpPr>
        <p:cNvPr id="195" name="Shape 195"/>
        <p:cNvGrpSpPr/>
        <p:nvPr/>
      </p:nvGrpSpPr>
      <p:grpSpPr>
        <a:xfrm>
          <a:off x="0" y="0"/>
          <a:ext cx="0" cy="0"/>
          <a:chOff x="0" y="0"/>
          <a:chExt cx="0" cy="0"/>
        </a:xfrm>
      </p:grpSpPr>
      <p:sp>
        <p:nvSpPr>
          <p:cNvPr id="196" name="Google Shape;196;p10"/>
          <p:cNvSpPr/>
          <p:nvPr/>
        </p:nvSpPr>
        <p:spPr>
          <a:xfrm>
            <a:off x="548640" y="384048"/>
            <a:ext cx="10058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552E"/>
              </a:buClr>
              <a:buSzPts val="1150"/>
              <a:buFont typeface="Calibri"/>
              <a:buNone/>
            </a:pPr>
            <a:r>
              <a:t/>
            </a:r>
            <a:endParaRPr b="0" i="0" sz="1150" u="none" cap="none" strike="noStrike">
              <a:solidFill>
                <a:schemeClr val="dk1"/>
              </a:solidFill>
              <a:latin typeface="Calibri"/>
              <a:ea typeface="Calibri"/>
              <a:cs typeface="Calibri"/>
              <a:sym typeface="Calibri"/>
            </a:endParaRPr>
          </a:p>
        </p:txBody>
      </p:sp>
      <p:sp>
        <p:nvSpPr>
          <p:cNvPr id="197" name="Google Shape;197;p10"/>
          <p:cNvSpPr/>
          <p:nvPr/>
        </p:nvSpPr>
        <p:spPr>
          <a:xfrm>
            <a:off x="530352" y="640080"/>
            <a:ext cx="1115568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2700"/>
              <a:buFont typeface="Cambria"/>
              <a:buNone/>
            </a:pPr>
            <a:r>
              <a:rPr b="1" i="0" lang="en-US" sz="2700" u="none" cap="none" strike="noStrike">
                <a:solidFill>
                  <a:srgbClr val="14304F"/>
                </a:solidFill>
                <a:latin typeface="Cambria"/>
                <a:ea typeface="Cambria"/>
                <a:cs typeface="Cambria"/>
                <a:sym typeface="Cambria"/>
              </a:rPr>
              <a:t>English advantage persists</a:t>
            </a:r>
            <a:endParaRPr b="0" i="0" sz="2700" u="none" cap="none" strike="noStrike">
              <a:solidFill>
                <a:schemeClr val="dk1"/>
              </a:solidFill>
              <a:latin typeface="Calibri"/>
              <a:ea typeface="Calibri"/>
              <a:cs typeface="Calibri"/>
              <a:sym typeface="Calibri"/>
            </a:endParaRPr>
          </a:p>
        </p:txBody>
      </p:sp>
      <p:sp>
        <p:nvSpPr>
          <p:cNvPr id="198" name="Google Shape;198;p10"/>
          <p:cNvSpPr/>
          <p:nvPr/>
        </p:nvSpPr>
        <p:spPr>
          <a:xfrm>
            <a:off x="640080" y="1463040"/>
            <a:ext cx="10881360" cy="4160520"/>
          </a:xfrm>
          <a:prstGeom prst="roundRect">
            <a:avLst>
              <a:gd fmla="val 1978" name="adj"/>
            </a:avLst>
          </a:prstGeom>
          <a:solidFill>
            <a:srgbClr val="FFFFFF"/>
          </a:solidFill>
          <a:ln cap="flat" cmpd="sng" w="12700">
            <a:solidFill>
              <a:srgbClr val="FFFFFF"/>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10"/>
          <p:cNvSpPr/>
          <p:nvPr/>
        </p:nvSpPr>
        <p:spPr>
          <a:xfrm>
            <a:off x="960120" y="1645920"/>
            <a:ext cx="1024128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1500"/>
              <a:buFont typeface="Calibri"/>
              <a:buNone/>
            </a:pPr>
            <a:r>
              <a:rPr b="1" i="0" lang="en-US" sz="1500" u="none" cap="none" strike="noStrike">
                <a:solidFill>
                  <a:srgbClr val="14304F"/>
                </a:solidFill>
                <a:latin typeface="Calibri"/>
                <a:ea typeface="Calibri"/>
                <a:cs typeface="Calibri"/>
                <a:sym typeface="Calibri"/>
              </a:rPr>
              <a:t>The English advantage holds every year</a:t>
            </a:r>
            <a:endParaRPr b="0" i="0" sz="1500" u="none" cap="none" strike="noStrike">
              <a:solidFill>
                <a:schemeClr val="dk1"/>
              </a:solidFill>
              <a:latin typeface="Calibri"/>
              <a:ea typeface="Calibri"/>
              <a:cs typeface="Calibri"/>
              <a:sym typeface="Calibri"/>
            </a:endParaRPr>
          </a:p>
        </p:txBody>
      </p:sp>
      <p:sp>
        <p:nvSpPr>
          <p:cNvPr id="200" name="Google Shape;200;p10"/>
          <p:cNvSpPr/>
          <p:nvPr/>
        </p:nvSpPr>
        <p:spPr>
          <a:xfrm>
            <a:off x="960120" y="1947672"/>
            <a:ext cx="1024128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150"/>
              <a:buFont typeface="Calibri"/>
              <a:buNone/>
            </a:pPr>
            <a:r>
              <a:rPr b="0" i="0" lang="en-US" sz="1150" u="none" cap="none" strike="noStrike">
                <a:solidFill>
                  <a:srgbClr val="5B6472"/>
                </a:solidFill>
                <a:latin typeface="Calibri"/>
                <a:ea typeface="Calibri"/>
                <a:cs typeface="Calibri"/>
                <a:sym typeface="Calibri"/>
              </a:rPr>
              <a:t>Naturalization rate over time, by English proficiency</a:t>
            </a:r>
            <a:endParaRPr b="0" i="0" sz="1150" u="none" cap="none" strike="noStrike">
              <a:solidFill>
                <a:schemeClr val="dk1"/>
              </a:solidFill>
              <a:latin typeface="Calibri"/>
              <a:ea typeface="Calibri"/>
              <a:cs typeface="Calibri"/>
              <a:sym typeface="Calibri"/>
            </a:endParaRPr>
          </a:p>
        </p:txBody>
      </p:sp>
      <p:pic>
        <p:nvPicPr>
          <p:cNvPr descr="/home/claude/naturalization_deck/charts/english_line.png" id="201" name="Google Shape;201;p10"/>
          <p:cNvPicPr preferRelativeResize="0"/>
          <p:nvPr/>
        </p:nvPicPr>
        <p:blipFill rotWithShape="1">
          <a:blip r:embed="rId3">
            <a:alphaModFix/>
          </a:blip>
          <a:srcRect b="0" l="0" r="0" t="0"/>
          <a:stretch/>
        </p:blipFill>
        <p:spPr>
          <a:xfrm>
            <a:off x="1828800" y="2148840"/>
            <a:ext cx="8503920" cy="3246120"/>
          </a:xfrm>
          <a:prstGeom prst="rect">
            <a:avLst/>
          </a:prstGeom>
          <a:noFill/>
          <a:ln>
            <a:noFill/>
          </a:ln>
        </p:spPr>
      </p:pic>
      <p:sp>
        <p:nvSpPr>
          <p:cNvPr id="202" name="Google Shape;202;p10"/>
          <p:cNvSpPr/>
          <p:nvPr/>
        </p:nvSpPr>
        <p:spPr>
          <a:xfrm>
            <a:off x="640080" y="5760720"/>
            <a:ext cx="105156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250"/>
              <a:buFont typeface="Calibri"/>
              <a:buNone/>
            </a:pPr>
            <a:r>
              <a:rPr b="0" i="0" lang="en-US" sz="1250" u="none" cap="none" strike="noStrike">
                <a:solidFill>
                  <a:srgbClr val="5B6472"/>
                </a:solidFill>
                <a:latin typeface="Calibri"/>
                <a:ea typeface="Calibri"/>
                <a:cs typeface="Calibri"/>
                <a:sym typeface="Calibri"/>
              </a:rPr>
              <a:t>High-English immigrants have higher naturalization rates at each year in the window.</a:t>
            </a:r>
            <a:endParaRPr b="0" i="0" sz="1250" u="none" cap="none" strike="noStrike">
              <a:solidFill>
                <a:schemeClr val="dk1"/>
              </a:solidFill>
              <a:latin typeface="Calibri"/>
              <a:ea typeface="Calibri"/>
              <a:cs typeface="Calibri"/>
              <a:sym typeface="Calibri"/>
            </a:endParaRPr>
          </a:p>
        </p:txBody>
      </p:sp>
      <p:sp>
        <p:nvSpPr>
          <p:cNvPr id="203" name="Google Shape;203;p10"/>
          <p:cNvSpPr/>
          <p:nvPr/>
        </p:nvSpPr>
        <p:spPr>
          <a:xfrm>
            <a:off x="548640" y="6355080"/>
            <a:ext cx="54864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A7B8"/>
              </a:buClr>
              <a:buSzPts val="950"/>
              <a:buFont typeface="Calibri"/>
              <a:buNone/>
            </a:pPr>
            <a:r>
              <a:rPr b="0" i="0" lang="en-US" sz="950" u="none" cap="none" strike="noStrike">
                <a:solidFill>
                  <a:srgbClr val="9AA7B8"/>
                </a:solidFill>
                <a:latin typeface="Calibri"/>
                <a:ea typeface="Calibri"/>
                <a:cs typeface="Calibri"/>
                <a:sym typeface="Calibri"/>
              </a:rPr>
              <a:t>ENGLISH OVER TIME</a:t>
            </a:r>
            <a:endParaRPr b="0" i="0" sz="950" u="none" cap="none" strike="noStrike">
              <a:solidFill>
                <a:schemeClr val="dk1"/>
              </a:solidFill>
              <a:latin typeface="Calibri"/>
              <a:ea typeface="Calibri"/>
              <a:cs typeface="Calibri"/>
              <a:sym typeface="Calibri"/>
            </a:endParaRPr>
          </a:p>
        </p:txBody>
      </p:sp>
      <p:sp>
        <p:nvSpPr>
          <p:cNvPr id="204" name="Google Shape;204;p10"/>
          <p:cNvSpPr/>
          <p:nvPr/>
        </p:nvSpPr>
        <p:spPr>
          <a:xfrm>
            <a:off x="11338560" y="6355080"/>
            <a:ext cx="365760" cy="25603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A7B8"/>
              </a:buClr>
              <a:buSzPts val="950"/>
              <a:buFont typeface="Calibri"/>
              <a:buNone/>
            </a:pPr>
            <a:r>
              <a:rPr b="0" i="0" lang="en-US" sz="950" u="none" cap="none" strike="noStrike">
                <a:solidFill>
                  <a:srgbClr val="9AA7B8"/>
                </a:solidFill>
                <a:latin typeface="Calibri"/>
                <a:ea typeface="Calibri"/>
                <a:cs typeface="Calibri"/>
                <a:sym typeface="Calibri"/>
              </a:rPr>
              <a:t>09</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C"/>
        </a:solidFill>
      </p:bgPr>
    </p:bg>
    <p:spTree>
      <p:nvGrpSpPr>
        <p:cNvPr id="209" name="Shape 209"/>
        <p:cNvGrpSpPr/>
        <p:nvPr/>
      </p:nvGrpSpPr>
      <p:grpSpPr>
        <a:xfrm>
          <a:off x="0" y="0"/>
          <a:ext cx="0" cy="0"/>
          <a:chOff x="0" y="0"/>
          <a:chExt cx="0" cy="0"/>
        </a:xfrm>
      </p:grpSpPr>
      <p:sp>
        <p:nvSpPr>
          <p:cNvPr id="210" name="Google Shape;210;p13"/>
          <p:cNvSpPr/>
          <p:nvPr/>
        </p:nvSpPr>
        <p:spPr>
          <a:xfrm>
            <a:off x="548640" y="384048"/>
            <a:ext cx="10058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552E"/>
              </a:buClr>
              <a:buSzPts val="1150"/>
              <a:buFont typeface="Calibri"/>
              <a:buNone/>
            </a:pPr>
            <a:r>
              <a:rPr b="1" i="0" lang="en-US" sz="1150" u="none" cap="none" strike="noStrike">
                <a:solidFill>
                  <a:srgbClr val="C1552E"/>
                </a:solidFill>
                <a:latin typeface="Calibri"/>
                <a:ea typeface="Calibri"/>
                <a:cs typeface="Calibri"/>
                <a:sym typeface="Calibri"/>
              </a:rPr>
              <a:t>EDA, FOCUSED SUBGROUP</a:t>
            </a:r>
            <a:endParaRPr b="0" i="0" sz="1150" u="none" cap="none" strike="noStrike">
              <a:solidFill>
                <a:schemeClr val="dk1"/>
              </a:solidFill>
              <a:latin typeface="Calibri"/>
              <a:ea typeface="Calibri"/>
              <a:cs typeface="Calibri"/>
              <a:sym typeface="Calibri"/>
            </a:endParaRPr>
          </a:p>
        </p:txBody>
      </p:sp>
      <p:sp>
        <p:nvSpPr>
          <p:cNvPr id="211" name="Google Shape;211;p13"/>
          <p:cNvSpPr/>
          <p:nvPr/>
        </p:nvSpPr>
        <p:spPr>
          <a:xfrm>
            <a:off x="530352" y="640080"/>
            <a:ext cx="111558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2700"/>
              <a:buFont typeface="Cambria"/>
              <a:buNone/>
            </a:pPr>
            <a:r>
              <a:rPr b="1" i="0" lang="en-US" sz="2700" u="none" cap="none" strike="noStrike">
                <a:solidFill>
                  <a:srgbClr val="14304F"/>
                </a:solidFill>
                <a:latin typeface="Cambria"/>
                <a:ea typeface="Cambria"/>
                <a:cs typeface="Cambria"/>
                <a:sym typeface="Cambria"/>
              </a:rPr>
              <a:t>High English and high income only</a:t>
            </a:r>
            <a:endParaRPr b="0" i="0" sz="2700" u="none" cap="none" strike="noStrike">
              <a:solidFill>
                <a:schemeClr val="dk1"/>
              </a:solidFill>
              <a:latin typeface="Calibri"/>
              <a:ea typeface="Calibri"/>
              <a:cs typeface="Calibri"/>
              <a:sym typeface="Calibri"/>
            </a:endParaRPr>
          </a:p>
        </p:txBody>
      </p:sp>
      <p:sp>
        <p:nvSpPr>
          <p:cNvPr id="212" name="Google Shape;212;p13"/>
          <p:cNvSpPr/>
          <p:nvPr/>
        </p:nvSpPr>
        <p:spPr>
          <a:xfrm>
            <a:off x="640080" y="1463040"/>
            <a:ext cx="10881300" cy="4160400"/>
          </a:xfrm>
          <a:prstGeom prst="roundRect">
            <a:avLst>
              <a:gd fmla="val 1978" name="adj"/>
            </a:avLst>
          </a:prstGeom>
          <a:solidFill>
            <a:srgbClr val="FFFFFF"/>
          </a:solidFill>
          <a:ln cap="flat" cmpd="sng" w="12700">
            <a:solidFill>
              <a:srgbClr val="FFFFFF"/>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13"/>
          <p:cNvSpPr/>
          <p:nvPr/>
        </p:nvSpPr>
        <p:spPr>
          <a:xfrm>
            <a:off x="960120" y="1645920"/>
            <a:ext cx="102414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1500"/>
              <a:buFont typeface="Calibri"/>
              <a:buNone/>
            </a:pPr>
            <a:r>
              <a:rPr b="1" i="0" lang="en-US" sz="1500" u="none" cap="none" strike="noStrike">
                <a:solidFill>
                  <a:srgbClr val="14304F"/>
                </a:solidFill>
                <a:latin typeface="Calibri"/>
                <a:ea typeface="Calibri"/>
                <a:cs typeface="Calibri"/>
                <a:sym typeface="Calibri"/>
              </a:rPr>
              <a:t>English and income raise the rate modestly</a:t>
            </a:r>
            <a:endParaRPr b="0" i="0" sz="1500" u="none" cap="none" strike="noStrike">
              <a:solidFill>
                <a:schemeClr val="dk1"/>
              </a:solidFill>
              <a:latin typeface="Calibri"/>
              <a:ea typeface="Calibri"/>
              <a:cs typeface="Calibri"/>
              <a:sym typeface="Calibri"/>
            </a:endParaRPr>
          </a:p>
        </p:txBody>
      </p:sp>
      <p:sp>
        <p:nvSpPr>
          <p:cNvPr id="214" name="Google Shape;214;p13"/>
          <p:cNvSpPr/>
          <p:nvPr/>
        </p:nvSpPr>
        <p:spPr>
          <a:xfrm>
            <a:off x="960120" y="1947672"/>
            <a:ext cx="10241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150"/>
              <a:buFont typeface="Calibri"/>
              <a:buNone/>
            </a:pPr>
            <a:r>
              <a:rPr b="0" i="0" lang="en-US" sz="1150" u="none" cap="none" strike="noStrike">
                <a:solidFill>
                  <a:srgbClr val="5B6472"/>
                </a:solidFill>
                <a:latin typeface="Calibri"/>
                <a:ea typeface="Calibri"/>
                <a:cs typeface="Calibri"/>
                <a:sym typeface="Calibri"/>
              </a:rPr>
              <a:t>Naturalization rate as English and income filters apply</a:t>
            </a:r>
            <a:endParaRPr b="0" i="0" sz="1150" u="none" cap="none" strike="noStrike">
              <a:solidFill>
                <a:schemeClr val="dk1"/>
              </a:solidFill>
              <a:latin typeface="Calibri"/>
              <a:ea typeface="Calibri"/>
              <a:cs typeface="Calibri"/>
              <a:sym typeface="Calibri"/>
            </a:endParaRPr>
          </a:p>
        </p:txBody>
      </p:sp>
      <p:pic>
        <p:nvPicPr>
          <p:cNvPr descr="/home/claude/naturalization_deck/charts/focused_subgroup_bar.png" id="215" name="Google Shape;215;p13"/>
          <p:cNvPicPr preferRelativeResize="0"/>
          <p:nvPr/>
        </p:nvPicPr>
        <p:blipFill rotWithShape="1">
          <a:blip r:embed="rId3">
            <a:alphaModFix/>
          </a:blip>
          <a:srcRect b="0" l="0" r="0" t="0"/>
          <a:stretch/>
        </p:blipFill>
        <p:spPr>
          <a:xfrm>
            <a:off x="2377440" y="2240280"/>
            <a:ext cx="7406639" cy="3154680"/>
          </a:xfrm>
          <a:prstGeom prst="rect">
            <a:avLst/>
          </a:prstGeom>
          <a:noFill/>
          <a:ln>
            <a:noFill/>
          </a:ln>
        </p:spPr>
      </p:pic>
      <p:sp>
        <p:nvSpPr>
          <p:cNvPr id="216" name="Google Shape;216;p13"/>
          <p:cNvSpPr/>
          <p:nvPr/>
        </p:nvSpPr>
        <p:spPr>
          <a:xfrm>
            <a:off x="640080" y="5760720"/>
            <a:ext cx="105156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250"/>
              <a:buFont typeface="Calibri"/>
              <a:buNone/>
            </a:pPr>
            <a:r>
              <a:rPr b="0" i="0" lang="en-US" sz="1250" u="none" cap="none" strike="noStrike">
                <a:solidFill>
                  <a:srgbClr val="5B6472"/>
                </a:solidFill>
                <a:latin typeface="Calibri"/>
                <a:ea typeface="Calibri"/>
                <a:cs typeface="Calibri"/>
                <a:sym typeface="Calibri"/>
              </a:rPr>
              <a:t>Even the most advantaged slice, English proficient and earning $50k+, lands near 55%. Even this advantaged group is far from universal naturalization.</a:t>
            </a:r>
            <a:endParaRPr b="0" i="0" sz="1250" u="none" cap="none" strike="noStrike">
              <a:solidFill>
                <a:schemeClr val="dk1"/>
              </a:solidFill>
              <a:latin typeface="Calibri"/>
              <a:ea typeface="Calibri"/>
              <a:cs typeface="Calibri"/>
              <a:sym typeface="Calibri"/>
            </a:endParaRPr>
          </a:p>
        </p:txBody>
      </p:sp>
      <p:sp>
        <p:nvSpPr>
          <p:cNvPr id="217" name="Google Shape;217;p13"/>
          <p:cNvSpPr/>
          <p:nvPr/>
        </p:nvSpPr>
        <p:spPr>
          <a:xfrm>
            <a:off x="548640" y="6355080"/>
            <a:ext cx="54864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A7B8"/>
              </a:buClr>
              <a:buSzPts val="950"/>
              <a:buFont typeface="Calibri"/>
              <a:buNone/>
            </a:pPr>
            <a:r>
              <a:rPr b="0" i="0" lang="en-US" sz="950" u="none" cap="none" strike="noStrike">
                <a:solidFill>
                  <a:srgbClr val="9AA7B8"/>
                </a:solidFill>
                <a:latin typeface="Calibri"/>
                <a:ea typeface="Calibri"/>
                <a:cs typeface="Calibri"/>
                <a:sym typeface="Calibri"/>
              </a:rPr>
              <a:t>ENGLISH PROFICIENT, HIGH INCOME</a:t>
            </a:r>
            <a:endParaRPr b="0" i="0" sz="950" u="none" cap="none" strike="noStrike">
              <a:solidFill>
                <a:schemeClr val="dk1"/>
              </a:solidFill>
              <a:latin typeface="Calibri"/>
              <a:ea typeface="Calibri"/>
              <a:cs typeface="Calibri"/>
              <a:sym typeface="Calibri"/>
            </a:endParaRPr>
          </a:p>
        </p:txBody>
      </p:sp>
      <p:sp>
        <p:nvSpPr>
          <p:cNvPr id="218" name="Google Shape;218;p13"/>
          <p:cNvSpPr/>
          <p:nvPr/>
        </p:nvSpPr>
        <p:spPr>
          <a:xfrm>
            <a:off x="11338560" y="6355080"/>
            <a:ext cx="365700" cy="255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A7B8"/>
              </a:buClr>
              <a:buSzPts val="950"/>
              <a:buFont typeface="Calibri"/>
              <a:buNone/>
            </a:pPr>
            <a:r>
              <a:rPr b="0" i="0" lang="en-US" sz="950" u="none" cap="none" strike="noStrike">
                <a:solidFill>
                  <a:srgbClr val="9AA7B8"/>
                </a:solidFill>
                <a:latin typeface="Calibri"/>
                <a:ea typeface="Calibri"/>
                <a:cs typeface="Calibri"/>
                <a:sym typeface="Calibri"/>
              </a:rPr>
              <a:t>12</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C"/>
        </a:solidFill>
      </p:bgPr>
    </p:bg>
    <p:spTree>
      <p:nvGrpSpPr>
        <p:cNvPr id="223" name="Shape 223"/>
        <p:cNvGrpSpPr/>
        <p:nvPr/>
      </p:nvGrpSpPr>
      <p:grpSpPr>
        <a:xfrm>
          <a:off x="0" y="0"/>
          <a:ext cx="0" cy="0"/>
          <a:chOff x="0" y="0"/>
          <a:chExt cx="0" cy="0"/>
        </a:xfrm>
      </p:grpSpPr>
      <p:sp>
        <p:nvSpPr>
          <p:cNvPr id="224" name="Google Shape;224;p8"/>
          <p:cNvSpPr/>
          <p:nvPr/>
        </p:nvSpPr>
        <p:spPr>
          <a:xfrm>
            <a:off x="548640" y="384048"/>
            <a:ext cx="10058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552E"/>
              </a:buClr>
              <a:buSzPts val="1150"/>
              <a:buFont typeface="Calibri"/>
              <a:buNone/>
            </a:pPr>
            <a:r>
              <a:rPr b="1" i="0" lang="en-US" sz="1150" u="none" cap="none" strike="noStrike">
                <a:solidFill>
                  <a:srgbClr val="C1552E"/>
                </a:solidFill>
                <a:latin typeface="Calibri"/>
                <a:ea typeface="Calibri"/>
                <a:cs typeface="Calibri"/>
                <a:sym typeface="Calibri"/>
              </a:rPr>
              <a:t>EDA, FINDING 1</a:t>
            </a:r>
            <a:endParaRPr b="0" i="0" sz="1150" u="none" cap="none" strike="noStrike">
              <a:solidFill>
                <a:schemeClr val="dk1"/>
              </a:solidFill>
              <a:latin typeface="Calibri"/>
              <a:ea typeface="Calibri"/>
              <a:cs typeface="Calibri"/>
              <a:sym typeface="Calibri"/>
            </a:endParaRPr>
          </a:p>
        </p:txBody>
      </p:sp>
      <p:sp>
        <p:nvSpPr>
          <p:cNvPr id="225" name="Google Shape;225;p8"/>
          <p:cNvSpPr/>
          <p:nvPr/>
        </p:nvSpPr>
        <p:spPr>
          <a:xfrm>
            <a:off x="530352" y="640080"/>
            <a:ext cx="1115568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2700"/>
              <a:buFont typeface="Cambria"/>
              <a:buNone/>
            </a:pPr>
            <a:r>
              <a:rPr b="1" i="0" lang="en-US" sz="2700" u="none" cap="none" strike="noStrike">
                <a:solidFill>
                  <a:srgbClr val="14304F"/>
                </a:solidFill>
                <a:latin typeface="Cambria"/>
                <a:ea typeface="Cambria"/>
                <a:cs typeface="Cambria"/>
                <a:sym typeface="Cambria"/>
              </a:rPr>
              <a:t>Time is the dominant driver</a:t>
            </a:r>
            <a:endParaRPr b="0" i="0" sz="2700" u="none" cap="none" strike="noStrike">
              <a:solidFill>
                <a:schemeClr val="dk1"/>
              </a:solidFill>
              <a:latin typeface="Calibri"/>
              <a:ea typeface="Calibri"/>
              <a:cs typeface="Calibri"/>
              <a:sym typeface="Calibri"/>
            </a:endParaRPr>
          </a:p>
        </p:txBody>
      </p:sp>
      <p:sp>
        <p:nvSpPr>
          <p:cNvPr id="226" name="Google Shape;226;p8"/>
          <p:cNvSpPr/>
          <p:nvPr/>
        </p:nvSpPr>
        <p:spPr>
          <a:xfrm>
            <a:off x="640080" y="1463040"/>
            <a:ext cx="10881360" cy="4160520"/>
          </a:xfrm>
          <a:prstGeom prst="roundRect">
            <a:avLst>
              <a:gd fmla="val 1978" name="adj"/>
            </a:avLst>
          </a:prstGeom>
          <a:solidFill>
            <a:srgbClr val="FFFFFF"/>
          </a:solidFill>
          <a:ln cap="flat" cmpd="sng" w="12700">
            <a:solidFill>
              <a:srgbClr val="FFFFFF"/>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8"/>
          <p:cNvSpPr/>
          <p:nvPr/>
        </p:nvSpPr>
        <p:spPr>
          <a:xfrm>
            <a:off x="960120" y="1645920"/>
            <a:ext cx="1024128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1500"/>
              <a:buFont typeface="Calibri"/>
              <a:buNone/>
            </a:pPr>
            <a:r>
              <a:rPr b="1" i="0" lang="en-US" sz="1500" u="none" cap="none" strike="noStrike">
                <a:solidFill>
                  <a:srgbClr val="14304F"/>
                </a:solidFill>
                <a:latin typeface="Calibri"/>
                <a:ea typeface="Calibri"/>
                <a:cs typeface="Calibri"/>
                <a:sym typeface="Calibri"/>
              </a:rPr>
              <a:t>Naturalization rises steadily with time</a:t>
            </a:r>
            <a:endParaRPr b="0" i="0" sz="1500" u="none" cap="none" strike="noStrike">
              <a:solidFill>
                <a:schemeClr val="dk1"/>
              </a:solidFill>
              <a:latin typeface="Calibri"/>
              <a:ea typeface="Calibri"/>
              <a:cs typeface="Calibri"/>
              <a:sym typeface="Calibri"/>
            </a:endParaRPr>
          </a:p>
        </p:txBody>
      </p:sp>
      <p:sp>
        <p:nvSpPr>
          <p:cNvPr id="228" name="Google Shape;228;p8"/>
          <p:cNvSpPr/>
          <p:nvPr/>
        </p:nvSpPr>
        <p:spPr>
          <a:xfrm>
            <a:off x="960120" y="1947672"/>
            <a:ext cx="1024128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150"/>
              <a:buFont typeface="Calibri"/>
              <a:buNone/>
            </a:pPr>
            <a:r>
              <a:rPr b="0" i="0" lang="en-US" sz="1150" u="none" cap="none" strike="noStrike">
                <a:solidFill>
                  <a:srgbClr val="5B6472"/>
                </a:solidFill>
                <a:latin typeface="Calibri"/>
                <a:ea typeface="Calibri"/>
                <a:cs typeface="Calibri"/>
                <a:sym typeface="Calibri"/>
              </a:rPr>
              <a:t>Share naturalized by exact years in the U.S., 6–20 year cohort</a:t>
            </a:r>
            <a:endParaRPr b="0" i="0" sz="1150" u="none" cap="none" strike="noStrike">
              <a:solidFill>
                <a:schemeClr val="dk1"/>
              </a:solidFill>
              <a:latin typeface="Calibri"/>
              <a:ea typeface="Calibri"/>
              <a:cs typeface="Calibri"/>
              <a:sym typeface="Calibri"/>
            </a:endParaRPr>
          </a:p>
        </p:txBody>
      </p:sp>
      <p:pic>
        <p:nvPicPr>
          <p:cNvPr descr="/home/claude/naturalization_deck/charts/time_dominant_bar.png" id="229" name="Google Shape;229;p8"/>
          <p:cNvPicPr preferRelativeResize="0"/>
          <p:nvPr/>
        </p:nvPicPr>
        <p:blipFill rotWithShape="1">
          <a:blip r:embed="rId3">
            <a:alphaModFix/>
          </a:blip>
          <a:srcRect b="0" l="0" r="0" t="0"/>
          <a:stretch/>
        </p:blipFill>
        <p:spPr>
          <a:xfrm>
            <a:off x="1920240" y="2148840"/>
            <a:ext cx="8321040" cy="3246120"/>
          </a:xfrm>
          <a:prstGeom prst="rect">
            <a:avLst/>
          </a:prstGeom>
          <a:noFill/>
          <a:ln>
            <a:noFill/>
          </a:ln>
        </p:spPr>
      </p:pic>
      <p:sp>
        <p:nvSpPr>
          <p:cNvPr id="230" name="Google Shape;230;p8"/>
          <p:cNvSpPr/>
          <p:nvPr/>
        </p:nvSpPr>
        <p:spPr>
          <a:xfrm>
            <a:off x="640080" y="5760720"/>
            <a:ext cx="105156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250"/>
              <a:buFont typeface="Calibri"/>
              <a:buNone/>
            </a:pPr>
            <a:r>
              <a:rPr b="0" i="0" lang="en-US" sz="1250" u="none" cap="none" strike="noStrike">
                <a:solidFill>
                  <a:srgbClr val="5B6472"/>
                </a:solidFill>
                <a:latin typeface="Calibri"/>
                <a:ea typeface="Calibri"/>
                <a:cs typeface="Calibri"/>
                <a:sym typeface="Calibri"/>
              </a:rPr>
              <a:t>The rate climbs every year in the window, so every other finding controls for time.</a:t>
            </a:r>
            <a:endParaRPr b="0" i="0" sz="1250" u="none" cap="none" strike="noStrike">
              <a:solidFill>
                <a:schemeClr val="dk1"/>
              </a:solidFill>
              <a:latin typeface="Calibri"/>
              <a:ea typeface="Calibri"/>
              <a:cs typeface="Calibri"/>
              <a:sym typeface="Calibri"/>
            </a:endParaRPr>
          </a:p>
        </p:txBody>
      </p:sp>
      <p:sp>
        <p:nvSpPr>
          <p:cNvPr id="231" name="Google Shape;231;p8"/>
          <p:cNvSpPr/>
          <p:nvPr/>
        </p:nvSpPr>
        <p:spPr>
          <a:xfrm>
            <a:off x="548640" y="6355080"/>
            <a:ext cx="54864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A7B8"/>
              </a:buClr>
              <a:buSzPts val="950"/>
              <a:buFont typeface="Calibri"/>
              <a:buNone/>
            </a:pPr>
            <a:r>
              <a:rPr b="0" i="0" lang="en-US" sz="950" u="none" cap="none" strike="noStrike">
                <a:solidFill>
                  <a:srgbClr val="9AA7B8"/>
                </a:solidFill>
                <a:latin typeface="Calibri"/>
                <a:ea typeface="Calibri"/>
                <a:cs typeface="Calibri"/>
                <a:sym typeface="Calibri"/>
              </a:rPr>
              <a:t>YEARS IN THE U.S.</a:t>
            </a:r>
            <a:endParaRPr b="0" i="0" sz="950" u="none" cap="none" strike="noStrike">
              <a:solidFill>
                <a:schemeClr val="dk1"/>
              </a:solidFill>
              <a:latin typeface="Calibri"/>
              <a:ea typeface="Calibri"/>
              <a:cs typeface="Calibri"/>
              <a:sym typeface="Calibri"/>
            </a:endParaRPr>
          </a:p>
        </p:txBody>
      </p:sp>
      <p:sp>
        <p:nvSpPr>
          <p:cNvPr id="232" name="Google Shape;232;p8"/>
          <p:cNvSpPr/>
          <p:nvPr/>
        </p:nvSpPr>
        <p:spPr>
          <a:xfrm>
            <a:off x="11338560" y="6355080"/>
            <a:ext cx="365760" cy="25603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A7B8"/>
              </a:buClr>
              <a:buSzPts val="950"/>
              <a:buFont typeface="Calibri"/>
              <a:buNone/>
            </a:pPr>
            <a:r>
              <a:rPr b="0" i="0" lang="en-US" sz="950" u="none" cap="none" strike="noStrike">
                <a:solidFill>
                  <a:srgbClr val="9AA7B8"/>
                </a:solidFill>
                <a:latin typeface="Calibri"/>
                <a:ea typeface="Calibri"/>
                <a:cs typeface="Calibri"/>
                <a:sym typeface="Calibri"/>
              </a:rPr>
              <a:t>07</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C"/>
        </a:solidFill>
      </p:bgPr>
    </p:bg>
    <p:spTree>
      <p:nvGrpSpPr>
        <p:cNvPr id="237" name="Shape 237"/>
        <p:cNvGrpSpPr/>
        <p:nvPr/>
      </p:nvGrpSpPr>
      <p:grpSpPr>
        <a:xfrm>
          <a:off x="0" y="0"/>
          <a:ext cx="0" cy="0"/>
          <a:chOff x="0" y="0"/>
          <a:chExt cx="0" cy="0"/>
        </a:xfrm>
      </p:grpSpPr>
      <p:sp>
        <p:nvSpPr>
          <p:cNvPr id="238" name="Google Shape;238;p9"/>
          <p:cNvSpPr/>
          <p:nvPr/>
        </p:nvSpPr>
        <p:spPr>
          <a:xfrm>
            <a:off x="548640" y="384048"/>
            <a:ext cx="10058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552E"/>
              </a:buClr>
              <a:buSzPts val="1150"/>
              <a:buFont typeface="Calibri"/>
              <a:buNone/>
            </a:pPr>
            <a:r>
              <a:rPr b="1" i="0" lang="en-US" sz="1150" u="none" cap="none" strike="noStrike">
                <a:solidFill>
                  <a:srgbClr val="C1552E"/>
                </a:solidFill>
                <a:latin typeface="Calibri"/>
                <a:ea typeface="Calibri"/>
                <a:cs typeface="Calibri"/>
                <a:sym typeface="Calibri"/>
              </a:rPr>
              <a:t>EDA, FINDING 2</a:t>
            </a:r>
            <a:endParaRPr b="0" i="0" sz="1150" u="none" cap="none" strike="noStrike">
              <a:solidFill>
                <a:schemeClr val="dk1"/>
              </a:solidFill>
              <a:latin typeface="Calibri"/>
              <a:ea typeface="Calibri"/>
              <a:cs typeface="Calibri"/>
              <a:sym typeface="Calibri"/>
            </a:endParaRPr>
          </a:p>
        </p:txBody>
      </p:sp>
      <p:sp>
        <p:nvSpPr>
          <p:cNvPr id="239" name="Google Shape;239;p9"/>
          <p:cNvSpPr/>
          <p:nvPr/>
        </p:nvSpPr>
        <p:spPr>
          <a:xfrm>
            <a:off x="530352" y="640080"/>
            <a:ext cx="1115568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2700"/>
              <a:buFont typeface="Cambria"/>
              <a:buNone/>
            </a:pPr>
            <a:r>
              <a:rPr b="1" i="0" lang="en-US" sz="2700" u="none" cap="none" strike="noStrike">
                <a:solidFill>
                  <a:srgbClr val="14304F"/>
                </a:solidFill>
                <a:latin typeface="Cambria"/>
                <a:ea typeface="Cambria"/>
                <a:cs typeface="Cambria"/>
                <a:sym typeface="Cambria"/>
              </a:rPr>
              <a:t>Education lifts naturalization</a:t>
            </a:r>
            <a:endParaRPr b="0" i="0" sz="2700" u="none" cap="none" strike="noStrike">
              <a:solidFill>
                <a:schemeClr val="dk1"/>
              </a:solidFill>
              <a:latin typeface="Calibri"/>
              <a:ea typeface="Calibri"/>
              <a:cs typeface="Calibri"/>
              <a:sym typeface="Calibri"/>
            </a:endParaRPr>
          </a:p>
        </p:txBody>
      </p:sp>
      <p:sp>
        <p:nvSpPr>
          <p:cNvPr id="240" name="Google Shape;240;p9"/>
          <p:cNvSpPr/>
          <p:nvPr/>
        </p:nvSpPr>
        <p:spPr>
          <a:xfrm>
            <a:off x="640080" y="1463040"/>
            <a:ext cx="10881360" cy="4160520"/>
          </a:xfrm>
          <a:prstGeom prst="roundRect">
            <a:avLst>
              <a:gd fmla="val 1978" name="adj"/>
            </a:avLst>
          </a:prstGeom>
          <a:solidFill>
            <a:srgbClr val="FFFFFF"/>
          </a:solidFill>
          <a:ln cap="flat" cmpd="sng" w="12700">
            <a:solidFill>
              <a:srgbClr val="FFFFFF"/>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9"/>
          <p:cNvSpPr/>
          <p:nvPr/>
        </p:nvSpPr>
        <p:spPr>
          <a:xfrm>
            <a:off x="960120" y="1645920"/>
            <a:ext cx="1024128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1500"/>
              <a:buFont typeface="Calibri"/>
              <a:buNone/>
            </a:pPr>
            <a:r>
              <a:rPr b="1" i="0" lang="en-US" sz="1500" u="none" cap="none" strike="noStrike">
                <a:solidFill>
                  <a:srgbClr val="14304F"/>
                </a:solidFill>
                <a:latin typeface="Calibri"/>
                <a:ea typeface="Calibri"/>
                <a:cs typeface="Calibri"/>
                <a:sym typeface="Calibri"/>
              </a:rPr>
              <a:t>Naturalization climbs with education</a:t>
            </a:r>
            <a:endParaRPr b="0" i="0" sz="1500" u="none" cap="none" strike="noStrike">
              <a:solidFill>
                <a:schemeClr val="dk1"/>
              </a:solidFill>
              <a:latin typeface="Calibri"/>
              <a:ea typeface="Calibri"/>
              <a:cs typeface="Calibri"/>
              <a:sym typeface="Calibri"/>
            </a:endParaRPr>
          </a:p>
        </p:txBody>
      </p:sp>
      <p:sp>
        <p:nvSpPr>
          <p:cNvPr id="242" name="Google Shape;242;p9"/>
          <p:cNvSpPr/>
          <p:nvPr/>
        </p:nvSpPr>
        <p:spPr>
          <a:xfrm>
            <a:off x="960120" y="1947672"/>
            <a:ext cx="1024128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150"/>
              <a:buFont typeface="Calibri"/>
              <a:buNone/>
            </a:pPr>
            <a:r>
              <a:rPr b="0" i="0" lang="en-US" sz="1150" u="none" cap="none" strike="noStrike">
                <a:solidFill>
                  <a:srgbClr val="5B6472"/>
                </a:solidFill>
                <a:latin typeface="Calibri"/>
                <a:ea typeface="Calibri"/>
                <a:cs typeface="Calibri"/>
                <a:sym typeface="Calibri"/>
              </a:rPr>
              <a:t>Naturalization rate by education band</a:t>
            </a:r>
            <a:endParaRPr b="0" i="0" sz="1150" u="none" cap="none" strike="noStrike">
              <a:solidFill>
                <a:schemeClr val="dk1"/>
              </a:solidFill>
              <a:latin typeface="Calibri"/>
              <a:ea typeface="Calibri"/>
              <a:cs typeface="Calibri"/>
              <a:sym typeface="Calibri"/>
            </a:endParaRPr>
          </a:p>
        </p:txBody>
      </p:sp>
      <p:pic>
        <p:nvPicPr>
          <p:cNvPr descr="/home/claude/naturalization_deck/charts/education_bar.png" id="243" name="Google Shape;243;p9"/>
          <p:cNvPicPr preferRelativeResize="0"/>
          <p:nvPr/>
        </p:nvPicPr>
        <p:blipFill rotWithShape="1">
          <a:blip r:embed="rId3">
            <a:alphaModFix/>
          </a:blip>
          <a:srcRect b="0" l="0" r="0" t="0"/>
          <a:stretch/>
        </p:blipFill>
        <p:spPr>
          <a:xfrm>
            <a:off x="1920240" y="2148840"/>
            <a:ext cx="8321040" cy="3246120"/>
          </a:xfrm>
          <a:prstGeom prst="rect">
            <a:avLst/>
          </a:prstGeom>
          <a:noFill/>
          <a:ln>
            <a:noFill/>
          </a:ln>
        </p:spPr>
      </p:pic>
      <p:sp>
        <p:nvSpPr>
          <p:cNvPr id="244" name="Google Shape;244;p9"/>
          <p:cNvSpPr/>
          <p:nvPr/>
        </p:nvSpPr>
        <p:spPr>
          <a:xfrm>
            <a:off x="640080" y="5760720"/>
            <a:ext cx="105156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250"/>
              <a:buFont typeface="Calibri"/>
              <a:buNone/>
            </a:pPr>
            <a:r>
              <a:rPr b="0" i="0" lang="en-US" sz="1250" u="none" cap="none" strike="noStrike">
                <a:solidFill>
                  <a:srgbClr val="5B6472"/>
                </a:solidFill>
                <a:latin typeface="Calibri"/>
                <a:ea typeface="Calibri"/>
                <a:cs typeface="Calibri"/>
                <a:sym typeface="Calibri"/>
              </a:rPr>
              <a:t>A clear climb through college. The dip at graduate level may reflect recent skilled-visa arrivals not yet naturalized, a hypothesis, not something the data confirms directly.</a:t>
            </a:r>
            <a:endParaRPr b="0" i="0" sz="1250" u="none" cap="none" strike="noStrike">
              <a:solidFill>
                <a:schemeClr val="dk1"/>
              </a:solidFill>
              <a:latin typeface="Calibri"/>
              <a:ea typeface="Calibri"/>
              <a:cs typeface="Calibri"/>
              <a:sym typeface="Calibri"/>
            </a:endParaRPr>
          </a:p>
        </p:txBody>
      </p:sp>
      <p:sp>
        <p:nvSpPr>
          <p:cNvPr id="245" name="Google Shape;245;p9"/>
          <p:cNvSpPr/>
          <p:nvPr/>
        </p:nvSpPr>
        <p:spPr>
          <a:xfrm>
            <a:off x="548640" y="6355080"/>
            <a:ext cx="54864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A7B8"/>
              </a:buClr>
              <a:buSzPts val="950"/>
              <a:buFont typeface="Calibri"/>
              <a:buNone/>
            </a:pPr>
            <a:r>
              <a:rPr b="0" i="0" lang="en-US" sz="950" u="none" cap="none" strike="noStrike">
                <a:solidFill>
                  <a:srgbClr val="9AA7B8"/>
                </a:solidFill>
                <a:latin typeface="Calibri"/>
                <a:ea typeface="Calibri"/>
                <a:cs typeface="Calibri"/>
                <a:sym typeface="Calibri"/>
              </a:rPr>
              <a:t>EDUCATION</a:t>
            </a:r>
            <a:endParaRPr b="0" i="0" sz="950" u="none" cap="none" strike="noStrike">
              <a:solidFill>
                <a:schemeClr val="dk1"/>
              </a:solidFill>
              <a:latin typeface="Calibri"/>
              <a:ea typeface="Calibri"/>
              <a:cs typeface="Calibri"/>
              <a:sym typeface="Calibri"/>
            </a:endParaRPr>
          </a:p>
        </p:txBody>
      </p:sp>
      <p:sp>
        <p:nvSpPr>
          <p:cNvPr id="246" name="Google Shape;246;p9"/>
          <p:cNvSpPr/>
          <p:nvPr/>
        </p:nvSpPr>
        <p:spPr>
          <a:xfrm>
            <a:off x="11338560" y="6355080"/>
            <a:ext cx="365760" cy="25603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A7B8"/>
              </a:buClr>
              <a:buSzPts val="950"/>
              <a:buFont typeface="Calibri"/>
              <a:buNone/>
            </a:pPr>
            <a:r>
              <a:rPr b="0" i="0" lang="en-US" sz="950" u="none" cap="none" strike="noStrike">
                <a:solidFill>
                  <a:srgbClr val="9AA7B8"/>
                </a:solidFill>
                <a:latin typeface="Calibri"/>
                <a:ea typeface="Calibri"/>
                <a:cs typeface="Calibri"/>
                <a:sym typeface="Calibri"/>
              </a:rPr>
              <a:t>08</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C"/>
        </a:solidFill>
      </p:bgPr>
    </p:bg>
    <p:spTree>
      <p:nvGrpSpPr>
        <p:cNvPr id="251" name="Shape 251"/>
        <p:cNvGrpSpPr/>
        <p:nvPr/>
      </p:nvGrpSpPr>
      <p:grpSpPr>
        <a:xfrm>
          <a:off x="0" y="0"/>
          <a:ext cx="0" cy="0"/>
          <a:chOff x="0" y="0"/>
          <a:chExt cx="0" cy="0"/>
        </a:xfrm>
      </p:grpSpPr>
      <p:sp>
        <p:nvSpPr>
          <p:cNvPr id="252" name="Google Shape;252;p11"/>
          <p:cNvSpPr/>
          <p:nvPr/>
        </p:nvSpPr>
        <p:spPr>
          <a:xfrm>
            <a:off x="548640" y="384048"/>
            <a:ext cx="10058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552E"/>
              </a:buClr>
              <a:buSzPts val="1150"/>
              <a:buFont typeface="Calibri"/>
              <a:buNone/>
            </a:pPr>
            <a:r>
              <a:rPr b="1" i="0" lang="en-US" sz="1150" u="none" cap="none" strike="noStrike">
                <a:solidFill>
                  <a:srgbClr val="C1552E"/>
                </a:solidFill>
                <a:latin typeface="Calibri"/>
                <a:ea typeface="Calibri"/>
                <a:cs typeface="Calibri"/>
                <a:sym typeface="Calibri"/>
              </a:rPr>
              <a:t>EDA, FINDING </a:t>
            </a:r>
            <a:r>
              <a:rPr b="1" lang="en-US" sz="1150">
                <a:solidFill>
                  <a:srgbClr val="C1552E"/>
                </a:solidFill>
                <a:latin typeface="Calibri"/>
                <a:ea typeface="Calibri"/>
                <a:cs typeface="Calibri"/>
                <a:sym typeface="Calibri"/>
              </a:rPr>
              <a:t>3</a:t>
            </a:r>
            <a:endParaRPr b="0" i="0" sz="1150" u="none" cap="none" strike="noStrike">
              <a:solidFill>
                <a:schemeClr val="dk1"/>
              </a:solidFill>
              <a:latin typeface="Calibri"/>
              <a:ea typeface="Calibri"/>
              <a:cs typeface="Calibri"/>
              <a:sym typeface="Calibri"/>
            </a:endParaRPr>
          </a:p>
        </p:txBody>
      </p:sp>
      <p:sp>
        <p:nvSpPr>
          <p:cNvPr id="253" name="Google Shape;253;p11"/>
          <p:cNvSpPr/>
          <p:nvPr/>
        </p:nvSpPr>
        <p:spPr>
          <a:xfrm>
            <a:off x="530352" y="640080"/>
            <a:ext cx="1115568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2700"/>
              <a:buFont typeface="Cambria"/>
              <a:buNone/>
            </a:pPr>
            <a:r>
              <a:rPr b="1" i="0" lang="en-US" sz="2700" u="none" cap="none" strike="noStrike">
                <a:solidFill>
                  <a:srgbClr val="14304F"/>
                </a:solidFill>
                <a:latin typeface="Cambria"/>
                <a:ea typeface="Cambria"/>
                <a:cs typeface="Cambria"/>
                <a:sym typeface="Cambria"/>
              </a:rPr>
              <a:t>Income and employment are weaker predictors</a:t>
            </a:r>
            <a:endParaRPr b="0" i="0" sz="2700" u="none" cap="none" strike="noStrike">
              <a:solidFill>
                <a:schemeClr val="dk1"/>
              </a:solidFill>
              <a:latin typeface="Calibri"/>
              <a:ea typeface="Calibri"/>
              <a:cs typeface="Calibri"/>
              <a:sym typeface="Calibri"/>
            </a:endParaRPr>
          </a:p>
        </p:txBody>
      </p:sp>
      <p:sp>
        <p:nvSpPr>
          <p:cNvPr id="254" name="Google Shape;254;p11"/>
          <p:cNvSpPr/>
          <p:nvPr/>
        </p:nvSpPr>
        <p:spPr>
          <a:xfrm>
            <a:off x="640080" y="1463040"/>
            <a:ext cx="10881360" cy="4160520"/>
          </a:xfrm>
          <a:prstGeom prst="roundRect">
            <a:avLst>
              <a:gd fmla="val 1978" name="adj"/>
            </a:avLst>
          </a:prstGeom>
          <a:solidFill>
            <a:srgbClr val="FFFFFF"/>
          </a:solidFill>
          <a:ln cap="flat" cmpd="sng" w="12700">
            <a:solidFill>
              <a:srgbClr val="FFFFFF"/>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11"/>
          <p:cNvSpPr/>
          <p:nvPr/>
        </p:nvSpPr>
        <p:spPr>
          <a:xfrm>
            <a:off x="960120" y="1645920"/>
            <a:ext cx="498348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1450"/>
              <a:buFont typeface="Calibri"/>
              <a:buNone/>
            </a:pPr>
            <a:r>
              <a:rPr b="1" i="0" lang="en-US" sz="1450" u="none" cap="none" strike="noStrike">
                <a:solidFill>
                  <a:srgbClr val="14304F"/>
                </a:solidFill>
                <a:latin typeface="Calibri"/>
                <a:ea typeface="Calibri"/>
                <a:cs typeface="Calibri"/>
                <a:sym typeface="Calibri"/>
              </a:rPr>
              <a:t>Income: mild, non-linear</a:t>
            </a:r>
            <a:endParaRPr b="0" i="0" sz="1450" u="none" cap="none" strike="noStrike">
              <a:solidFill>
                <a:schemeClr val="dk1"/>
              </a:solidFill>
              <a:latin typeface="Calibri"/>
              <a:ea typeface="Calibri"/>
              <a:cs typeface="Calibri"/>
              <a:sym typeface="Calibri"/>
            </a:endParaRPr>
          </a:p>
        </p:txBody>
      </p:sp>
      <p:pic>
        <p:nvPicPr>
          <p:cNvPr descr="/home/claude/naturalization_deck/charts/income_bar.png" id="256" name="Google Shape;256;p11"/>
          <p:cNvPicPr preferRelativeResize="0"/>
          <p:nvPr/>
        </p:nvPicPr>
        <p:blipFill rotWithShape="1">
          <a:blip r:embed="rId3">
            <a:alphaModFix/>
          </a:blip>
          <a:srcRect b="0" l="0" r="0" t="0"/>
          <a:stretch/>
        </p:blipFill>
        <p:spPr>
          <a:xfrm>
            <a:off x="960120" y="2057400"/>
            <a:ext cx="4800600" cy="3337560"/>
          </a:xfrm>
          <a:prstGeom prst="rect">
            <a:avLst/>
          </a:prstGeom>
          <a:noFill/>
          <a:ln>
            <a:noFill/>
          </a:ln>
        </p:spPr>
      </p:pic>
      <p:sp>
        <p:nvSpPr>
          <p:cNvPr id="257" name="Google Shape;257;p11"/>
          <p:cNvSpPr/>
          <p:nvPr/>
        </p:nvSpPr>
        <p:spPr>
          <a:xfrm>
            <a:off x="6217920" y="1645920"/>
            <a:ext cx="498348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1450"/>
              <a:buFont typeface="Calibri"/>
              <a:buNone/>
            </a:pPr>
            <a:r>
              <a:rPr b="1" i="0" lang="en-US" sz="1450" u="none" cap="none" strike="noStrike">
                <a:solidFill>
                  <a:srgbClr val="14304F"/>
                </a:solidFill>
                <a:latin typeface="Calibri"/>
                <a:ea typeface="Calibri"/>
                <a:cs typeface="Calibri"/>
                <a:sym typeface="Calibri"/>
              </a:rPr>
              <a:t>Employment: essentially flat</a:t>
            </a:r>
            <a:endParaRPr b="0" i="0" sz="1450" u="none" cap="none" strike="noStrike">
              <a:solidFill>
                <a:schemeClr val="dk1"/>
              </a:solidFill>
              <a:latin typeface="Calibri"/>
              <a:ea typeface="Calibri"/>
              <a:cs typeface="Calibri"/>
              <a:sym typeface="Calibri"/>
            </a:endParaRPr>
          </a:p>
        </p:txBody>
      </p:sp>
      <p:pic>
        <p:nvPicPr>
          <p:cNvPr descr="/home/claude/naturalization_deck/charts/employment_bar.png" id="258" name="Google Shape;258;p11"/>
          <p:cNvPicPr preferRelativeResize="0"/>
          <p:nvPr/>
        </p:nvPicPr>
        <p:blipFill rotWithShape="1">
          <a:blip r:embed="rId4">
            <a:alphaModFix/>
          </a:blip>
          <a:srcRect b="0" l="0" r="0" t="0"/>
          <a:stretch/>
        </p:blipFill>
        <p:spPr>
          <a:xfrm>
            <a:off x="6492240" y="2057400"/>
            <a:ext cx="4617720" cy="3337560"/>
          </a:xfrm>
          <a:prstGeom prst="rect">
            <a:avLst/>
          </a:prstGeom>
          <a:noFill/>
          <a:ln>
            <a:noFill/>
          </a:ln>
        </p:spPr>
      </p:pic>
      <p:sp>
        <p:nvSpPr>
          <p:cNvPr id="259" name="Google Shape;259;p11"/>
          <p:cNvSpPr/>
          <p:nvPr/>
        </p:nvSpPr>
        <p:spPr>
          <a:xfrm>
            <a:off x="640080" y="5760720"/>
            <a:ext cx="105156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250"/>
              <a:buFont typeface="Calibri"/>
              <a:buNone/>
            </a:pPr>
            <a:r>
              <a:rPr b="0" i="0" lang="en-US" sz="1250" u="none" cap="none" strike="noStrike">
                <a:solidFill>
                  <a:srgbClr val="5B6472"/>
                </a:solidFill>
                <a:latin typeface="Calibri"/>
                <a:ea typeface="Calibri"/>
                <a:cs typeface="Calibri"/>
                <a:sym typeface="Calibri"/>
              </a:rPr>
              <a:t>Two of our hypothesized factors move the outcome less than expected before controls.</a:t>
            </a:r>
            <a:endParaRPr b="0" i="0" sz="1250" u="none" cap="none" strike="noStrike">
              <a:solidFill>
                <a:schemeClr val="dk1"/>
              </a:solidFill>
              <a:latin typeface="Calibri"/>
              <a:ea typeface="Calibri"/>
              <a:cs typeface="Calibri"/>
              <a:sym typeface="Calibri"/>
            </a:endParaRPr>
          </a:p>
        </p:txBody>
      </p:sp>
      <p:sp>
        <p:nvSpPr>
          <p:cNvPr id="260" name="Google Shape;260;p11"/>
          <p:cNvSpPr/>
          <p:nvPr/>
        </p:nvSpPr>
        <p:spPr>
          <a:xfrm>
            <a:off x="548640" y="6355080"/>
            <a:ext cx="54864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A7B8"/>
              </a:buClr>
              <a:buSzPts val="950"/>
              <a:buFont typeface="Calibri"/>
              <a:buNone/>
            </a:pPr>
            <a:r>
              <a:rPr b="0" i="0" lang="en-US" sz="950" u="none" cap="none" strike="noStrike">
                <a:solidFill>
                  <a:srgbClr val="9AA7B8"/>
                </a:solidFill>
                <a:latin typeface="Calibri"/>
                <a:ea typeface="Calibri"/>
                <a:cs typeface="Calibri"/>
                <a:sym typeface="Calibri"/>
              </a:rPr>
              <a:t>INCOME AND EMPLOYMENT</a:t>
            </a:r>
            <a:endParaRPr b="0" i="0" sz="950" u="none" cap="none" strike="noStrike">
              <a:solidFill>
                <a:schemeClr val="dk1"/>
              </a:solidFill>
              <a:latin typeface="Calibri"/>
              <a:ea typeface="Calibri"/>
              <a:cs typeface="Calibri"/>
              <a:sym typeface="Calibri"/>
            </a:endParaRPr>
          </a:p>
        </p:txBody>
      </p:sp>
      <p:sp>
        <p:nvSpPr>
          <p:cNvPr id="261" name="Google Shape;261;p11"/>
          <p:cNvSpPr/>
          <p:nvPr/>
        </p:nvSpPr>
        <p:spPr>
          <a:xfrm>
            <a:off x="11338560" y="6355080"/>
            <a:ext cx="365760" cy="25603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A7B8"/>
              </a:buClr>
              <a:buSzPts val="950"/>
              <a:buFont typeface="Calibri"/>
              <a:buNone/>
            </a:pPr>
            <a:r>
              <a:rPr b="0" i="0" lang="en-US" sz="950" u="none" cap="none" strike="noStrike">
                <a:solidFill>
                  <a:srgbClr val="9AA7B8"/>
                </a:solidFill>
                <a:latin typeface="Calibri"/>
                <a:ea typeface="Calibri"/>
                <a:cs typeface="Calibri"/>
                <a:sym typeface="Calibri"/>
              </a:rPr>
              <a:t>10</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C"/>
        </a:solidFill>
      </p:bgPr>
    </p:bg>
    <p:spTree>
      <p:nvGrpSpPr>
        <p:cNvPr id="266" name="Shape 266"/>
        <p:cNvGrpSpPr/>
        <p:nvPr/>
      </p:nvGrpSpPr>
      <p:grpSpPr>
        <a:xfrm>
          <a:off x="0" y="0"/>
          <a:ext cx="0" cy="0"/>
          <a:chOff x="0" y="0"/>
          <a:chExt cx="0" cy="0"/>
        </a:xfrm>
      </p:grpSpPr>
      <p:sp>
        <p:nvSpPr>
          <p:cNvPr id="267" name="Google Shape;267;p12"/>
          <p:cNvSpPr/>
          <p:nvPr/>
        </p:nvSpPr>
        <p:spPr>
          <a:xfrm>
            <a:off x="548640" y="384048"/>
            <a:ext cx="10058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552E"/>
              </a:buClr>
              <a:buSzPts val="1150"/>
              <a:buFont typeface="Calibri"/>
              <a:buNone/>
            </a:pPr>
            <a:r>
              <a:rPr b="1" i="0" lang="en-US" sz="1150" u="none" cap="none" strike="noStrike">
                <a:solidFill>
                  <a:srgbClr val="C1552E"/>
                </a:solidFill>
                <a:latin typeface="Calibri"/>
                <a:ea typeface="Calibri"/>
                <a:cs typeface="Calibri"/>
                <a:sym typeface="Calibri"/>
              </a:rPr>
              <a:t>EDA, GEOGRAPHY</a:t>
            </a:r>
            <a:endParaRPr b="0" i="0" sz="1150" u="none" cap="none" strike="noStrike">
              <a:solidFill>
                <a:schemeClr val="dk1"/>
              </a:solidFill>
              <a:latin typeface="Calibri"/>
              <a:ea typeface="Calibri"/>
              <a:cs typeface="Calibri"/>
              <a:sym typeface="Calibri"/>
            </a:endParaRPr>
          </a:p>
        </p:txBody>
      </p:sp>
      <p:sp>
        <p:nvSpPr>
          <p:cNvPr id="268" name="Google Shape;268;p12"/>
          <p:cNvSpPr/>
          <p:nvPr/>
        </p:nvSpPr>
        <p:spPr>
          <a:xfrm>
            <a:off x="530352" y="640080"/>
            <a:ext cx="1115568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2700"/>
              <a:buFont typeface="Cambria"/>
              <a:buNone/>
            </a:pPr>
            <a:r>
              <a:rPr b="1" i="0" lang="en-US" sz="2700" u="none" cap="none" strike="noStrike">
                <a:solidFill>
                  <a:srgbClr val="14304F"/>
                </a:solidFill>
                <a:latin typeface="Cambria"/>
                <a:ea typeface="Cambria"/>
                <a:cs typeface="Cambria"/>
                <a:sym typeface="Cambria"/>
              </a:rPr>
              <a:t>Naturalization across all 50 states</a:t>
            </a:r>
            <a:endParaRPr b="0" i="0" sz="2700" u="none" cap="none" strike="noStrike">
              <a:solidFill>
                <a:schemeClr val="dk1"/>
              </a:solidFill>
              <a:latin typeface="Calibri"/>
              <a:ea typeface="Calibri"/>
              <a:cs typeface="Calibri"/>
              <a:sym typeface="Calibri"/>
            </a:endParaRPr>
          </a:p>
        </p:txBody>
      </p:sp>
      <p:sp>
        <p:nvSpPr>
          <p:cNvPr id="269" name="Google Shape;269;p12"/>
          <p:cNvSpPr/>
          <p:nvPr/>
        </p:nvSpPr>
        <p:spPr>
          <a:xfrm>
            <a:off x="1965960" y="1463040"/>
            <a:ext cx="8229600" cy="4160520"/>
          </a:xfrm>
          <a:prstGeom prst="roundRect">
            <a:avLst>
              <a:gd fmla="val 1978" name="adj"/>
            </a:avLst>
          </a:prstGeom>
          <a:solidFill>
            <a:srgbClr val="FFFFFF"/>
          </a:solidFill>
          <a:ln cap="flat" cmpd="sng" w="12700">
            <a:solidFill>
              <a:srgbClr val="FFFFFF"/>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naturalization_deck/charts/states_bar.png" id="270" name="Google Shape;270;p12"/>
          <p:cNvPicPr preferRelativeResize="0"/>
          <p:nvPr/>
        </p:nvPicPr>
        <p:blipFill rotWithShape="1">
          <a:blip r:embed="rId3">
            <a:alphaModFix/>
          </a:blip>
          <a:srcRect b="0" l="0" r="0" t="0"/>
          <a:stretch/>
        </p:blipFill>
        <p:spPr>
          <a:xfrm>
            <a:off x="2286000" y="1600200"/>
            <a:ext cx="7589520" cy="3886200"/>
          </a:xfrm>
          <a:prstGeom prst="rect">
            <a:avLst/>
          </a:prstGeom>
          <a:noFill/>
          <a:ln>
            <a:noFill/>
          </a:ln>
        </p:spPr>
      </p:pic>
      <p:sp>
        <p:nvSpPr>
          <p:cNvPr id="271" name="Google Shape;271;p12"/>
          <p:cNvSpPr/>
          <p:nvPr/>
        </p:nvSpPr>
        <p:spPr>
          <a:xfrm>
            <a:off x="640080" y="5760720"/>
            <a:ext cx="105156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250"/>
              <a:buFont typeface="Calibri"/>
              <a:buNone/>
            </a:pPr>
            <a:r>
              <a:rPr b="0" i="0" lang="en-US" sz="1250" u="none" cap="none" strike="noStrike">
                <a:solidFill>
                  <a:srgbClr val="5B6472"/>
                </a:solidFill>
                <a:latin typeface="Calibri"/>
                <a:ea typeface="Calibri"/>
                <a:cs typeface="Calibri"/>
                <a:sym typeface="Calibri"/>
              </a:rPr>
              <a:t>Every state is its own model variable. Rates run from about 34% to 62%, so we use state indicators instead of one broad region flag.</a:t>
            </a:r>
            <a:endParaRPr b="0" i="0" sz="1250" u="none" cap="none" strike="noStrike">
              <a:solidFill>
                <a:schemeClr val="dk1"/>
              </a:solidFill>
              <a:latin typeface="Calibri"/>
              <a:ea typeface="Calibri"/>
              <a:cs typeface="Calibri"/>
              <a:sym typeface="Calibri"/>
            </a:endParaRPr>
          </a:p>
        </p:txBody>
      </p:sp>
      <p:sp>
        <p:nvSpPr>
          <p:cNvPr id="272" name="Google Shape;272;p12"/>
          <p:cNvSpPr/>
          <p:nvPr/>
        </p:nvSpPr>
        <p:spPr>
          <a:xfrm>
            <a:off x="548640" y="6355080"/>
            <a:ext cx="54864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A7B8"/>
              </a:buClr>
              <a:buSzPts val="950"/>
              <a:buFont typeface="Calibri"/>
              <a:buNone/>
            </a:pPr>
            <a:r>
              <a:rPr b="0" i="0" lang="en-US" sz="950" u="none" cap="none" strike="noStrike">
                <a:solidFill>
                  <a:srgbClr val="9AA7B8"/>
                </a:solidFill>
                <a:latin typeface="Calibri"/>
                <a:ea typeface="Calibri"/>
                <a:cs typeface="Calibri"/>
                <a:sym typeface="Calibri"/>
              </a:rPr>
              <a:t>ALL 50 STATES</a:t>
            </a:r>
            <a:endParaRPr b="0" i="0" sz="950" u="none" cap="none" strike="noStrike">
              <a:solidFill>
                <a:schemeClr val="dk1"/>
              </a:solidFill>
              <a:latin typeface="Calibri"/>
              <a:ea typeface="Calibri"/>
              <a:cs typeface="Calibri"/>
              <a:sym typeface="Calibri"/>
            </a:endParaRPr>
          </a:p>
        </p:txBody>
      </p:sp>
      <p:sp>
        <p:nvSpPr>
          <p:cNvPr id="273" name="Google Shape;273;p12"/>
          <p:cNvSpPr/>
          <p:nvPr/>
        </p:nvSpPr>
        <p:spPr>
          <a:xfrm>
            <a:off x="11338560" y="6355080"/>
            <a:ext cx="365760" cy="25603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A7B8"/>
              </a:buClr>
              <a:buSzPts val="950"/>
              <a:buFont typeface="Calibri"/>
              <a:buNone/>
            </a:pPr>
            <a:r>
              <a:rPr b="0" i="0" lang="en-US" sz="950" u="none" cap="none" strike="noStrike">
                <a:solidFill>
                  <a:srgbClr val="9AA7B8"/>
                </a:solidFill>
                <a:latin typeface="Calibri"/>
                <a:ea typeface="Calibri"/>
                <a:cs typeface="Calibri"/>
                <a:sym typeface="Calibri"/>
              </a:rPr>
              <a:t>11</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C"/>
        </a:solidFill>
      </p:bgPr>
    </p:bg>
    <p:spTree>
      <p:nvGrpSpPr>
        <p:cNvPr id="278" name="Shape 278"/>
        <p:cNvGrpSpPr/>
        <p:nvPr/>
      </p:nvGrpSpPr>
      <p:grpSpPr>
        <a:xfrm>
          <a:off x="0" y="0"/>
          <a:ext cx="0" cy="0"/>
          <a:chOff x="0" y="0"/>
          <a:chExt cx="0" cy="0"/>
        </a:xfrm>
      </p:grpSpPr>
      <p:sp>
        <p:nvSpPr>
          <p:cNvPr id="279" name="Google Shape;279;p15"/>
          <p:cNvSpPr/>
          <p:nvPr/>
        </p:nvSpPr>
        <p:spPr>
          <a:xfrm>
            <a:off x="548640" y="384048"/>
            <a:ext cx="10058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552E"/>
              </a:buClr>
              <a:buSzPts val="1150"/>
              <a:buFont typeface="Calibri"/>
              <a:buNone/>
            </a:pPr>
            <a:r>
              <a:rPr b="1" i="0" lang="en-US" sz="1150" u="none" cap="none" strike="noStrike">
                <a:solidFill>
                  <a:srgbClr val="C1552E"/>
                </a:solidFill>
                <a:latin typeface="Calibri"/>
                <a:ea typeface="Calibri"/>
                <a:cs typeface="Calibri"/>
                <a:sym typeface="Calibri"/>
              </a:rPr>
              <a:t>THE FULL MODEL</a:t>
            </a:r>
            <a:endParaRPr b="0" i="0" sz="1150" u="none" cap="none" strike="noStrike">
              <a:solidFill>
                <a:schemeClr val="dk1"/>
              </a:solidFill>
              <a:latin typeface="Calibri"/>
              <a:ea typeface="Calibri"/>
              <a:cs typeface="Calibri"/>
              <a:sym typeface="Calibri"/>
            </a:endParaRPr>
          </a:p>
        </p:txBody>
      </p:sp>
      <p:sp>
        <p:nvSpPr>
          <p:cNvPr id="280" name="Google Shape;280;p15"/>
          <p:cNvSpPr/>
          <p:nvPr/>
        </p:nvSpPr>
        <p:spPr>
          <a:xfrm>
            <a:off x="530352" y="640080"/>
            <a:ext cx="1115568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2700"/>
              <a:buFont typeface="Cambria"/>
              <a:buNone/>
            </a:pPr>
            <a:r>
              <a:rPr b="1" i="0" lang="en-US" sz="2700" u="none" cap="none" strike="noStrike">
                <a:solidFill>
                  <a:srgbClr val="14304F"/>
                </a:solidFill>
                <a:latin typeface="Cambria"/>
                <a:ea typeface="Cambria"/>
                <a:cs typeface="Cambria"/>
                <a:sym typeface="Cambria"/>
              </a:rPr>
              <a:t>All 81 variables, one chart</a:t>
            </a:r>
            <a:endParaRPr b="0" i="0" sz="2700" u="none" cap="none" strike="noStrike">
              <a:solidFill>
                <a:schemeClr val="dk1"/>
              </a:solidFill>
              <a:latin typeface="Calibri"/>
              <a:ea typeface="Calibri"/>
              <a:cs typeface="Calibri"/>
              <a:sym typeface="Calibri"/>
            </a:endParaRPr>
          </a:p>
        </p:txBody>
      </p:sp>
      <p:sp>
        <p:nvSpPr>
          <p:cNvPr id="281" name="Google Shape;281;p15"/>
          <p:cNvSpPr/>
          <p:nvPr/>
        </p:nvSpPr>
        <p:spPr>
          <a:xfrm>
            <a:off x="548640" y="1207008"/>
            <a:ext cx="1078992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250"/>
              <a:buFont typeface="Calibri"/>
              <a:buNone/>
            </a:pPr>
            <a:r>
              <a:rPr b="0" i="0" lang="en-US" sz="1250" u="none" cap="none" strike="noStrike">
                <a:solidFill>
                  <a:srgbClr val="5B6472"/>
                </a:solidFill>
                <a:latin typeface="Calibri"/>
                <a:ea typeface="Calibri"/>
                <a:cs typeface="Calibri"/>
                <a:sym typeface="Calibri"/>
              </a:rPr>
              <a:t>Every category-expanded column in the model: 31 core predictors plus 50 state indicators, with LASSO-shrunk log-odds coefficients.</a:t>
            </a:r>
            <a:endParaRPr b="0" i="0" sz="1250" u="none" cap="none" strike="noStrike">
              <a:solidFill>
                <a:schemeClr val="dk1"/>
              </a:solidFill>
              <a:latin typeface="Calibri"/>
              <a:ea typeface="Calibri"/>
              <a:cs typeface="Calibri"/>
              <a:sym typeface="Calibri"/>
            </a:endParaRPr>
          </a:p>
        </p:txBody>
      </p:sp>
      <p:pic>
        <p:nvPicPr>
          <p:cNvPr descr="/home/claude/naturalization_deck/charts/all_variables_chart.png" id="282" name="Google Shape;282;p15"/>
          <p:cNvPicPr preferRelativeResize="0"/>
          <p:nvPr/>
        </p:nvPicPr>
        <p:blipFill rotWithShape="1">
          <a:blip r:embed="rId3">
            <a:alphaModFix/>
          </a:blip>
          <a:srcRect b="0" l="0" r="0" t="0"/>
          <a:stretch/>
        </p:blipFill>
        <p:spPr>
          <a:xfrm>
            <a:off x="274320" y="1600200"/>
            <a:ext cx="11612880" cy="4709160"/>
          </a:xfrm>
          <a:prstGeom prst="rect">
            <a:avLst/>
          </a:prstGeom>
          <a:noFill/>
          <a:ln>
            <a:noFill/>
          </a:ln>
        </p:spPr>
      </p:pic>
      <p:sp>
        <p:nvSpPr>
          <p:cNvPr id="283" name="Google Shape;283;p15"/>
          <p:cNvSpPr/>
          <p:nvPr/>
        </p:nvSpPr>
        <p:spPr>
          <a:xfrm>
            <a:off x="548640" y="6355080"/>
            <a:ext cx="54864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A7B8"/>
              </a:buClr>
              <a:buSzPts val="950"/>
              <a:buFont typeface="Calibri"/>
              <a:buNone/>
            </a:pPr>
            <a:r>
              <a:rPr b="0" i="0" lang="en-US" sz="950" u="none" cap="none" strike="noStrike">
                <a:solidFill>
                  <a:srgbClr val="9AA7B8"/>
                </a:solidFill>
                <a:latin typeface="Calibri"/>
                <a:ea typeface="Calibri"/>
                <a:cs typeface="Calibri"/>
                <a:sym typeface="Calibri"/>
              </a:rPr>
              <a:t>FULL VARIABLE SET</a:t>
            </a:r>
            <a:endParaRPr b="0" i="0" sz="950" u="none" cap="none" strike="noStrike">
              <a:solidFill>
                <a:schemeClr val="dk1"/>
              </a:solidFill>
              <a:latin typeface="Calibri"/>
              <a:ea typeface="Calibri"/>
              <a:cs typeface="Calibri"/>
              <a:sym typeface="Calibri"/>
            </a:endParaRPr>
          </a:p>
        </p:txBody>
      </p:sp>
      <p:sp>
        <p:nvSpPr>
          <p:cNvPr id="284" name="Google Shape;284;p15"/>
          <p:cNvSpPr/>
          <p:nvPr/>
        </p:nvSpPr>
        <p:spPr>
          <a:xfrm>
            <a:off x="11338560" y="6355080"/>
            <a:ext cx="365760" cy="25603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A7B8"/>
              </a:buClr>
              <a:buSzPts val="950"/>
              <a:buFont typeface="Calibri"/>
              <a:buNone/>
            </a:pPr>
            <a:r>
              <a:rPr b="0" i="0" lang="en-US" sz="950" u="none" cap="none" strike="noStrike">
                <a:solidFill>
                  <a:srgbClr val="9AA7B8"/>
                </a:solidFill>
                <a:latin typeface="Calibri"/>
                <a:ea typeface="Calibri"/>
                <a:cs typeface="Calibri"/>
                <a:sym typeface="Calibri"/>
              </a:rPr>
              <a:t>14</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C"/>
        </a:solidFill>
      </p:bgPr>
    </p:bg>
    <p:spTree>
      <p:nvGrpSpPr>
        <p:cNvPr id="289" name="Shape 289"/>
        <p:cNvGrpSpPr/>
        <p:nvPr/>
      </p:nvGrpSpPr>
      <p:grpSpPr>
        <a:xfrm>
          <a:off x="0" y="0"/>
          <a:ext cx="0" cy="0"/>
          <a:chOff x="0" y="0"/>
          <a:chExt cx="0" cy="0"/>
        </a:xfrm>
      </p:grpSpPr>
      <p:sp>
        <p:nvSpPr>
          <p:cNvPr id="290" name="Google Shape;290;p16"/>
          <p:cNvSpPr/>
          <p:nvPr/>
        </p:nvSpPr>
        <p:spPr>
          <a:xfrm>
            <a:off x="548640" y="384048"/>
            <a:ext cx="10058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552E"/>
              </a:buClr>
              <a:buSzPts val="1150"/>
              <a:buFont typeface="Calibri"/>
              <a:buNone/>
            </a:pPr>
            <a:r>
              <a:rPr b="1" i="0" lang="en-US" sz="1150" u="none" cap="none" strike="noStrike">
                <a:solidFill>
                  <a:srgbClr val="C1552E"/>
                </a:solidFill>
                <a:latin typeface="Calibri"/>
                <a:ea typeface="Calibri"/>
                <a:cs typeface="Calibri"/>
                <a:sym typeface="Calibri"/>
              </a:rPr>
              <a:t>THE FULL MODEL</a:t>
            </a:r>
            <a:endParaRPr b="0" i="0" sz="1150" u="none" cap="none" strike="noStrike">
              <a:solidFill>
                <a:schemeClr val="dk1"/>
              </a:solidFill>
              <a:latin typeface="Calibri"/>
              <a:ea typeface="Calibri"/>
              <a:cs typeface="Calibri"/>
              <a:sym typeface="Calibri"/>
            </a:endParaRPr>
          </a:p>
        </p:txBody>
      </p:sp>
      <p:sp>
        <p:nvSpPr>
          <p:cNvPr id="291" name="Google Shape;291;p16"/>
          <p:cNvSpPr/>
          <p:nvPr/>
        </p:nvSpPr>
        <p:spPr>
          <a:xfrm>
            <a:off x="530352" y="640080"/>
            <a:ext cx="1115568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2500"/>
              <a:buFont typeface="Cambria"/>
              <a:buNone/>
            </a:pPr>
            <a:r>
              <a:rPr b="1" i="0" lang="en-US" sz="2500" u="none" cap="none" strike="noStrike">
                <a:solidFill>
                  <a:srgbClr val="14304F"/>
                </a:solidFill>
                <a:latin typeface="Cambria"/>
                <a:ea typeface="Cambria"/>
                <a:cs typeface="Cambria"/>
                <a:sym typeface="Cambria"/>
              </a:rPr>
              <a:t>What each coefficient is measured against</a:t>
            </a:r>
            <a:endParaRPr b="0" i="0" sz="2500" u="none" cap="none" strike="noStrike">
              <a:solidFill>
                <a:schemeClr val="dk1"/>
              </a:solidFill>
              <a:latin typeface="Calibri"/>
              <a:ea typeface="Calibri"/>
              <a:cs typeface="Calibri"/>
              <a:sym typeface="Calibri"/>
            </a:endParaRPr>
          </a:p>
        </p:txBody>
      </p:sp>
      <p:sp>
        <p:nvSpPr>
          <p:cNvPr id="292" name="Google Shape;292;p16"/>
          <p:cNvSpPr/>
          <p:nvPr/>
        </p:nvSpPr>
        <p:spPr>
          <a:xfrm>
            <a:off x="548640" y="1207008"/>
            <a:ext cx="1078992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250"/>
              <a:buFont typeface="Calibri"/>
              <a:buNone/>
            </a:pPr>
            <a:r>
              <a:rPr b="0" i="0" lang="en-US" sz="1250" u="none" cap="none" strike="noStrike">
                <a:solidFill>
                  <a:srgbClr val="5B6472"/>
                </a:solidFill>
                <a:latin typeface="Calibri"/>
                <a:ea typeface="Calibri"/>
                <a:cs typeface="Calibri"/>
                <a:sym typeface="Calibri"/>
              </a:rPr>
              <a:t>Every log-odds coefficient for a category is relative to a baseline group. Here's what that baseline is for each one.</a:t>
            </a:r>
            <a:endParaRPr b="0" i="0" sz="1250" u="none" cap="none" strike="noStrike">
              <a:solidFill>
                <a:schemeClr val="dk1"/>
              </a:solidFill>
              <a:latin typeface="Calibri"/>
              <a:ea typeface="Calibri"/>
              <a:cs typeface="Calibri"/>
              <a:sym typeface="Calibri"/>
            </a:endParaRPr>
          </a:p>
        </p:txBody>
      </p:sp>
      <p:sp>
        <p:nvSpPr>
          <p:cNvPr id="293" name="Google Shape;293;p16"/>
          <p:cNvSpPr/>
          <p:nvPr/>
        </p:nvSpPr>
        <p:spPr>
          <a:xfrm>
            <a:off x="548640" y="1783080"/>
            <a:ext cx="11091672" cy="384048"/>
          </a:xfrm>
          <a:prstGeom prst="roundRect">
            <a:avLst>
              <a:gd fmla="val 21429" name="adj"/>
            </a:avLst>
          </a:prstGeom>
          <a:solidFill>
            <a:srgbClr val="14304F"/>
          </a:solidFill>
          <a:ln cap="flat" cmpd="sng" w="12700">
            <a:solidFill>
              <a:srgbClr val="14304F"/>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16"/>
          <p:cNvSpPr/>
          <p:nvPr/>
        </p:nvSpPr>
        <p:spPr>
          <a:xfrm>
            <a:off x="822960" y="1783080"/>
            <a:ext cx="4991252"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VARIABLE</a:t>
            </a:r>
            <a:endParaRPr b="0" i="0" sz="1100" u="none" cap="none" strike="noStrike">
              <a:solidFill>
                <a:schemeClr val="dk1"/>
              </a:solidFill>
              <a:latin typeface="Calibri"/>
              <a:ea typeface="Calibri"/>
              <a:cs typeface="Calibri"/>
              <a:sym typeface="Calibri"/>
            </a:endParaRPr>
          </a:p>
        </p:txBody>
      </p:sp>
      <p:sp>
        <p:nvSpPr>
          <p:cNvPr id="295" name="Google Shape;295;p16"/>
          <p:cNvSpPr/>
          <p:nvPr/>
        </p:nvSpPr>
        <p:spPr>
          <a:xfrm>
            <a:off x="5872643" y="1783080"/>
            <a:ext cx="5545836"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08A5C"/>
              </a:buClr>
              <a:buSzPts val="1100"/>
              <a:buFont typeface="Calibri"/>
              <a:buNone/>
            </a:pPr>
            <a:r>
              <a:rPr b="1" i="0" lang="en-US" sz="1100" u="none" cap="none" strike="noStrike">
                <a:solidFill>
                  <a:srgbClr val="E08A5C"/>
                </a:solidFill>
                <a:latin typeface="Calibri"/>
                <a:ea typeface="Calibri"/>
                <a:cs typeface="Calibri"/>
                <a:sym typeface="Calibri"/>
              </a:rPr>
              <a:t>BASELINE / REFERENCE GROUP</a:t>
            </a:r>
            <a:endParaRPr b="0" i="0" sz="1100" u="none" cap="none" strike="noStrike">
              <a:solidFill>
                <a:schemeClr val="dk1"/>
              </a:solidFill>
              <a:latin typeface="Calibri"/>
              <a:ea typeface="Calibri"/>
              <a:cs typeface="Calibri"/>
              <a:sym typeface="Calibri"/>
            </a:endParaRPr>
          </a:p>
        </p:txBody>
      </p:sp>
      <p:sp>
        <p:nvSpPr>
          <p:cNvPr id="296" name="Google Shape;296;p16"/>
          <p:cNvSpPr/>
          <p:nvPr/>
        </p:nvSpPr>
        <p:spPr>
          <a:xfrm>
            <a:off x="548640" y="2167128"/>
            <a:ext cx="11091672" cy="384048"/>
          </a:xfrm>
          <a:prstGeom prst="roundRect">
            <a:avLst>
              <a:gd fmla="val 21429" name="adj"/>
            </a:avLst>
          </a:prstGeom>
          <a:solidFill>
            <a:srgbClr val="FFFFFF"/>
          </a:solidFill>
          <a:ln cap="flat" cmpd="sng" w="12700">
            <a:solidFill>
              <a:srgbClr val="FFFFFF"/>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16"/>
          <p:cNvSpPr/>
          <p:nvPr/>
        </p:nvSpPr>
        <p:spPr>
          <a:xfrm>
            <a:off x="822960" y="2167128"/>
            <a:ext cx="4991252"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1250"/>
              <a:buFont typeface="Calibri"/>
              <a:buNone/>
            </a:pPr>
            <a:r>
              <a:rPr b="1" i="0" lang="en-US" sz="1250" u="none" cap="none" strike="noStrike">
                <a:solidFill>
                  <a:srgbClr val="14304F"/>
                </a:solidFill>
                <a:latin typeface="Calibri"/>
                <a:ea typeface="Calibri"/>
                <a:cs typeface="Calibri"/>
                <a:sym typeface="Calibri"/>
              </a:rPr>
              <a:t>Sex</a:t>
            </a:r>
            <a:endParaRPr b="0" i="0" sz="1250" u="none" cap="none" strike="noStrike">
              <a:solidFill>
                <a:schemeClr val="dk1"/>
              </a:solidFill>
              <a:latin typeface="Calibri"/>
              <a:ea typeface="Calibri"/>
              <a:cs typeface="Calibri"/>
              <a:sym typeface="Calibri"/>
            </a:endParaRPr>
          </a:p>
        </p:txBody>
      </p:sp>
      <p:sp>
        <p:nvSpPr>
          <p:cNvPr id="298" name="Google Shape;298;p16"/>
          <p:cNvSpPr/>
          <p:nvPr/>
        </p:nvSpPr>
        <p:spPr>
          <a:xfrm>
            <a:off x="5872643" y="2167128"/>
            <a:ext cx="5545836"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1250"/>
              <a:buFont typeface="Calibri"/>
              <a:buNone/>
            </a:pPr>
            <a:r>
              <a:rPr b="0" i="0" lang="en-US" sz="1250" u="none" cap="none" strike="noStrike">
                <a:solidFill>
                  <a:srgbClr val="222222"/>
                </a:solidFill>
                <a:latin typeface="Calibri"/>
                <a:ea typeface="Calibri"/>
                <a:cs typeface="Calibri"/>
                <a:sym typeface="Calibri"/>
              </a:rPr>
              <a:t>Male</a:t>
            </a:r>
            <a:endParaRPr b="0" i="0" sz="1250" u="none" cap="none" strike="noStrike">
              <a:solidFill>
                <a:schemeClr val="dk1"/>
              </a:solidFill>
              <a:latin typeface="Calibri"/>
              <a:ea typeface="Calibri"/>
              <a:cs typeface="Calibri"/>
              <a:sym typeface="Calibri"/>
            </a:endParaRPr>
          </a:p>
        </p:txBody>
      </p:sp>
      <p:sp>
        <p:nvSpPr>
          <p:cNvPr id="299" name="Google Shape;299;p16"/>
          <p:cNvSpPr/>
          <p:nvPr/>
        </p:nvSpPr>
        <p:spPr>
          <a:xfrm>
            <a:off x="548640" y="2551176"/>
            <a:ext cx="11091672" cy="384048"/>
          </a:xfrm>
          <a:prstGeom prst="roundRect">
            <a:avLst>
              <a:gd fmla="val 21429" name="adj"/>
            </a:avLst>
          </a:prstGeom>
          <a:solidFill>
            <a:srgbClr val="EAEEF3"/>
          </a:solidFill>
          <a:ln cap="flat" cmpd="sng" w="12700">
            <a:solidFill>
              <a:srgbClr val="EAEEF3"/>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16"/>
          <p:cNvSpPr/>
          <p:nvPr/>
        </p:nvSpPr>
        <p:spPr>
          <a:xfrm>
            <a:off x="822960" y="2551176"/>
            <a:ext cx="4991252"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1250"/>
              <a:buFont typeface="Calibri"/>
              <a:buNone/>
            </a:pPr>
            <a:r>
              <a:rPr b="1" i="0" lang="en-US" sz="1250" u="none" cap="none" strike="noStrike">
                <a:solidFill>
                  <a:srgbClr val="14304F"/>
                </a:solidFill>
                <a:latin typeface="Calibri"/>
                <a:ea typeface="Calibri"/>
                <a:cs typeface="Calibri"/>
                <a:sym typeface="Calibri"/>
              </a:rPr>
              <a:t>Marital status</a:t>
            </a:r>
            <a:endParaRPr b="0" i="0" sz="1250" u="none" cap="none" strike="noStrike">
              <a:solidFill>
                <a:schemeClr val="dk1"/>
              </a:solidFill>
              <a:latin typeface="Calibri"/>
              <a:ea typeface="Calibri"/>
              <a:cs typeface="Calibri"/>
              <a:sym typeface="Calibri"/>
            </a:endParaRPr>
          </a:p>
        </p:txBody>
      </p:sp>
      <p:sp>
        <p:nvSpPr>
          <p:cNvPr id="301" name="Google Shape;301;p16"/>
          <p:cNvSpPr/>
          <p:nvPr/>
        </p:nvSpPr>
        <p:spPr>
          <a:xfrm>
            <a:off x="5872643" y="2551176"/>
            <a:ext cx="5545836"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1250"/>
              <a:buFont typeface="Calibri"/>
              <a:buNone/>
            </a:pPr>
            <a:r>
              <a:rPr b="0" i="0" lang="en-US" sz="1250" u="none" cap="none" strike="noStrike">
                <a:solidFill>
                  <a:srgbClr val="222222"/>
                </a:solidFill>
                <a:latin typeface="Calibri"/>
                <a:ea typeface="Calibri"/>
                <a:cs typeface="Calibri"/>
                <a:sym typeface="Calibri"/>
              </a:rPr>
              <a:t>Married, spouse present</a:t>
            </a:r>
            <a:endParaRPr b="0" i="0" sz="1250" u="none" cap="none" strike="noStrike">
              <a:solidFill>
                <a:schemeClr val="dk1"/>
              </a:solidFill>
              <a:latin typeface="Calibri"/>
              <a:ea typeface="Calibri"/>
              <a:cs typeface="Calibri"/>
              <a:sym typeface="Calibri"/>
            </a:endParaRPr>
          </a:p>
        </p:txBody>
      </p:sp>
      <p:sp>
        <p:nvSpPr>
          <p:cNvPr id="302" name="Google Shape;302;p16"/>
          <p:cNvSpPr/>
          <p:nvPr/>
        </p:nvSpPr>
        <p:spPr>
          <a:xfrm>
            <a:off x="548640" y="2935224"/>
            <a:ext cx="11091672" cy="384048"/>
          </a:xfrm>
          <a:prstGeom prst="roundRect">
            <a:avLst>
              <a:gd fmla="val 21429" name="adj"/>
            </a:avLst>
          </a:prstGeom>
          <a:solidFill>
            <a:srgbClr val="FFFFFF"/>
          </a:solidFill>
          <a:ln cap="flat" cmpd="sng" w="12700">
            <a:solidFill>
              <a:srgbClr val="FFFFFF"/>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16"/>
          <p:cNvSpPr/>
          <p:nvPr/>
        </p:nvSpPr>
        <p:spPr>
          <a:xfrm>
            <a:off x="822960" y="2935224"/>
            <a:ext cx="4991252"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1250"/>
              <a:buFont typeface="Calibri"/>
              <a:buNone/>
            </a:pPr>
            <a:r>
              <a:rPr b="1" i="0" lang="en-US" sz="1250" u="none" cap="none" strike="noStrike">
                <a:solidFill>
                  <a:srgbClr val="14304F"/>
                </a:solidFill>
                <a:latin typeface="Calibri"/>
                <a:ea typeface="Calibri"/>
                <a:cs typeface="Calibri"/>
                <a:sym typeface="Calibri"/>
              </a:rPr>
              <a:t>Homeownership</a:t>
            </a:r>
            <a:endParaRPr b="0" i="0" sz="1250" u="none" cap="none" strike="noStrike">
              <a:solidFill>
                <a:schemeClr val="dk1"/>
              </a:solidFill>
              <a:latin typeface="Calibri"/>
              <a:ea typeface="Calibri"/>
              <a:cs typeface="Calibri"/>
              <a:sym typeface="Calibri"/>
            </a:endParaRPr>
          </a:p>
        </p:txBody>
      </p:sp>
      <p:sp>
        <p:nvSpPr>
          <p:cNvPr id="304" name="Google Shape;304;p16"/>
          <p:cNvSpPr/>
          <p:nvPr/>
        </p:nvSpPr>
        <p:spPr>
          <a:xfrm>
            <a:off x="5872643" y="2935224"/>
            <a:ext cx="5545836"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1250"/>
              <a:buFont typeface="Calibri"/>
              <a:buNone/>
            </a:pPr>
            <a:r>
              <a:rPr b="0" i="0" lang="en-US" sz="1250" u="none" cap="none" strike="noStrike">
                <a:solidFill>
                  <a:srgbClr val="222222"/>
                </a:solidFill>
                <a:latin typeface="Calibri"/>
                <a:ea typeface="Calibri"/>
                <a:cs typeface="Calibri"/>
                <a:sym typeface="Calibri"/>
              </a:rPr>
              <a:t>Owns home</a:t>
            </a:r>
            <a:endParaRPr b="0" i="0" sz="1250" u="none" cap="none" strike="noStrike">
              <a:solidFill>
                <a:schemeClr val="dk1"/>
              </a:solidFill>
              <a:latin typeface="Calibri"/>
              <a:ea typeface="Calibri"/>
              <a:cs typeface="Calibri"/>
              <a:sym typeface="Calibri"/>
            </a:endParaRPr>
          </a:p>
        </p:txBody>
      </p:sp>
      <p:sp>
        <p:nvSpPr>
          <p:cNvPr id="305" name="Google Shape;305;p16"/>
          <p:cNvSpPr/>
          <p:nvPr/>
        </p:nvSpPr>
        <p:spPr>
          <a:xfrm>
            <a:off x="548640" y="3319272"/>
            <a:ext cx="11091672" cy="384048"/>
          </a:xfrm>
          <a:prstGeom prst="roundRect">
            <a:avLst>
              <a:gd fmla="val 21429" name="adj"/>
            </a:avLst>
          </a:prstGeom>
          <a:solidFill>
            <a:srgbClr val="EAEEF3"/>
          </a:solidFill>
          <a:ln cap="flat" cmpd="sng" w="12700">
            <a:solidFill>
              <a:srgbClr val="EAEEF3"/>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16"/>
          <p:cNvSpPr/>
          <p:nvPr/>
        </p:nvSpPr>
        <p:spPr>
          <a:xfrm>
            <a:off x="822960" y="3319272"/>
            <a:ext cx="4991252"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1250"/>
              <a:buFont typeface="Calibri"/>
              <a:buNone/>
            </a:pPr>
            <a:r>
              <a:rPr b="1" i="0" lang="en-US" sz="1250" u="none" cap="none" strike="noStrike">
                <a:solidFill>
                  <a:srgbClr val="14304F"/>
                </a:solidFill>
                <a:latin typeface="Calibri"/>
                <a:ea typeface="Calibri"/>
                <a:cs typeface="Calibri"/>
                <a:sym typeface="Calibri"/>
              </a:rPr>
              <a:t>Race</a:t>
            </a:r>
            <a:endParaRPr b="0" i="0" sz="1250" u="none" cap="none" strike="noStrike">
              <a:solidFill>
                <a:schemeClr val="dk1"/>
              </a:solidFill>
              <a:latin typeface="Calibri"/>
              <a:ea typeface="Calibri"/>
              <a:cs typeface="Calibri"/>
              <a:sym typeface="Calibri"/>
            </a:endParaRPr>
          </a:p>
        </p:txBody>
      </p:sp>
      <p:sp>
        <p:nvSpPr>
          <p:cNvPr id="307" name="Google Shape;307;p16"/>
          <p:cNvSpPr/>
          <p:nvPr/>
        </p:nvSpPr>
        <p:spPr>
          <a:xfrm>
            <a:off x="5872643" y="3319272"/>
            <a:ext cx="5545836"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1250"/>
              <a:buFont typeface="Calibri"/>
              <a:buNone/>
            </a:pPr>
            <a:r>
              <a:rPr b="0" i="0" lang="en-US" sz="1250" u="none" cap="none" strike="noStrike">
                <a:solidFill>
                  <a:srgbClr val="222222"/>
                </a:solidFill>
                <a:latin typeface="Calibri"/>
                <a:ea typeface="Calibri"/>
                <a:cs typeface="Calibri"/>
                <a:sym typeface="Calibri"/>
              </a:rPr>
              <a:t>White</a:t>
            </a:r>
            <a:endParaRPr b="0" i="0" sz="1250" u="none" cap="none" strike="noStrike">
              <a:solidFill>
                <a:schemeClr val="dk1"/>
              </a:solidFill>
              <a:latin typeface="Calibri"/>
              <a:ea typeface="Calibri"/>
              <a:cs typeface="Calibri"/>
              <a:sym typeface="Calibri"/>
            </a:endParaRPr>
          </a:p>
        </p:txBody>
      </p:sp>
      <p:sp>
        <p:nvSpPr>
          <p:cNvPr id="308" name="Google Shape;308;p16"/>
          <p:cNvSpPr/>
          <p:nvPr/>
        </p:nvSpPr>
        <p:spPr>
          <a:xfrm>
            <a:off x="548640" y="3703320"/>
            <a:ext cx="11091672" cy="384048"/>
          </a:xfrm>
          <a:prstGeom prst="roundRect">
            <a:avLst>
              <a:gd fmla="val 21429" name="adj"/>
            </a:avLst>
          </a:prstGeom>
          <a:solidFill>
            <a:srgbClr val="FFFFFF"/>
          </a:solidFill>
          <a:ln cap="flat" cmpd="sng" w="12700">
            <a:solidFill>
              <a:srgbClr val="FFFFFF"/>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16"/>
          <p:cNvSpPr/>
          <p:nvPr/>
        </p:nvSpPr>
        <p:spPr>
          <a:xfrm>
            <a:off x="822960" y="3703320"/>
            <a:ext cx="4991252"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1250"/>
              <a:buFont typeface="Calibri"/>
              <a:buNone/>
            </a:pPr>
            <a:r>
              <a:rPr b="1" i="0" lang="en-US" sz="1250" u="none" cap="none" strike="noStrike">
                <a:solidFill>
                  <a:srgbClr val="14304F"/>
                </a:solidFill>
                <a:latin typeface="Calibri"/>
                <a:ea typeface="Calibri"/>
                <a:cs typeface="Calibri"/>
                <a:sym typeface="Calibri"/>
              </a:rPr>
              <a:t>Education</a:t>
            </a:r>
            <a:endParaRPr b="0" i="0" sz="1250" u="none" cap="none" strike="noStrike">
              <a:solidFill>
                <a:schemeClr val="dk1"/>
              </a:solidFill>
              <a:latin typeface="Calibri"/>
              <a:ea typeface="Calibri"/>
              <a:cs typeface="Calibri"/>
              <a:sym typeface="Calibri"/>
            </a:endParaRPr>
          </a:p>
        </p:txBody>
      </p:sp>
      <p:sp>
        <p:nvSpPr>
          <p:cNvPr id="310" name="Google Shape;310;p16"/>
          <p:cNvSpPr/>
          <p:nvPr/>
        </p:nvSpPr>
        <p:spPr>
          <a:xfrm>
            <a:off x="5872643" y="3703320"/>
            <a:ext cx="5545836"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1250"/>
              <a:buFont typeface="Calibri"/>
              <a:buNone/>
            </a:pPr>
            <a:r>
              <a:rPr b="0" i="0" lang="en-US" sz="1250" u="none" cap="none" strike="noStrike">
                <a:solidFill>
                  <a:srgbClr val="222222"/>
                </a:solidFill>
                <a:latin typeface="Calibri"/>
                <a:ea typeface="Calibri"/>
                <a:cs typeface="Calibri"/>
                <a:sym typeface="Calibri"/>
              </a:rPr>
              <a:t>Less than high school</a:t>
            </a:r>
            <a:endParaRPr b="0" i="0" sz="1250" u="none" cap="none" strike="noStrike">
              <a:solidFill>
                <a:schemeClr val="dk1"/>
              </a:solidFill>
              <a:latin typeface="Calibri"/>
              <a:ea typeface="Calibri"/>
              <a:cs typeface="Calibri"/>
              <a:sym typeface="Calibri"/>
            </a:endParaRPr>
          </a:p>
        </p:txBody>
      </p:sp>
      <p:sp>
        <p:nvSpPr>
          <p:cNvPr id="311" name="Google Shape;311;p16"/>
          <p:cNvSpPr/>
          <p:nvPr/>
        </p:nvSpPr>
        <p:spPr>
          <a:xfrm>
            <a:off x="548640" y="4087368"/>
            <a:ext cx="11091672" cy="384048"/>
          </a:xfrm>
          <a:prstGeom prst="roundRect">
            <a:avLst>
              <a:gd fmla="val 21429" name="adj"/>
            </a:avLst>
          </a:prstGeom>
          <a:solidFill>
            <a:srgbClr val="EAEEF3"/>
          </a:solidFill>
          <a:ln cap="flat" cmpd="sng" w="12700">
            <a:solidFill>
              <a:srgbClr val="EAEEF3"/>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16"/>
          <p:cNvSpPr/>
          <p:nvPr/>
        </p:nvSpPr>
        <p:spPr>
          <a:xfrm>
            <a:off x="822960" y="4087368"/>
            <a:ext cx="4991252"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1250"/>
              <a:buFont typeface="Calibri"/>
              <a:buNone/>
            </a:pPr>
            <a:r>
              <a:rPr b="1" i="0" lang="en-US" sz="1250" u="none" cap="none" strike="noStrike">
                <a:solidFill>
                  <a:srgbClr val="14304F"/>
                </a:solidFill>
                <a:latin typeface="Calibri"/>
                <a:ea typeface="Calibri"/>
                <a:cs typeface="Calibri"/>
                <a:sym typeface="Calibri"/>
              </a:rPr>
              <a:t>English proficiency</a:t>
            </a:r>
            <a:endParaRPr b="0" i="0" sz="1250" u="none" cap="none" strike="noStrike">
              <a:solidFill>
                <a:schemeClr val="dk1"/>
              </a:solidFill>
              <a:latin typeface="Calibri"/>
              <a:ea typeface="Calibri"/>
              <a:cs typeface="Calibri"/>
              <a:sym typeface="Calibri"/>
            </a:endParaRPr>
          </a:p>
        </p:txBody>
      </p:sp>
      <p:sp>
        <p:nvSpPr>
          <p:cNvPr id="313" name="Google Shape;313;p16"/>
          <p:cNvSpPr/>
          <p:nvPr/>
        </p:nvSpPr>
        <p:spPr>
          <a:xfrm>
            <a:off x="5872643" y="4087368"/>
            <a:ext cx="5545836"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1250"/>
              <a:buFont typeface="Calibri"/>
              <a:buNone/>
            </a:pPr>
            <a:r>
              <a:rPr b="0" i="0" lang="en-US" sz="1250" u="none" cap="none" strike="noStrike">
                <a:solidFill>
                  <a:srgbClr val="222222"/>
                </a:solidFill>
                <a:latin typeface="Calibri"/>
                <a:ea typeface="Calibri"/>
                <a:cs typeface="Calibri"/>
                <a:sym typeface="Calibri"/>
              </a:rPr>
              <a:t>Doesn't speak English at all</a:t>
            </a:r>
            <a:endParaRPr b="0" i="0" sz="1250" u="none" cap="none" strike="noStrike">
              <a:solidFill>
                <a:schemeClr val="dk1"/>
              </a:solidFill>
              <a:latin typeface="Calibri"/>
              <a:ea typeface="Calibri"/>
              <a:cs typeface="Calibri"/>
              <a:sym typeface="Calibri"/>
            </a:endParaRPr>
          </a:p>
        </p:txBody>
      </p:sp>
      <p:sp>
        <p:nvSpPr>
          <p:cNvPr id="314" name="Google Shape;314;p16"/>
          <p:cNvSpPr/>
          <p:nvPr/>
        </p:nvSpPr>
        <p:spPr>
          <a:xfrm>
            <a:off x="548640" y="4471416"/>
            <a:ext cx="11091672" cy="384048"/>
          </a:xfrm>
          <a:prstGeom prst="roundRect">
            <a:avLst>
              <a:gd fmla="val 21429" name="adj"/>
            </a:avLst>
          </a:prstGeom>
          <a:solidFill>
            <a:srgbClr val="FFFFFF"/>
          </a:solidFill>
          <a:ln cap="flat" cmpd="sng" w="12700">
            <a:solidFill>
              <a:srgbClr val="FFFFFF"/>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16"/>
          <p:cNvSpPr/>
          <p:nvPr/>
        </p:nvSpPr>
        <p:spPr>
          <a:xfrm>
            <a:off x="822960" y="4471416"/>
            <a:ext cx="4991252"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1250"/>
              <a:buFont typeface="Calibri"/>
              <a:buNone/>
            </a:pPr>
            <a:r>
              <a:rPr b="1" i="0" lang="en-US" sz="1250" u="none" cap="none" strike="noStrike">
                <a:solidFill>
                  <a:srgbClr val="14304F"/>
                </a:solidFill>
                <a:latin typeface="Calibri"/>
                <a:ea typeface="Calibri"/>
                <a:cs typeface="Calibri"/>
                <a:sym typeface="Calibri"/>
              </a:rPr>
              <a:t>State</a:t>
            </a:r>
            <a:endParaRPr b="0" i="0" sz="1250" u="none" cap="none" strike="noStrike">
              <a:solidFill>
                <a:schemeClr val="dk1"/>
              </a:solidFill>
              <a:latin typeface="Calibri"/>
              <a:ea typeface="Calibri"/>
              <a:cs typeface="Calibri"/>
              <a:sym typeface="Calibri"/>
            </a:endParaRPr>
          </a:p>
        </p:txBody>
      </p:sp>
      <p:sp>
        <p:nvSpPr>
          <p:cNvPr id="316" name="Google Shape;316;p16"/>
          <p:cNvSpPr/>
          <p:nvPr/>
        </p:nvSpPr>
        <p:spPr>
          <a:xfrm>
            <a:off x="5872643" y="4471416"/>
            <a:ext cx="5545836"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1250"/>
              <a:buFont typeface="Calibri"/>
              <a:buNone/>
            </a:pPr>
            <a:r>
              <a:rPr b="0" i="0" lang="en-US" sz="1250" u="none" cap="none" strike="noStrike">
                <a:solidFill>
                  <a:srgbClr val="222222"/>
                </a:solidFill>
                <a:latin typeface="Calibri"/>
                <a:ea typeface="Calibri"/>
                <a:cs typeface="Calibri"/>
                <a:sym typeface="Calibri"/>
              </a:rPr>
              <a:t>Alabama</a:t>
            </a:r>
            <a:endParaRPr b="0" i="0" sz="1250" u="none" cap="none" strike="noStrike">
              <a:solidFill>
                <a:schemeClr val="dk1"/>
              </a:solidFill>
              <a:latin typeface="Calibri"/>
              <a:ea typeface="Calibri"/>
              <a:cs typeface="Calibri"/>
              <a:sym typeface="Calibri"/>
            </a:endParaRPr>
          </a:p>
        </p:txBody>
      </p:sp>
      <p:sp>
        <p:nvSpPr>
          <p:cNvPr id="317" name="Google Shape;317;p16"/>
          <p:cNvSpPr/>
          <p:nvPr/>
        </p:nvSpPr>
        <p:spPr>
          <a:xfrm>
            <a:off x="548640" y="5129784"/>
            <a:ext cx="11091672" cy="640080"/>
          </a:xfrm>
          <a:prstGeom prst="roundRect">
            <a:avLst>
              <a:gd fmla="val 12857" name="adj"/>
            </a:avLst>
          </a:prstGeom>
          <a:solidFill>
            <a:srgbClr val="F7E9E3"/>
          </a:solidFill>
          <a:ln cap="flat" cmpd="sng" w="12700">
            <a:solidFill>
              <a:srgbClr val="F7E9E3"/>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16"/>
          <p:cNvSpPr/>
          <p:nvPr/>
        </p:nvSpPr>
        <p:spPr>
          <a:xfrm>
            <a:off x="822960" y="5330952"/>
            <a:ext cx="10543032" cy="50292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C1552E"/>
              </a:buClr>
              <a:buSzPts val="1100"/>
              <a:buFont typeface="Calibri"/>
              <a:buNone/>
            </a:pPr>
            <a:r>
              <a:rPr b="1" i="0" lang="en-US" sz="1100" u="none" cap="none" strike="noStrike">
                <a:solidFill>
                  <a:srgbClr val="C1552E"/>
                </a:solidFill>
                <a:latin typeface="Calibri"/>
                <a:ea typeface="Calibri"/>
                <a:cs typeface="Calibri"/>
                <a:sym typeface="Calibri"/>
              </a:rPr>
              <a:t>Race categories: </a:t>
            </a:r>
            <a:r>
              <a:rPr b="0" i="0" lang="en-US" sz="1100" u="none" cap="none" strike="noStrike">
                <a:solidFill>
                  <a:srgbClr val="3A2A22"/>
                </a:solidFill>
                <a:latin typeface="Calibri"/>
                <a:ea typeface="Calibri"/>
                <a:cs typeface="Calibri"/>
                <a:sym typeface="Calibri"/>
              </a:rPr>
              <a:t>the survey's own self-reported options, not groupings we made, White, Black, American Indian/Alaska Native, Chinese, Japanese, Other Asian/Pacific Islander, Other race.</a:t>
            </a:r>
            <a:endParaRPr b="0" i="0" sz="1100" u="none" cap="none" strike="noStrike">
              <a:solidFill>
                <a:schemeClr val="dk1"/>
              </a:solidFill>
              <a:latin typeface="Calibri"/>
              <a:ea typeface="Calibri"/>
              <a:cs typeface="Calibri"/>
              <a:sym typeface="Calibri"/>
            </a:endParaRPr>
          </a:p>
        </p:txBody>
      </p:sp>
      <p:sp>
        <p:nvSpPr>
          <p:cNvPr id="319" name="Google Shape;319;p16"/>
          <p:cNvSpPr/>
          <p:nvPr/>
        </p:nvSpPr>
        <p:spPr>
          <a:xfrm>
            <a:off x="548640" y="6355080"/>
            <a:ext cx="54864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A7B8"/>
              </a:buClr>
              <a:buSzPts val="950"/>
              <a:buFont typeface="Calibri"/>
              <a:buNone/>
            </a:pPr>
            <a:r>
              <a:rPr b="0" i="0" lang="en-US" sz="950" u="none" cap="none" strike="noStrike">
                <a:solidFill>
                  <a:srgbClr val="9AA7B8"/>
                </a:solidFill>
                <a:latin typeface="Calibri"/>
                <a:ea typeface="Calibri"/>
                <a:cs typeface="Calibri"/>
                <a:sym typeface="Calibri"/>
              </a:rPr>
              <a:t>REFERENCE CATEGORIES</a:t>
            </a:r>
            <a:endParaRPr b="0" i="0" sz="950" u="none" cap="none" strike="noStrike">
              <a:solidFill>
                <a:schemeClr val="dk1"/>
              </a:solidFill>
              <a:latin typeface="Calibri"/>
              <a:ea typeface="Calibri"/>
              <a:cs typeface="Calibri"/>
              <a:sym typeface="Calibri"/>
            </a:endParaRPr>
          </a:p>
        </p:txBody>
      </p:sp>
      <p:sp>
        <p:nvSpPr>
          <p:cNvPr id="320" name="Google Shape;320;p16"/>
          <p:cNvSpPr/>
          <p:nvPr/>
        </p:nvSpPr>
        <p:spPr>
          <a:xfrm>
            <a:off x="11338560" y="6355080"/>
            <a:ext cx="365760" cy="25603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A7B8"/>
              </a:buClr>
              <a:buSzPts val="950"/>
              <a:buFont typeface="Calibri"/>
              <a:buNone/>
            </a:pPr>
            <a:r>
              <a:rPr b="0" i="0" lang="en-US" sz="950" u="none" cap="none" strike="noStrike">
                <a:solidFill>
                  <a:srgbClr val="9AA7B8"/>
                </a:solidFill>
                <a:latin typeface="Calibri"/>
                <a:ea typeface="Calibri"/>
                <a:cs typeface="Calibri"/>
                <a:sym typeface="Calibri"/>
              </a:rPr>
              <a:t>15</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C"/>
        </a:solidFill>
      </p:bgPr>
    </p:bg>
    <p:spTree>
      <p:nvGrpSpPr>
        <p:cNvPr id="325" name="Shape 325"/>
        <p:cNvGrpSpPr/>
        <p:nvPr/>
      </p:nvGrpSpPr>
      <p:grpSpPr>
        <a:xfrm>
          <a:off x="0" y="0"/>
          <a:ext cx="0" cy="0"/>
          <a:chOff x="0" y="0"/>
          <a:chExt cx="0" cy="0"/>
        </a:xfrm>
      </p:grpSpPr>
      <p:sp>
        <p:nvSpPr>
          <p:cNvPr id="326" name="Google Shape;326;p18"/>
          <p:cNvSpPr/>
          <p:nvPr/>
        </p:nvSpPr>
        <p:spPr>
          <a:xfrm>
            <a:off x="548640" y="384048"/>
            <a:ext cx="10058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552E"/>
              </a:buClr>
              <a:buSzPts val="1150"/>
              <a:buFont typeface="Calibri"/>
              <a:buNone/>
            </a:pPr>
            <a:r>
              <a:rPr b="1" i="0" lang="en-US" sz="1150" u="none" cap="none" strike="noStrike">
                <a:solidFill>
                  <a:srgbClr val="C1552E"/>
                </a:solidFill>
                <a:latin typeface="Calibri"/>
                <a:ea typeface="Calibri"/>
                <a:cs typeface="Calibri"/>
                <a:sym typeface="Calibri"/>
              </a:rPr>
              <a:t>RESPONSE A, REGULARIZATION</a:t>
            </a:r>
            <a:endParaRPr b="0" i="0" sz="1150" u="none" cap="none" strike="noStrike">
              <a:solidFill>
                <a:schemeClr val="dk1"/>
              </a:solidFill>
              <a:latin typeface="Calibri"/>
              <a:ea typeface="Calibri"/>
              <a:cs typeface="Calibri"/>
              <a:sym typeface="Calibri"/>
            </a:endParaRPr>
          </a:p>
        </p:txBody>
      </p:sp>
      <p:sp>
        <p:nvSpPr>
          <p:cNvPr id="327" name="Google Shape;327;p18"/>
          <p:cNvSpPr/>
          <p:nvPr/>
        </p:nvSpPr>
        <p:spPr>
          <a:xfrm>
            <a:off x="530352" y="640080"/>
            <a:ext cx="1115568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2600"/>
              <a:buFont typeface="Cambria"/>
              <a:buNone/>
            </a:pPr>
            <a:r>
              <a:rPr b="1" i="0" lang="en-US" sz="2600" u="none" cap="none" strike="noStrike">
                <a:solidFill>
                  <a:srgbClr val="14304F"/>
                </a:solidFill>
                <a:latin typeface="Cambria"/>
                <a:ea typeface="Cambria"/>
                <a:cs typeface="Cambria"/>
                <a:sym typeface="Cambria"/>
              </a:rPr>
              <a:t>What LASSO kept and shrank</a:t>
            </a:r>
            <a:endParaRPr b="0" i="0" sz="2600" u="none" cap="none" strike="noStrike">
              <a:solidFill>
                <a:schemeClr val="dk1"/>
              </a:solidFill>
              <a:latin typeface="Calibri"/>
              <a:ea typeface="Calibri"/>
              <a:cs typeface="Calibri"/>
              <a:sym typeface="Calibri"/>
            </a:endParaRPr>
          </a:p>
        </p:txBody>
      </p:sp>
      <p:sp>
        <p:nvSpPr>
          <p:cNvPr id="328" name="Google Shape;328;p18"/>
          <p:cNvSpPr/>
          <p:nvPr/>
        </p:nvSpPr>
        <p:spPr>
          <a:xfrm>
            <a:off x="548640" y="1207008"/>
            <a:ext cx="1078992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250"/>
              <a:buFont typeface="Calibri"/>
              <a:buNone/>
            </a:pPr>
            <a:r>
              <a:rPr b="0" i="0" lang="en-US" sz="1250" u="none" cap="none" strike="noStrike">
                <a:solidFill>
                  <a:srgbClr val="5B6472"/>
                </a:solidFill>
                <a:latin typeface="Calibri"/>
                <a:ea typeface="Calibri"/>
                <a:cs typeface="Calibri"/>
                <a:sym typeface="Calibri"/>
              </a:rPr>
              <a:t>The 14 largest coefficients by absolute size. Positive means higher odds of naturalizing.</a:t>
            </a:r>
            <a:endParaRPr b="0" i="0" sz="1250" u="none" cap="none" strike="noStrike">
              <a:solidFill>
                <a:schemeClr val="dk1"/>
              </a:solidFill>
              <a:latin typeface="Calibri"/>
              <a:ea typeface="Calibri"/>
              <a:cs typeface="Calibri"/>
              <a:sym typeface="Calibri"/>
            </a:endParaRPr>
          </a:p>
        </p:txBody>
      </p:sp>
      <p:sp>
        <p:nvSpPr>
          <p:cNvPr id="329" name="Google Shape;329;p18"/>
          <p:cNvSpPr/>
          <p:nvPr/>
        </p:nvSpPr>
        <p:spPr>
          <a:xfrm>
            <a:off x="1188720" y="1600200"/>
            <a:ext cx="7132320" cy="3520440"/>
          </a:xfrm>
          <a:prstGeom prst="roundRect">
            <a:avLst>
              <a:gd fmla="val 2338" name="adj"/>
            </a:avLst>
          </a:prstGeom>
          <a:solidFill>
            <a:srgbClr val="FFFFFF"/>
          </a:solidFill>
          <a:ln cap="flat" cmpd="sng" w="12700">
            <a:solidFill>
              <a:srgbClr val="FFFFFF"/>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naturalization_deck/charts/lasso_lollipop.png" id="330" name="Google Shape;330;p18"/>
          <p:cNvPicPr preferRelativeResize="0"/>
          <p:nvPr/>
        </p:nvPicPr>
        <p:blipFill rotWithShape="1">
          <a:blip r:embed="rId3">
            <a:alphaModFix/>
          </a:blip>
          <a:srcRect b="0" l="0" r="0" t="0"/>
          <a:stretch/>
        </p:blipFill>
        <p:spPr>
          <a:xfrm>
            <a:off x="1463040" y="1783080"/>
            <a:ext cx="6583680" cy="3154680"/>
          </a:xfrm>
          <a:prstGeom prst="rect">
            <a:avLst/>
          </a:prstGeom>
          <a:noFill/>
          <a:ln>
            <a:noFill/>
          </a:ln>
        </p:spPr>
      </p:pic>
      <p:sp>
        <p:nvSpPr>
          <p:cNvPr id="331" name="Google Shape;331;p18"/>
          <p:cNvSpPr/>
          <p:nvPr/>
        </p:nvSpPr>
        <p:spPr>
          <a:xfrm>
            <a:off x="8549640" y="1600200"/>
            <a:ext cx="3108960" cy="3520440"/>
          </a:xfrm>
          <a:prstGeom prst="roundRect">
            <a:avLst>
              <a:gd fmla="val 2647" name="adj"/>
            </a:avLst>
          </a:prstGeom>
          <a:solidFill>
            <a:srgbClr val="EAEEF3"/>
          </a:solidFill>
          <a:ln cap="flat" cmpd="sng" w="12700">
            <a:solidFill>
              <a:srgbClr val="EAEEF3"/>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18"/>
          <p:cNvSpPr/>
          <p:nvPr/>
        </p:nvSpPr>
        <p:spPr>
          <a:xfrm>
            <a:off x="8750808" y="1737360"/>
            <a:ext cx="2706624"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552E"/>
              </a:buClr>
              <a:buSzPts val="950"/>
              <a:buFont typeface="Calibri"/>
              <a:buNone/>
            </a:pPr>
            <a:r>
              <a:rPr b="1" i="0" lang="en-US" sz="950" u="none" cap="none" strike="noStrike">
                <a:solidFill>
                  <a:srgbClr val="C1552E"/>
                </a:solidFill>
                <a:latin typeface="Calibri"/>
                <a:ea typeface="Calibri"/>
                <a:cs typeface="Calibri"/>
                <a:sym typeface="Calibri"/>
              </a:rPr>
              <a:t>MEASURED AGAINST</a:t>
            </a:r>
            <a:endParaRPr b="0" i="0" sz="950" u="none" cap="none" strike="noStrike">
              <a:solidFill>
                <a:schemeClr val="dk1"/>
              </a:solidFill>
              <a:latin typeface="Calibri"/>
              <a:ea typeface="Calibri"/>
              <a:cs typeface="Calibri"/>
              <a:sym typeface="Calibri"/>
            </a:endParaRPr>
          </a:p>
        </p:txBody>
      </p:sp>
      <p:sp>
        <p:nvSpPr>
          <p:cNvPr id="333" name="Google Shape;333;p18"/>
          <p:cNvSpPr/>
          <p:nvPr/>
        </p:nvSpPr>
        <p:spPr>
          <a:xfrm>
            <a:off x="8750808" y="2039112"/>
            <a:ext cx="2706624" cy="27660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1050"/>
              <a:buFont typeface="Calibri"/>
              <a:buNone/>
            </a:pPr>
            <a:r>
              <a:rPr b="1" i="0" lang="en-US" sz="1050" u="none" cap="none" strike="noStrike">
                <a:solidFill>
                  <a:srgbClr val="14304F"/>
                </a:solidFill>
                <a:latin typeface="Calibri"/>
                <a:ea typeface="Calibri"/>
                <a:cs typeface="Calibri"/>
                <a:sym typeface="Calibri"/>
              </a:rPr>
              <a:t>Education</a:t>
            </a:r>
            <a:endParaRPr b="0" i="0" sz="1050" u="none" cap="none" strike="noStrike">
              <a:solidFill>
                <a:schemeClr val="dk1"/>
              </a:solidFill>
              <a:latin typeface="Calibri"/>
              <a:ea typeface="Calibri"/>
              <a:cs typeface="Calibri"/>
              <a:sym typeface="Calibri"/>
            </a:endParaRPr>
          </a:p>
        </p:txBody>
      </p:sp>
      <p:sp>
        <p:nvSpPr>
          <p:cNvPr id="334" name="Google Shape;334;p18"/>
          <p:cNvSpPr/>
          <p:nvPr/>
        </p:nvSpPr>
        <p:spPr>
          <a:xfrm>
            <a:off x="8750808" y="2290572"/>
            <a:ext cx="2706624" cy="22631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Less than HS</a:t>
            </a:r>
            <a:endParaRPr b="0" i="0" sz="1000" u="none" cap="none" strike="noStrike">
              <a:solidFill>
                <a:schemeClr val="dk1"/>
              </a:solidFill>
              <a:latin typeface="Calibri"/>
              <a:ea typeface="Calibri"/>
              <a:cs typeface="Calibri"/>
              <a:sym typeface="Calibri"/>
            </a:endParaRPr>
          </a:p>
        </p:txBody>
      </p:sp>
      <p:sp>
        <p:nvSpPr>
          <p:cNvPr id="335" name="Google Shape;335;p18"/>
          <p:cNvSpPr/>
          <p:nvPr/>
        </p:nvSpPr>
        <p:spPr>
          <a:xfrm>
            <a:off x="8750808" y="2542032"/>
            <a:ext cx="2706624" cy="27660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1050"/>
              <a:buFont typeface="Calibri"/>
              <a:buNone/>
            </a:pPr>
            <a:r>
              <a:rPr b="1" i="0" lang="en-US" sz="1050" u="none" cap="none" strike="noStrike">
                <a:solidFill>
                  <a:srgbClr val="14304F"/>
                </a:solidFill>
                <a:latin typeface="Calibri"/>
                <a:ea typeface="Calibri"/>
                <a:cs typeface="Calibri"/>
                <a:sym typeface="Calibri"/>
              </a:rPr>
              <a:t>Race</a:t>
            </a:r>
            <a:endParaRPr b="0" i="0" sz="1050" u="none" cap="none" strike="noStrike">
              <a:solidFill>
                <a:schemeClr val="dk1"/>
              </a:solidFill>
              <a:latin typeface="Calibri"/>
              <a:ea typeface="Calibri"/>
              <a:cs typeface="Calibri"/>
              <a:sym typeface="Calibri"/>
            </a:endParaRPr>
          </a:p>
        </p:txBody>
      </p:sp>
      <p:sp>
        <p:nvSpPr>
          <p:cNvPr id="336" name="Google Shape;336;p18"/>
          <p:cNvSpPr/>
          <p:nvPr/>
        </p:nvSpPr>
        <p:spPr>
          <a:xfrm>
            <a:off x="8750808" y="2793492"/>
            <a:ext cx="2706624" cy="22631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White</a:t>
            </a:r>
            <a:endParaRPr b="0" i="0" sz="1000" u="none" cap="none" strike="noStrike">
              <a:solidFill>
                <a:schemeClr val="dk1"/>
              </a:solidFill>
              <a:latin typeface="Calibri"/>
              <a:ea typeface="Calibri"/>
              <a:cs typeface="Calibri"/>
              <a:sym typeface="Calibri"/>
            </a:endParaRPr>
          </a:p>
        </p:txBody>
      </p:sp>
      <p:sp>
        <p:nvSpPr>
          <p:cNvPr id="337" name="Google Shape;337;p18"/>
          <p:cNvSpPr/>
          <p:nvPr/>
        </p:nvSpPr>
        <p:spPr>
          <a:xfrm>
            <a:off x="8750808" y="3044952"/>
            <a:ext cx="2706624" cy="27660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1050"/>
              <a:buFont typeface="Calibri"/>
              <a:buNone/>
            </a:pPr>
            <a:r>
              <a:rPr b="1" i="0" lang="en-US" sz="1050" u="none" cap="none" strike="noStrike">
                <a:solidFill>
                  <a:srgbClr val="14304F"/>
                </a:solidFill>
                <a:latin typeface="Calibri"/>
                <a:ea typeface="Calibri"/>
                <a:cs typeface="Calibri"/>
                <a:sym typeface="Calibri"/>
              </a:rPr>
              <a:t>Marital status</a:t>
            </a:r>
            <a:endParaRPr b="0" i="0" sz="1050" u="none" cap="none" strike="noStrike">
              <a:solidFill>
                <a:schemeClr val="dk1"/>
              </a:solidFill>
              <a:latin typeface="Calibri"/>
              <a:ea typeface="Calibri"/>
              <a:cs typeface="Calibri"/>
              <a:sym typeface="Calibri"/>
            </a:endParaRPr>
          </a:p>
        </p:txBody>
      </p:sp>
      <p:sp>
        <p:nvSpPr>
          <p:cNvPr id="338" name="Google Shape;338;p18"/>
          <p:cNvSpPr/>
          <p:nvPr/>
        </p:nvSpPr>
        <p:spPr>
          <a:xfrm>
            <a:off x="8750808" y="3296412"/>
            <a:ext cx="2706624" cy="22631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Married</a:t>
            </a:r>
            <a:endParaRPr b="0" i="0" sz="1000" u="none" cap="none" strike="noStrike">
              <a:solidFill>
                <a:schemeClr val="dk1"/>
              </a:solidFill>
              <a:latin typeface="Calibri"/>
              <a:ea typeface="Calibri"/>
              <a:cs typeface="Calibri"/>
              <a:sym typeface="Calibri"/>
            </a:endParaRPr>
          </a:p>
        </p:txBody>
      </p:sp>
      <p:sp>
        <p:nvSpPr>
          <p:cNvPr id="339" name="Google Shape;339;p18"/>
          <p:cNvSpPr/>
          <p:nvPr/>
        </p:nvSpPr>
        <p:spPr>
          <a:xfrm>
            <a:off x="8750808" y="3547872"/>
            <a:ext cx="2706624" cy="27660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1050"/>
              <a:buFont typeface="Calibri"/>
              <a:buNone/>
            </a:pPr>
            <a:r>
              <a:rPr b="1" i="0" lang="en-US" sz="1050" u="none" cap="none" strike="noStrike">
                <a:solidFill>
                  <a:srgbClr val="14304F"/>
                </a:solidFill>
                <a:latin typeface="Calibri"/>
                <a:ea typeface="Calibri"/>
                <a:cs typeface="Calibri"/>
                <a:sym typeface="Calibri"/>
              </a:rPr>
              <a:t>Sex</a:t>
            </a:r>
            <a:endParaRPr b="0" i="0" sz="1050" u="none" cap="none" strike="noStrike">
              <a:solidFill>
                <a:schemeClr val="dk1"/>
              </a:solidFill>
              <a:latin typeface="Calibri"/>
              <a:ea typeface="Calibri"/>
              <a:cs typeface="Calibri"/>
              <a:sym typeface="Calibri"/>
            </a:endParaRPr>
          </a:p>
        </p:txBody>
      </p:sp>
      <p:sp>
        <p:nvSpPr>
          <p:cNvPr id="340" name="Google Shape;340;p18"/>
          <p:cNvSpPr/>
          <p:nvPr/>
        </p:nvSpPr>
        <p:spPr>
          <a:xfrm>
            <a:off x="8750808" y="3799332"/>
            <a:ext cx="2706624" cy="22631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Male</a:t>
            </a:r>
            <a:endParaRPr b="0" i="0" sz="1000" u="none" cap="none" strike="noStrike">
              <a:solidFill>
                <a:schemeClr val="dk1"/>
              </a:solidFill>
              <a:latin typeface="Calibri"/>
              <a:ea typeface="Calibri"/>
              <a:cs typeface="Calibri"/>
              <a:sym typeface="Calibri"/>
            </a:endParaRPr>
          </a:p>
        </p:txBody>
      </p:sp>
      <p:sp>
        <p:nvSpPr>
          <p:cNvPr id="341" name="Google Shape;341;p18"/>
          <p:cNvSpPr/>
          <p:nvPr/>
        </p:nvSpPr>
        <p:spPr>
          <a:xfrm>
            <a:off x="8750808" y="4050792"/>
            <a:ext cx="2706624" cy="27660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1050"/>
              <a:buFont typeface="Calibri"/>
              <a:buNone/>
            </a:pPr>
            <a:r>
              <a:rPr b="1" i="0" lang="en-US" sz="1050" u="none" cap="none" strike="noStrike">
                <a:solidFill>
                  <a:srgbClr val="14304F"/>
                </a:solidFill>
                <a:latin typeface="Calibri"/>
                <a:ea typeface="Calibri"/>
                <a:cs typeface="Calibri"/>
                <a:sym typeface="Calibri"/>
              </a:rPr>
              <a:t>English</a:t>
            </a:r>
            <a:endParaRPr b="0" i="0" sz="1050" u="none" cap="none" strike="noStrike">
              <a:solidFill>
                <a:schemeClr val="dk1"/>
              </a:solidFill>
              <a:latin typeface="Calibri"/>
              <a:ea typeface="Calibri"/>
              <a:cs typeface="Calibri"/>
              <a:sym typeface="Calibri"/>
            </a:endParaRPr>
          </a:p>
        </p:txBody>
      </p:sp>
      <p:sp>
        <p:nvSpPr>
          <p:cNvPr id="342" name="Google Shape;342;p18"/>
          <p:cNvSpPr/>
          <p:nvPr/>
        </p:nvSpPr>
        <p:spPr>
          <a:xfrm>
            <a:off x="8750808" y="4302252"/>
            <a:ext cx="2706624" cy="22631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None at all</a:t>
            </a:r>
            <a:endParaRPr b="0" i="0" sz="1000" u="none" cap="none" strike="noStrike">
              <a:solidFill>
                <a:schemeClr val="dk1"/>
              </a:solidFill>
              <a:latin typeface="Calibri"/>
              <a:ea typeface="Calibri"/>
              <a:cs typeface="Calibri"/>
              <a:sym typeface="Calibri"/>
            </a:endParaRPr>
          </a:p>
        </p:txBody>
      </p:sp>
      <p:sp>
        <p:nvSpPr>
          <p:cNvPr id="343" name="Google Shape;343;p18"/>
          <p:cNvSpPr/>
          <p:nvPr/>
        </p:nvSpPr>
        <p:spPr>
          <a:xfrm>
            <a:off x="8750808" y="4553712"/>
            <a:ext cx="2706624" cy="27660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1050"/>
              <a:buFont typeface="Calibri"/>
              <a:buNone/>
            </a:pPr>
            <a:r>
              <a:rPr b="1" i="0" lang="en-US" sz="1050" u="none" cap="none" strike="noStrike">
                <a:solidFill>
                  <a:srgbClr val="14304F"/>
                </a:solidFill>
                <a:latin typeface="Calibri"/>
                <a:ea typeface="Calibri"/>
                <a:cs typeface="Calibri"/>
                <a:sym typeface="Calibri"/>
              </a:rPr>
              <a:t>Homeownership</a:t>
            </a:r>
            <a:endParaRPr b="0" i="0" sz="1050" u="none" cap="none" strike="noStrike">
              <a:solidFill>
                <a:schemeClr val="dk1"/>
              </a:solidFill>
              <a:latin typeface="Calibri"/>
              <a:ea typeface="Calibri"/>
              <a:cs typeface="Calibri"/>
              <a:sym typeface="Calibri"/>
            </a:endParaRPr>
          </a:p>
        </p:txBody>
      </p:sp>
      <p:sp>
        <p:nvSpPr>
          <p:cNvPr id="344" name="Google Shape;344;p18"/>
          <p:cNvSpPr/>
          <p:nvPr/>
        </p:nvSpPr>
        <p:spPr>
          <a:xfrm>
            <a:off x="8750808" y="4805172"/>
            <a:ext cx="2706624" cy="22631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Owns home</a:t>
            </a:r>
            <a:endParaRPr b="0" i="0" sz="1000" u="none" cap="none" strike="noStrike">
              <a:solidFill>
                <a:schemeClr val="dk1"/>
              </a:solidFill>
              <a:latin typeface="Calibri"/>
              <a:ea typeface="Calibri"/>
              <a:cs typeface="Calibri"/>
              <a:sym typeface="Calibri"/>
            </a:endParaRPr>
          </a:p>
        </p:txBody>
      </p:sp>
      <p:sp>
        <p:nvSpPr>
          <p:cNvPr id="345" name="Google Shape;345;p18"/>
          <p:cNvSpPr/>
          <p:nvPr/>
        </p:nvSpPr>
        <p:spPr>
          <a:xfrm>
            <a:off x="1188695" y="5154913"/>
            <a:ext cx="10470000" cy="822900"/>
          </a:xfrm>
          <a:prstGeom prst="roundRect">
            <a:avLst>
              <a:gd fmla="val 10000" name="adj"/>
            </a:avLst>
          </a:prstGeom>
          <a:solidFill>
            <a:srgbClr val="F7E9E3"/>
          </a:solidFill>
          <a:ln cap="flat" cmpd="sng" w="12700">
            <a:solidFill>
              <a:srgbClr val="F7E9E3"/>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18"/>
          <p:cNvSpPr/>
          <p:nvPr/>
        </p:nvSpPr>
        <p:spPr>
          <a:xfrm>
            <a:off x="1463040" y="5417759"/>
            <a:ext cx="9921300" cy="640200"/>
          </a:xfrm>
          <a:prstGeom prst="rect">
            <a:avLst/>
          </a:prstGeom>
          <a:noFill/>
          <a:ln>
            <a:noFill/>
          </a:ln>
        </p:spPr>
        <p:txBody>
          <a:bodyPr anchorCtr="0" anchor="ctr" bIns="0" lIns="0" spcFirstLastPara="1" rIns="0" wrap="square" tIns="0">
            <a:noAutofit/>
          </a:bodyPr>
          <a:lstStyle/>
          <a:p>
            <a:pPr indent="0" lvl="0" marL="381000" marR="381000" rtl="0" algn="l">
              <a:lnSpc>
                <a:spcPct val="115000"/>
              </a:lnSpc>
              <a:spcBef>
                <a:spcPts val="1400"/>
              </a:spcBef>
              <a:spcAft>
                <a:spcPts val="0"/>
              </a:spcAft>
              <a:buClr>
                <a:schemeClr val="dk1"/>
              </a:buClr>
              <a:buSzPts val="1100"/>
              <a:buFont typeface="Arial"/>
              <a:buNone/>
            </a:pPr>
            <a:r>
              <a:rPr b="1" lang="en-US" sz="1050">
                <a:solidFill>
                  <a:srgbClr val="3A2A22"/>
                </a:solidFill>
                <a:latin typeface="Calibri"/>
                <a:ea typeface="Calibri"/>
                <a:cs typeface="Calibri"/>
                <a:sym typeface="Calibri"/>
              </a:rPr>
              <a:t>These are the 14 largest LASSO coefficients in absolute size. They show the strongest positive and negative associations with naturalization after controlling for the other variables. Race categories appear several times, but these are comparisons with the White reference group and should not be interpreted as causal effects. Years in the U.S. is not shown because this chart ranks the effect of a one-unit change. One additional year has a smaller coefficient, even though the effect becomes much larger across many years. LASSO retained 77 of the 81 columns, so it reduced the model only slightly rather than selecting a very small group of predictors.”</a:t>
            </a:r>
            <a:endParaRPr b="1" sz="1050">
              <a:solidFill>
                <a:srgbClr val="3A2A22"/>
              </a:solidFill>
              <a:latin typeface="Calibri"/>
              <a:ea typeface="Calibri"/>
              <a:cs typeface="Calibri"/>
              <a:sym typeface="Calibri"/>
            </a:endParaRPr>
          </a:p>
          <a:p>
            <a:pPr indent="0" lvl="0" marL="0" marR="0" rtl="0" algn="l">
              <a:lnSpc>
                <a:spcPct val="108000"/>
              </a:lnSpc>
              <a:spcBef>
                <a:spcPts val="1400"/>
              </a:spcBef>
              <a:spcAft>
                <a:spcPts val="0"/>
              </a:spcAft>
              <a:buClr>
                <a:srgbClr val="3A2A22"/>
              </a:buClr>
              <a:buSzPts val="1050"/>
              <a:buFont typeface="Calibri"/>
              <a:buNone/>
            </a:pPr>
            <a:r>
              <a:t/>
            </a:r>
            <a:endParaRPr b="1" sz="1050">
              <a:solidFill>
                <a:srgbClr val="3A2A22"/>
              </a:solidFill>
              <a:latin typeface="Calibri"/>
              <a:ea typeface="Calibri"/>
              <a:cs typeface="Calibri"/>
              <a:sym typeface="Calibri"/>
            </a:endParaRPr>
          </a:p>
        </p:txBody>
      </p:sp>
      <p:sp>
        <p:nvSpPr>
          <p:cNvPr id="347" name="Google Shape;347;p18"/>
          <p:cNvSpPr/>
          <p:nvPr/>
        </p:nvSpPr>
        <p:spPr>
          <a:xfrm>
            <a:off x="548640" y="6355080"/>
            <a:ext cx="54864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A7B8"/>
              </a:buClr>
              <a:buSzPts val="950"/>
              <a:buFont typeface="Calibri"/>
              <a:buNone/>
            </a:pPr>
            <a:r>
              <a:rPr b="0" i="0" lang="en-US" sz="950" u="none" cap="none" strike="noStrike">
                <a:solidFill>
                  <a:srgbClr val="9AA7B8"/>
                </a:solidFill>
                <a:latin typeface="Calibri"/>
                <a:ea typeface="Calibri"/>
                <a:cs typeface="Calibri"/>
                <a:sym typeface="Calibri"/>
              </a:rPr>
              <a:t>LASSO</a:t>
            </a:r>
            <a:endParaRPr b="0" i="0" sz="950" u="none" cap="none" strike="noStrike">
              <a:solidFill>
                <a:schemeClr val="dk1"/>
              </a:solidFill>
              <a:latin typeface="Calibri"/>
              <a:ea typeface="Calibri"/>
              <a:cs typeface="Calibri"/>
              <a:sym typeface="Calibri"/>
            </a:endParaRPr>
          </a:p>
        </p:txBody>
      </p:sp>
      <p:sp>
        <p:nvSpPr>
          <p:cNvPr id="348" name="Google Shape;348;p18"/>
          <p:cNvSpPr/>
          <p:nvPr/>
        </p:nvSpPr>
        <p:spPr>
          <a:xfrm>
            <a:off x="11338560" y="6355080"/>
            <a:ext cx="365760" cy="25603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A7B8"/>
              </a:buClr>
              <a:buSzPts val="950"/>
              <a:buFont typeface="Calibri"/>
              <a:buNone/>
            </a:pPr>
            <a:r>
              <a:rPr b="0" i="0" lang="en-US" sz="950" u="none" cap="none" strike="noStrike">
                <a:solidFill>
                  <a:srgbClr val="9AA7B8"/>
                </a:solidFill>
                <a:latin typeface="Calibri"/>
                <a:ea typeface="Calibri"/>
                <a:cs typeface="Calibri"/>
                <a:sym typeface="Calibri"/>
              </a:rPr>
              <a:t>17</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C"/>
        </a:solidFill>
      </p:bgPr>
    </p:bg>
    <p:spTree>
      <p:nvGrpSpPr>
        <p:cNvPr id="353" name="Shape 353"/>
        <p:cNvGrpSpPr/>
        <p:nvPr/>
      </p:nvGrpSpPr>
      <p:grpSpPr>
        <a:xfrm>
          <a:off x="0" y="0"/>
          <a:ext cx="0" cy="0"/>
          <a:chOff x="0" y="0"/>
          <a:chExt cx="0" cy="0"/>
        </a:xfrm>
      </p:grpSpPr>
      <p:sp>
        <p:nvSpPr>
          <p:cNvPr id="354" name="Google Shape;354;p19"/>
          <p:cNvSpPr/>
          <p:nvPr/>
        </p:nvSpPr>
        <p:spPr>
          <a:xfrm>
            <a:off x="548640" y="384048"/>
            <a:ext cx="10058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552E"/>
              </a:buClr>
              <a:buSzPts val="1150"/>
              <a:buFont typeface="Calibri"/>
              <a:buNone/>
            </a:pPr>
            <a:r>
              <a:rPr b="1" i="0" lang="en-US" sz="1150" u="none" cap="none" strike="noStrike">
                <a:solidFill>
                  <a:srgbClr val="C1552E"/>
                </a:solidFill>
                <a:latin typeface="Calibri"/>
                <a:ea typeface="Calibri"/>
                <a:cs typeface="Calibri"/>
                <a:sym typeface="Calibri"/>
              </a:rPr>
              <a:t>RESPONSE A, THE BASELINE</a:t>
            </a:r>
            <a:endParaRPr b="0" i="0" sz="1150" u="none" cap="none" strike="noStrike">
              <a:solidFill>
                <a:schemeClr val="dk1"/>
              </a:solidFill>
              <a:latin typeface="Calibri"/>
              <a:ea typeface="Calibri"/>
              <a:cs typeface="Calibri"/>
              <a:sym typeface="Calibri"/>
            </a:endParaRPr>
          </a:p>
        </p:txBody>
      </p:sp>
      <p:sp>
        <p:nvSpPr>
          <p:cNvPr id="355" name="Google Shape;355;p19"/>
          <p:cNvSpPr/>
          <p:nvPr/>
        </p:nvSpPr>
        <p:spPr>
          <a:xfrm>
            <a:off x="530352" y="640080"/>
            <a:ext cx="1115568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2700"/>
              <a:buFont typeface="Cambria"/>
              <a:buNone/>
            </a:pPr>
            <a:r>
              <a:rPr b="1" i="0" lang="en-US" sz="2700" u="none" cap="none" strike="noStrike">
                <a:solidFill>
                  <a:srgbClr val="14304F"/>
                </a:solidFill>
                <a:latin typeface="Cambria"/>
                <a:ea typeface="Cambria"/>
                <a:cs typeface="Cambria"/>
                <a:sym typeface="Cambria"/>
              </a:rPr>
              <a:t>Baseline logistic regression</a:t>
            </a:r>
            <a:endParaRPr b="0" i="0" sz="2700" u="none" cap="none" strike="noStrike">
              <a:solidFill>
                <a:schemeClr val="dk1"/>
              </a:solidFill>
              <a:latin typeface="Calibri"/>
              <a:ea typeface="Calibri"/>
              <a:cs typeface="Calibri"/>
              <a:sym typeface="Calibri"/>
            </a:endParaRPr>
          </a:p>
        </p:txBody>
      </p:sp>
      <p:sp>
        <p:nvSpPr>
          <p:cNvPr id="356" name="Google Shape;356;p19"/>
          <p:cNvSpPr/>
          <p:nvPr/>
        </p:nvSpPr>
        <p:spPr>
          <a:xfrm>
            <a:off x="640080" y="1463040"/>
            <a:ext cx="10881360" cy="4160520"/>
          </a:xfrm>
          <a:prstGeom prst="roundRect">
            <a:avLst>
              <a:gd fmla="val 1978" name="adj"/>
            </a:avLst>
          </a:prstGeom>
          <a:solidFill>
            <a:srgbClr val="FFFFFF"/>
          </a:solidFill>
          <a:ln cap="flat" cmpd="sng" w="12700">
            <a:solidFill>
              <a:srgbClr val="FFFFFF"/>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naturalization_deck/charts/baseline_sigmoid.png" id="357" name="Google Shape;357;p19"/>
          <p:cNvPicPr preferRelativeResize="0"/>
          <p:nvPr/>
        </p:nvPicPr>
        <p:blipFill rotWithShape="1">
          <a:blip r:embed="rId3">
            <a:alphaModFix/>
          </a:blip>
          <a:srcRect b="0" l="0" r="0" t="0"/>
          <a:stretch/>
        </p:blipFill>
        <p:spPr>
          <a:xfrm>
            <a:off x="2194560" y="1645920"/>
            <a:ext cx="7772400" cy="3703320"/>
          </a:xfrm>
          <a:prstGeom prst="rect">
            <a:avLst/>
          </a:prstGeom>
          <a:noFill/>
          <a:ln>
            <a:noFill/>
          </a:ln>
        </p:spPr>
      </p:pic>
      <p:sp>
        <p:nvSpPr>
          <p:cNvPr id="358" name="Google Shape;358;p19"/>
          <p:cNvSpPr/>
          <p:nvPr/>
        </p:nvSpPr>
        <p:spPr>
          <a:xfrm>
            <a:off x="640080" y="5760720"/>
            <a:ext cx="105156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One predictor, years in the U.S., traced as a sigmoid. The actual rate plateaus around year 11 while the curve keeps rising, so one variable alone underfits this window.</a:t>
            </a:r>
            <a:endParaRPr b="0" i="0" sz="1200" u="none" cap="none" strike="noStrike">
              <a:solidFill>
                <a:schemeClr val="dk1"/>
              </a:solidFill>
              <a:latin typeface="Calibri"/>
              <a:ea typeface="Calibri"/>
              <a:cs typeface="Calibri"/>
              <a:sym typeface="Calibri"/>
            </a:endParaRPr>
          </a:p>
        </p:txBody>
      </p:sp>
      <p:sp>
        <p:nvSpPr>
          <p:cNvPr id="359" name="Google Shape;359;p19"/>
          <p:cNvSpPr/>
          <p:nvPr/>
        </p:nvSpPr>
        <p:spPr>
          <a:xfrm>
            <a:off x="548640" y="6355080"/>
            <a:ext cx="54864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A7B8"/>
              </a:buClr>
              <a:buSzPts val="950"/>
              <a:buFont typeface="Calibri"/>
              <a:buNone/>
            </a:pPr>
            <a:r>
              <a:rPr b="0" i="0" lang="en-US" sz="950" u="none" cap="none" strike="noStrike">
                <a:solidFill>
                  <a:srgbClr val="9AA7B8"/>
                </a:solidFill>
                <a:latin typeface="Calibri"/>
                <a:ea typeface="Calibri"/>
                <a:cs typeface="Calibri"/>
                <a:sym typeface="Calibri"/>
              </a:rPr>
              <a:t>BASELINE MODEL</a:t>
            </a:r>
            <a:endParaRPr b="0" i="0" sz="950" u="none" cap="none" strike="noStrike">
              <a:solidFill>
                <a:schemeClr val="dk1"/>
              </a:solidFill>
              <a:latin typeface="Calibri"/>
              <a:ea typeface="Calibri"/>
              <a:cs typeface="Calibri"/>
              <a:sym typeface="Calibri"/>
            </a:endParaRPr>
          </a:p>
        </p:txBody>
      </p:sp>
      <p:sp>
        <p:nvSpPr>
          <p:cNvPr id="360" name="Google Shape;360;p19"/>
          <p:cNvSpPr/>
          <p:nvPr/>
        </p:nvSpPr>
        <p:spPr>
          <a:xfrm>
            <a:off x="11338560" y="6355080"/>
            <a:ext cx="365760" cy="25603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A7B8"/>
              </a:buClr>
              <a:buSzPts val="950"/>
              <a:buFont typeface="Calibri"/>
              <a:buNone/>
            </a:pPr>
            <a:r>
              <a:rPr b="0" i="0" lang="en-US" sz="950" u="none" cap="none" strike="noStrike">
                <a:solidFill>
                  <a:srgbClr val="9AA7B8"/>
                </a:solidFill>
                <a:latin typeface="Calibri"/>
                <a:ea typeface="Calibri"/>
                <a:cs typeface="Calibri"/>
                <a:sym typeface="Calibri"/>
              </a:rPr>
              <a:t>18</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C"/>
        </a:solidFill>
      </p:bgPr>
    </p:bg>
    <p:spTree>
      <p:nvGrpSpPr>
        <p:cNvPr id="365" name="Shape 365"/>
        <p:cNvGrpSpPr/>
        <p:nvPr/>
      </p:nvGrpSpPr>
      <p:grpSpPr>
        <a:xfrm>
          <a:off x="0" y="0"/>
          <a:ext cx="0" cy="0"/>
          <a:chOff x="0" y="0"/>
          <a:chExt cx="0" cy="0"/>
        </a:xfrm>
      </p:grpSpPr>
      <p:sp>
        <p:nvSpPr>
          <p:cNvPr id="366" name="Google Shape;366;p20"/>
          <p:cNvSpPr/>
          <p:nvPr/>
        </p:nvSpPr>
        <p:spPr>
          <a:xfrm>
            <a:off x="548640" y="384048"/>
            <a:ext cx="10058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552E"/>
              </a:buClr>
              <a:buSzPts val="1150"/>
              <a:buFont typeface="Calibri"/>
              <a:buNone/>
            </a:pPr>
            <a:r>
              <a:rPr b="1" i="0" lang="en-US" sz="1150" u="none" cap="none" strike="noStrike">
                <a:solidFill>
                  <a:srgbClr val="C1552E"/>
                </a:solidFill>
                <a:latin typeface="Calibri"/>
                <a:ea typeface="Calibri"/>
                <a:cs typeface="Calibri"/>
                <a:sym typeface="Calibri"/>
              </a:rPr>
              <a:t>RESPONSE A, THE FULL MODEL</a:t>
            </a:r>
            <a:endParaRPr b="0" i="0" sz="1150" u="none" cap="none" strike="noStrike">
              <a:solidFill>
                <a:schemeClr val="dk1"/>
              </a:solidFill>
              <a:latin typeface="Calibri"/>
              <a:ea typeface="Calibri"/>
              <a:cs typeface="Calibri"/>
              <a:sym typeface="Calibri"/>
            </a:endParaRPr>
          </a:p>
        </p:txBody>
      </p:sp>
      <p:sp>
        <p:nvSpPr>
          <p:cNvPr id="367" name="Google Shape;367;p20"/>
          <p:cNvSpPr/>
          <p:nvPr/>
        </p:nvSpPr>
        <p:spPr>
          <a:xfrm>
            <a:off x="530352" y="640080"/>
            <a:ext cx="1115568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2400"/>
              <a:buFont typeface="Cambria"/>
              <a:buNone/>
            </a:pPr>
            <a:r>
              <a:rPr b="1" i="0" lang="en-US" sz="2400" u="none" cap="none" strike="noStrike">
                <a:solidFill>
                  <a:srgbClr val="14304F"/>
                </a:solidFill>
                <a:latin typeface="Cambria"/>
                <a:ea typeface="Cambria"/>
                <a:cs typeface="Cambria"/>
                <a:sym typeface="Cambria"/>
              </a:rPr>
              <a:t>Relaxed logistic regression</a:t>
            </a:r>
            <a:endParaRPr b="0" i="0" sz="2400" u="none" cap="none" strike="noStrike">
              <a:solidFill>
                <a:schemeClr val="dk1"/>
              </a:solidFill>
              <a:latin typeface="Calibri"/>
              <a:ea typeface="Calibri"/>
              <a:cs typeface="Calibri"/>
              <a:sym typeface="Calibri"/>
            </a:endParaRPr>
          </a:p>
        </p:txBody>
      </p:sp>
      <p:sp>
        <p:nvSpPr>
          <p:cNvPr id="368" name="Google Shape;368;p20"/>
          <p:cNvSpPr/>
          <p:nvPr/>
        </p:nvSpPr>
        <p:spPr>
          <a:xfrm>
            <a:off x="548640" y="1417320"/>
            <a:ext cx="7863840" cy="4206240"/>
          </a:xfrm>
          <a:prstGeom prst="roundRect">
            <a:avLst>
              <a:gd fmla="val 1957" name="adj"/>
            </a:avLst>
          </a:prstGeom>
          <a:solidFill>
            <a:srgbClr val="FFFFFF"/>
          </a:solidFill>
          <a:ln cap="flat" cmpd="sng" w="12700">
            <a:solidFill>
              <a:srgbClr val="FFFFFF"/>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20"/>
          <p:cNvSpPr/>
          <p:nvPr/>
        </p:nvSpPr>
        <p:spPr>
          <a:xfrm>
            <a:off x="822960" y="1600200"/>
            <a:ext cx="7315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1350"/>
              <a:buFont typeface="Calibri"/>
              <a:buNone/>
            </a:pPr>
            <a:r>
              <a:rPr b="1" i="0" lang="en-US" sz="1350" u="none" cap="none" strike="noStrike">
                <a:solidFill>
                  <a:srgbClr val="14304F"/>
                </a:solidFill>
                <a:latin typeface="Calibri"/>
                <a:ea typeface="Calibri"/>
                <a:cs typeface="Calibri"/>
                <a:sym typeface="Calibri"/>
              </a:rPr>
              <a:t>The 14 odds ratios furthest from 1.0x, real values, not curated for the story</a:t>
            </a:r>
            <a:endParaRPr b="0" i="0" sz="1350" u="none" cap="none" strike="noStrike">
              <a:solidFill>
                <a:schemeClr val="dk1"/>
              </a:solidFill>
              <a:latin typeface="Calibri"/>
              <a:ea typeface="Calibri"/>
              <a:cs typeface="Calibri"/>
              <a:sym typeface="Calibri"/>
            </a:endParaRPr>
          </a:p>
        </p:txBody>
      </p:sp>
      <p:pic>
        <p:nvPicPr>
          <p:cNvPr descr="/home/claude/naturalization_deck/charts/fullmodel_oddsratio.png" id="370" name="Google Shape;370;p20"/>
          <p:cNvPicPr preferRelativeResize="0"/>
          <p:nvPr/>
        </p:nvPicPr>
        <p:blipFill rotWithShape="1">
          <a:blip r:embed="rId3">
            <a:alphaModFix/>
          </a:blip>
          <a:srcRect b="0" l="0" r="0" t="0"/>
          <a:stretch/>
        </p:blipFill>
        <p:spPr>
          <a:xfrm>
            <a:off x="777240" y="1920240"/>
            <a:ext cx="7406640" cy="3474720"/>
          </a:xfrm>
          <a:prstGeom prst="rect">
            <a:avLst/>
          </a:prstGeom>
          <a:noFill/>
          <a:ln>
            <a:noFill/>
          </a:ln>
        </p:spPr>
      </p:pic>
      <p:sp>
        <p:nvSpPr>
          <p:cNvPr id="371" name="Google Shape;371;p20"/>
          <p:cNvSpPr/>
          <p:nvPr/>
        </p:nvSpPr>
        <p:spPr>
          <a:xfrm>
            <a:off x="8641080" y="1417320"/>
            <a:ext cx="2880360" cy="4206240"/>
          </a:xfrm>
          <a:prstGeom prst="roundRect">
            <a:avLst>
              <a:gd fmla="val 2857" name="adj"/>
            </a:avLst>
          </a:prstGeom>
          <a:solidFill>
            <a:srgbClr val="EAEEF3"/>
          </a:solidFill>
          <a:ln cap="flat" cmpd="sng" w="12700">
            <a:solidFill>
              <a:srgbClr val="EAEEF3"/>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20"/>
          <p:cNvSpPr/>
          <p:nvPr/>
        </p:nvSpPr>
        <p:spPr>
          <a:xfrm>
            <a:off x="8842248" y="1554480"/>
            <a:ext cx="2478024"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552E"/>
              </a:buClr>
              <a:buSzPts val="950"/>
              <a:buFont typeface="Calibri"/>
              <a:buNone/>
            </a:pPr>
            <a:r>
              <a:rPr b="1" i="0" lang="en-US" sz="950" u="none" cap="none" strike="noStrike">
                <a:solidFill>
                  <a:srgbClr val="C1552E"/>
                </a:solidFill>
                <a:latin typeface="Calibri"/>
                <a:ea typeface="Calibri"/>
                <a:cs typeface="Calibri"/>
                <a:sym typeface="Calibri"/>
              </a:rPr>
              <a:t>MEASURED AGAINST</a:t>
            </a:r>
            <a:endParaRPr b="0" i="0" sz="950" u="none" cap="none" strike="noStrike">
              <a:solidFill>
                <a:schemeClr val="dk1"/>
              </a:solidFill>
              <a:latin typeface="Calibri"/>
              <a:ea typeface="Calibri"/>
              <a:cs typeface="Calibri"/>
              <a:sym typeface="Calibri"/>
            </a:endParaRPr>
          </a:p>
        </p:txBody>
      </p:sp>
      <p:sp>
        <p:nvSpPr>
          <p:cNvPr id="373" name="Google Shape;373;p20"/>
          <p:cNvSpPr/>
          <p:nvPr/>
        </p:nvSpPr>
        <p:spPr>
          <a:xfrm>
            <a:off x="8842248" y="1856232"/>
            <a:ext cx="2478024" cy="40736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1100"/>
              <a:buFont typeface="Calibri"/>
              <a:buNone/>
            </a:pPr>
            <a:r>
              <a:rPr b="1" i="0" lang="en-US" sz="1100" u="none" cap="none" strike="noStrike">
                <a:solidFill>
                  <a:srgbClr val="14304F"/>
                </a:solidFill>
                <a:latin typeface="Calibri"/>
                <a:ea typeface="Calibri"/>
                <a:cs typeface="Calibri"/>
                <a:sym typeface="Calibri"/>
              </a:rPr>
              <a:t>English</a:t>
            </a:r>
            <a:endParaRPr b="0" i="0" sz="1100" u="none" cap="none" strike="noStrike">
              <a:solidFill>
                <a:schemeClr val="dk1"/>
              </a:solidFill>
              <a:latin typeface="Calibri"/>
              <a:ea typeface="Calibri"/>
              <a:cs typeface="Calibri"/>
              <a:sym typeface="Calibri"/>
            </a:endParaRPr>
          </a:p>
        </p:txBody>
      </p:sp>
      <p:sp>
        <p:nvSpPr>
          <p:cNvPr id="374" name="Google Shape;374;p20"/>
          <p:cNvSpPr/>
          <p:nvPr/>
        </p:nvSpPr>
        <p:spPr>
          <a:xfrm>
            <a:off x="8842248" y="2226564"/>
            <a:ext cx="2478024" cy="3332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050"/>
              <a:buFont typeface="Calibri"/>
              <a:buNone/>
            </a:pPr>
            <a:r>
              <a:rPr b="0" i="0" lang="en-US" sz="1050" u="none" cap="none" strike="noStrike">
                <a:solidFill>
                  <a:srgbClr val="5B6472"/>
                </a:solidFill>
                <a:latin typeface="Calibri"/>
                <a:ea typeface="Calibri"/>
                <a:cs typeface="Calibri"/>
                <a:sym typeface="Calibri"/>
              </a:rPr>
              <a:t>None at all</a:t>
            </a:r>
            <a:endParaRPr b="0" i="0" sz="1050" u="none" cap="none" strike="noStrike">
              <a:solidFill>
                <a:schemeClr val="dk1"/>
              </a:solidFill>
              <a:latin typeface="Calibri"/>
              <a:ea typeface="Calibri"/>
              <a:cs typeface="Calibri"/>
              <a:sym typeface="Calibri"/>
            </a:endParaRPr>
          </a:p>
        </p:txBody>
      </p:sp>
      <p:sp>
        <p:nvSpPr>
          <p:cNvPr id="375" name="Google Shape;375;p20"/>
          <p:cNvSpPr/>
          <p:nvPr/>
        </p:nvSpPr>
        <p:spPr>
          <a:xfrm>
            <a:off x="8842248" y="2596896"/>
            <a:ext cx="2478024" cy="40736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1100"/>
              <a:buFont typeface="Calibri"/>
              <a:buNone/>
            </a:pPr>
            <a:r>
              <a:rPr b="1" i="0" lang="en-US" sz="1100" u="none" cap="none" strike="noStrike">
                <a:solidFill>
                  <a:srgbClr val="14304F"/>
                </a:solidFill>
                <a:latin typeface="Calibri"/>
                <a:ea typeface="Calibri"/>
                <a:cs typeface="Calibri"/>
                <a:sym typeface="Calibri"/>
              </a:rPr>
              <a:t>Education</a:t>
            </a:r>
            <a:endParaRPr b="0" i="0" sz="1100" u="none" cap="none" strike="noStrike">
              <a:solidFill>
                <a:schemeClr val="dk1"/>
              </a:solidFill>
              <a:latin typeface="Calibri"/>
              <a:ea typeface="Calibri"/>
              <a:cs typeface="Calibri"/>
              <a:sym typeface="Calibri"/>
            </a:endParaRPr>
          </a:p>
        </p:txBody>
      </p:sp>
      <p:sp>
        <p:nvSpPr>
          <p:cNvPr id="376" name="Google Shape;376;p20"/>
          <p:cNvSpPr/>
          <p:nvPr/>
        </p:nvSpPr>
        <p:spPr>
          <a:xfrm>
            <a:off x="8842248" y="2967228"/>
            <a:ext cx="2478024" cy="3332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050"/>
              <a:buFont typeface="Calibri"/>
              <a:buNone/>
            </a:pPr>
            <a:r>
              <a:rPr b="0" i="0" lang="en-US" sz="1050" u="none" cap="none" strike="noStrike">
                <a:solidFill>
                  <a:srgbClr val="5B6472"/>
                </a:solidFill>
                <a:latin typeface="Calibri"/>
                <a:ea typeface="Calibri"/>
                <a:cs typeface="Calibri"/>
                <a:sym typeface="Calibri"/>
              </a:rPr>
              <a:t>Less than HS</a:t>
            </a:r>
            <a:endParaRPr b="0" i="0" sz="1050" u="none" cap="none" strike="noStrike">
              <a:solidFill>
                <a:schemeClr val="dk1"/>
              </a:solidFill>
              <a:latin typeface="Calibri"/>
              <a:ea typeface="Calibri"/>
              <a:cs typeface="Calibri"/>
              <a:sym typeface="Calibri"/>
            </a:endParaRPr>
          </a:p>
        </p:txBody>
      </p:sp>
      <p:sp>
        <p:nvSpPr>
          <p:cNvPr id="377" name="Google Shape;377;p20"/>
          <p:cNvSpPr/>
          <p:nvPr/>
        </p:nvSpPr>
        <p:spPr>
          <a:xfrm>
            <a:off x="8842248" y="3337560"/>
            <a:ext cx="2478024" cy="40736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1100"/>
              <a:buFont typeface="Calibri"/>
              <a:buNone/>
            </a:pPr>
            <a:r>
              <a:rPr b="1" i="0" lang="en-US" sz="1100" u="none" cap="none" strike="noStrike">
                <a:solidFill>
                  <a:srgbClr val="14304F"/>
                </a:solidFill>
                <a:latin typeface="Calibri"/>
                <a:ea typeface="Calibri"/>
                <a:cs typeface="Calibri"/>
                <a:sym typeface="Calibri"/>
              </a:rPr>
              <a:t>Race</a:t>
            </a:r>
            <a:endParaRPr b="0" i="0" sz="1100" u="none" cap="none" strike="noStrike">
              <a:solidFill>
                <a:schemeClr val="dk1"/>
              </a:solidFill>
              <a:latin typeface="Calibri"/>
              <a:ea typeface="Calibri"/>
              <a:cs typeface="Calibri"/>
              <a:sym typeface="Calibri"/>
            </a:endParaRPr>
          </a:p>
        </p:txBody>
      </p:sp>
      <p:sp>
        <p:nvSpPr>
          <p:cNvPr id="378" name="Google Shape;378;p20"/>
          <p:cNvSpPr/>
          <p:nvPr/>
        </p:nvSpPr>
        <p:spPr>
          <a:xfrm>
            <a:off x="8842248" y="3707892"/>
            <a:ext cx="2478024" cy="3332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050"/>
              <a:buFont typeface="Calibri"/>
              <a:buNone/>
            </a:pPr>
            <a:r>
              <a:rPr b="0" i="0" lang="en-US" sz="1050" u="none" cap="none" strike="noStrike">
                <a:solidFill>
                  <a:srgbClr val="5B6472"/>
                </a:solidFill>
                <a:latin typeface="Calibri"/>
                <a:ea typeface="Calibri"/>
                <a:cs typeface="Calibri"/>
                <a:sym typeface="Calibri"/>
              </a:rPr>
              <a:t>White</a:t>
            </a:r>
            <a:endParaRPr b="0" i="0" sz="1050" u="none" cap="none" strike="noStrike">
              <a:solidFill>
                <a:schemeClr val="dk1"/>
              </a:solidFill>
              <a:latin typeface="Calibri"/>
              <a:ea typeface="Calibri"/>
              <a:cs typeface="Calibri"/>
              <a:sym typeface="Calibri"/>
            </a:endParaRPr>
          </a:p>
        </p:txBody>
      </p:sp>
      <p:sp>
        <p:nvSpPr>
          <p:cNvPr id="379" name="Google Shape;379;p20"/>
          <p:cNvSpPr/>
          <p:nvPr/>
        </p:nvSpPr>
        <p:spPr>
          <a:xfrm>
            <a:off x="8842248" y="4078224"/>
            <a:ext cx="2478024" cy="40736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1100"/>
              <a:buFont typeface="Calibri"/>
              <a:buNone/>
            </a:pPr>
            <a:r>
              <a:rPr b="1" i="0" lang="en-US" sz="1100" u="none" cap="none" strike="noStrike">
                <a:solidFill>
                  <a:srgbClr val="14304F"/>
                </a:solidFill>
                <a:latin typeface="Calibri"/>
                <a:ea typeface="Calibri"/>
                <a:cs typeface="Calibri"/>
                <a:sym typeface="Calibri"/>
              </a:rPr>
              <a:t>Marital status</a:t>
            </a:r>
            <a:endParaRPr b="0" i="0" sz="1100" u="none" cap="none" strike="noStrike">
              <a:solidFill>
                <a:schemeClr val="dk1"/>
              </a:solidFill>
              <a:latin typeface="Calibri"/>
              <a:ea typeface="Calibri"/>
              <a:cs typeface="Calibri"/>
              <a:sym typeface="Calibri"/>
            </a:endParaRPr>
          </a:p>
        </p:txBody>
      </p:sp>
      <p:sp>
        <p:nvSpPr>
          <p:cNvPr id="380" name="Google Shape;380;p20"/>
          <p:cNvSpPr/>
          <p:nvPr/>
        </p:nvSpPr>
        <p:spPr>
          <a:xfrm>
            <a:off x="8842248" y="4448556"/>
            <a:ext cx="2478024" cy="3332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050"/>
              <a:buFont typeface="Calibri"/>
              <a:buNone/>
            </a:pPr>
            <a:r>
              <a:rPr b="0" i="0" lang="en-US" sz="1050" u="none" cap="none" strike="noStrike">
                <a:solidFill>
                  <a:srgbClr val="5B6472"/>
                </a:solidFill>
                <a:latin typeface="Calibri"/>
                <a:ea typeface="Calibri"/>
                <a:cs typeface="Calibri"/>
                <a:sym typeface="Calibri"/>
              </a:rPr>
              <a:t>Married</a:t>
            </a:r>
            <a:endParaRPr b="0" i="0" sz="1050" u="none" cap="none" strike="noStrike">
              <a:solidFill>
                <a:schemeClr val="dk1"/>
              </a:solidFill>
              <a:latin typeface="Calibri"/>
              <a:ea typeface="Calibri"/>
              <a:cs typeface="Calibri"/>
              <a:sym typeface="Calibri"/>
            </a:endParaRPr>
          </a:p>
        </p:txBody>
      </p:sp>
      <p:sp>
        <p:nvSpPr>
          <p:cNvPr id="381" name="Google Shape;381;p20"/>
          <p:cNvSpPr/>
          <p:nvPr/>
        </p:nvSpPr>
        <p:spPr>
          <a:xfrm>
            <a:off x="8842248" y="4818888"/>
            <a:ext cx="2478024" cy="40736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1100"/>
              <a:buFont typeface="Calibri"/>
              <a:buNone/>
            </a:pPr>
            <a:r>
              <a:rPr b="1" i="0" lang="en-US" sz="1100" u="none" cap="none" strike="noStrike">
                <a:solidFill>
                  <a:srgbClr val="14304F"/>
                </a:solidFill>
                <a:latin typeface="Calibri"/>
                <a:ea typeface="Calibri"/>
                <a:cs typeface="Calibri"/>
                <a:sym typeface="Calibri"/>
              </a:rPr>
              <a:t>Homeownership</a:t>
            </a:r>
            <a:endParaRPr b="0" i="0" sz="1100" u="none" cap="none" strike="noStrike">
              <a:solidFill>
                <a:schemeClr val="dk1"/>
              </a:solidFill>
              <a:latin typeface="Calibri"/>
              <a:ea typeface="Calibri"/>
              <a:cs typeface="Calibri"/>
              <a:sym typeface="Calibri"/>
            </a:endParaRPr>
          </a:p>
        </p:txBody>
      </p:sp>
      <p:sp>
        <p:nvSpPr>
          <p:cNvPr id="382" name="Google Shape;382;p20"/>
          <p:cNvSpPr/>
          <p:nvPr/>
        </p:nvSpPr>
        <p:spPr>
          <a:xfrm>
            <a:off x="8842248" y="5189220"/>
            <a:ext cx="2478024" cy="3332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050"/>
              <a:buFont typeface="Calibri"/>
              <a:buNone/>
            </a:pPr>
            <a:r>
              <a:rPr b="0" i="0" lang="en-US" sz="1050" u="none" cap="none" strike="noStrike">
                <a:solidFill>
                  <a:srgbClr val="5B6472"/>
                </a:solidFill>
                <a:latin typeface="Calibri"/>
                <a:ea typeface="Calibri"/>
                <a:cs typeface="Calibri"/>
                <a:sym typeface="Calibri"/>
              </a:rPr>
              <a:t>Owns home</a:t>
            </a:r>
            <a:endParaRPr b="0" i="0" sz="1050" u="none" cap="none" strike="noStrike">
              <a:solidFill>
                <a:schemeClr val="dk1"/>
              </a:solidFill>
              <a:latin typeface="Calibri"/>
              <a:ea typeface="Calibri"/>
              <a:cs typeface="Calibri"/>
              <a:sym typeface="Calibri"/>
            </a:endParaRPr>
          </a:p>
        </p:txBody>
      </p:sp>
      <p:sp>
        <p:nvSpPr>
          <p:cNvPr id="383" name="Google Shape;383;p20"/>
          <p:cNvSpPr/>
          <p:nvPr/>
        </p:nvSpPr>
        <p:spPr>
          <a:xfrm>
            <a:off x="548640" y="5760720"/>
            <a:ext cx="1088136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150"/>
              <a:buFont typeface="Calibri"/>
              <a:buNone/>
            </a:pPr>
            <a:r>
              <a:rPr b="0" i="0" lang="en-US" sz="1150" u="none" cap="none" strike="noStrike">
                <a:solidFill>
                  <a:srgbClr val="5B6472"/>
                </a:solidFill>
                <a:latin typeface="Calibri"/>
                <a:ea typeface="Calibri"/>
                <a:cs typeface="Calibri"/>
                <a:sym typeface="Calibri"/>
              </a:rPr>
              <a:t>Bars past the dashed line raise the odds of naturalizing, while bars short of it lower them. English proficiency has the biggest lift in the model, up to 3.5x. Race categories also appear several times, but these are controlled associations, not causal effects, and may partly reflect unmeasured differences in legal pathways, country of origin, immigration history, or dual-citizenship rules.</a:t>
            </a:r>
            <a:endParaRPr b="0" i="0" sz="1150" u="none" cap="none" strike="noStrike">
              <a:solidFill>
                <a:schemeClr val="dk1"/>
              </a:solidFill>
              <a:latin typeface="Calibri"/>
              <a:ea typeface="Calibri"/>
              <a:cs typeface="Calibri"/>
              <a:sym typeface="Calibri"/>
            </a:endParaRPr>
          </a:p>
        </p:txBody>
      </p:sp>
      <p:sp>
        <p:nvSpPr>
          <p:cNvPr id="384" name="Google Shape;384;p20"/>
          <p:cNvSpPr/>
          <p:nvPr/>
        </p:nvSpPr>
        <p:spPr>
          <a:xfrm>
            <a:off x="548640" y="6355080"/>
            <a:ext cx="54864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A7B8"/>
              </a:buClr>
              <a:buSzPts val="950"/>
              <a:buFont typeface="Calibri"/>
              <a:buNone/>
            </a:pPr>
            <a:r>
              <a:rPr b="0" i="0" lang="en-US" sz="950" u="none" cap="none" strike="noStrike">
                <a:solidFill>
                  <a:srgbClr val="9AA7B8"/>
                </a:solidFill>
                <a:latin typeface="Calibri"/>
                <a:ea typeface="Calibri"/>
                <a:cs typeface="Calibri"/>
                <a:sym typeface="Calibri"/>
              </a:rPr>
              <a:t>FULL MODEL</a:t>
            </a:r>
            <a:endParaRPr b="0" i="0" sz="950" u="none" cap="none" strike="noStrike">
              <a:solidFill>
                <a:schemeClr val="dk1"/>
              </a:solidFill>
              <a:latin typeface="Calibri"/>
              <a:ea typeface="Calibri"/>
              <a:cs typeface="Calibri"/>
              <a:sym typeface="Calibri"/>
            </a:endParaRPr>
          </a:p>
        </p:txBody>
      </p:sp>
      <p:sp>
        <p:nvSpPr>
          <p:cNvPr id="385" name="Google Shape;385;p20"/>
          <p:cNvSpPr/>
          <p:nvPr/>
        </p:nvSpPr>
        <p:spPr>
          <a:xfrm>
            <a:off x="11338560" y="6355080"/>
            <a:ext cx="365760" cy="25603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A7B8"/>
              </a:buClr>
              <a:buSzPts val="950"/>
              <a:buFont typeface="Calibri"/>
              <a:buNone/>
            </a:pPr>
            <a:r>
              <a:rPr b="0" i="0" lang="en-US" sz="950" u="none" cap="none" strike="noStrike">
                <a:solidFill>
                  <a:srgbClr val="9AA7B8"/>
                </a:solidFill>
                <a:latin typeface="Calibri"/>
                <a:ea typeface="Calibri"/>
                <a:cs typeface="Calibri"/>
                <a:sym typeface="Calibri"/>
              </a:rPr>
              <a:t>19</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C"/>
        </a:solidFill>
      </p:bgPr>
    </p:bg>
    <p:spTree>
      <p:nvGrpSpPr>
        <p:cNvPr id="390" name="Shape 390"/>
        <p:cNvGrpSpPr/>
        <p:nvPr/>
      </p:nvGrpSpPr>
      <p:grpSpPr>
        <a:xfrm>
          <a:off x="0" y="0"/>
          <a:ext cx="0" cy="0"/>
          <a:chOff x="0" y="0"/>
          <a:chExt cx="0" cy="0"/>
        </a:xfrm>
      </p:grpSpPr>
      <p:sp>
        <p:nvSpPr>
          <p:cNvPr id="391" name="Google Shape;391;p21"/>
          <p:cNvSpPr/>
          <p:nvPr/>
        </p:nvSpPr>
        <p:spPr>
          <a:xfrm>
            <a:off x="548640" y="384048"/>
            <a:ext cx="10058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552E"/>
              </a:buClr>
              <a:buSzPts val="1150"/>
              <a:buFont typeface="Calibri"/>
              <a:buNone/>
            </a:pPr>
            <a:r>
              <a:rPr b="1" i="0" lang="en-US" sz="1150" u="none" cap="none" strike="noStrike">
                <a:solidFill>
                  <a:srgbClr val="C1552E"/>
                </a:solidFill>
                <a:latin typeface="Calibri"/>
                <a:ea typeface="Calibri"/>
                <a:cs typeface="Calibri"/>
                <a:sym typeface="Calibri"/>
              </a:rPr>
              <a:t>RESPONSE A, MACHINE LEARNING</a:t>
            </a:r>
            <a:endParaRPr b="0" i="0" sz="1150" u="none" cap="none" strike="noStrike">
              <a:solidFill>
                <a:schemeClr val="dk1"/>
              </a:solidFill>
              <a:latin typeface="Calibri"/>
              <a:ea typeface="Calibri"/>
              <a:cs typeface="Calibri"/>
              <a:sym typeface="Calibri"/>
            </a:endParaRPr>
          </a:p>
        </p:txBody>
      </p:sp>
      <p:sp>
        <p:nvSpPr>
          <p:cNvPr id="392" name="Google Shape;392;p21"/>
          <p:cNvSpPr/>
          <p:nvPr/>
        </p:nvSpPr>
        <p:spPr>
          <a:xfrm>
            <a:off x="530352" y="640080"/>
            <a:ext cx="1115568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2700"/>
              <a:buFont typeface="Cambria"/>
              <a:buNone/>
            </a:pPr>
            <a:r>
              <a:rPr b="1" i="0" lang="en-US" sz="2700" u="none" cap="none" strike="noStrike">
                <a:solidFill>
                  <a:srgbClr val="14304F"/>
                </a:solidFill>
                <a:latin typeface="Cambria"/>
                <a:ea typeface="Cambria"/>
                <a:cs typeface="Cambria"/>
                <a:sym typeface="Cambria"/>
              </a:rPr>
              <a:t>The decision tree</a:t>
            </a:r>
            <a:endParaRPr b="0" i="0" sz="2700" u="none" cap="none" strike="noStrike">
              <a:solidFill>
                <a:schemeClr val="dk1"/>
              </a:solidFill>
              <a:latin typeface="Calibri"/>
              <a:ea typeface="Calibri"/>
              <a:cs typeface="Calibri"/>
              <a:sym typeface="Calibri"/>
            </a:endParaRPr>
          </a:p>
        </p:txBody>
      </p:sp>
      <p:sp>
        <p:nvSpPr>
          <p:cNvPr id="393" name="Google Shape;393;p21"/>
          <p:cNvSpPr/>
          <p:nvPr/>
        </p:nvSpPr>
        <p:spPr>
          <a:xfrm>
            <a:off x="640080" y="1463040"/>
            <a:ext cx="10881360" cy="4160520"/>
          </a:xfrm>
          <a:prstGeom prst="roundRect">
            <a:avLst>
              <a:gd fmla="val 1978" name="adj"/>
            </a:avLst>
          </a:prstGeom>
          <a:solidFill>
            <a:srgbClr val="FFFFFF"/>
          </a:solidFill>
          <a:ln cap="flat" cmpd="sng" w="12700">
            <a:solidFill>
              <a:srgbClr val="FFFFFF"/>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p21"/>
          <p:cNvSpPr/>
          <p:nvPr/>
        </p:nvSpPr>
        <p:spPr>
          <a:xfrm>
            <a:off x="640080" y="1600200"/>
            <a:ext cx="1088136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4304F"/>
              </a:buClr>
              <a:buSzPts val="1350"/>
              <a:buFont typeface="Calibri"/>
              <a:buNone/>
            </a:pPr>
            <a:r>
              <a:rPr b="1" i="0" lang="en-US" sz="1350" u="none" cap="none" strike="noStrike">
                <a:solidFill>
                  <a:srgbClr val="14304F"/>
                </a:solidFill>
                <a:latin typeface="Calibri"/>
                <a:ea typeface="Calibri"/>
                <a:cs typeface="Calibri"/>
                <a:sym typeface="Calibri"/>
              </a:rPr>
              <a:t>How one tree splits the data</a:t>
            </a:r>
            <a:endParaRPr b="0" i="0" sz="1350" u="none" cap="none" strike="noStrike">
              <a:solidFill>
                <a:schemeClr val="dk1"/>
              </a:solidFill>
              <a:latin typeface="Calibri"/>
              <a:ea typeface="Calibri"/>
              <a:cs typeface="Calibri"/>
              <a:sym typeface="Calibri"/>
            </a:endParaRPr>
          </a:p>
        </p:txBody>
      </p:sp>
      <p:pic>
        <p:nvPicPr>
          <p:cNvPr descr="/home/claude/naturalization_deck/charts/decision_tree.png" id="395" name="Google Shape;395;p21"/>
          <p:cNvPicPr preferRelativeResize="0"/>
          <p:nvPr/>
        </p:nvPicPr>
        <p:blipFill rotWithShape="1">
          <a:blip r:embed="rId3">
            <a:alphaModFix/>
          </a:blip>
          <a:srcRect b="0" l="0" r="0" t="0"/>
          <a:stretch/>
        </p:blipFill>
        <p:spPr>
          <a:xfrm>
            <a:off x="868680" y="1920240"/>
            <a:ext cx="10424160" cy="3474720"/>
          </a:xfrm>
          <a:prstGeom prst="rect">
            <a:avLst/>
          </a:prstGeom>
          <a:noFill/>
          <a:ln>
            <a:noFill/>
          </a:ln>
        </p:spPr>
      </p:pic>
      <p:sp>
        <p:nvSpPr>
          <p:cNvPr id="396" name="Google Shape;396;p21"/>
          <p:cNvSpPr/>
          <p:nvPr/>
        </p:nvSpPr>
        <p:spPr>
          <a:xfrm>
            <a:off x="640080" y="5760720"/>
            <a:ext cx="1069848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The first split is on </a:t>
            </a:r>
            <a:r>
              <a:rPr b="1" i="0" lang="en-US" sz="1200" u="none" cap="none" strike="noStrike">
                <a:solidFill>
                  <a:srgbClr val="5B6472"/>
                </a:solidFill>
                <a:latin typeface="Calibri"/>
                <a:ea typeface="Calibri"/>
                <a:cs typeface="Calibri"/>
                <a:sym typeface="Calibri"/>
              </a:rPr>
              <a:t>years in the U.S.</a:t>
            </a:r>
            <a:r>
              <a:rPr b="0" i="0" lang="en-US" sz="1200" u="none" cap="none" strike="noStrike">
                <a:solidFill>
                  <a:srgbClr val="5B6472"/>
                </a:solidFill>
                <a:latin typeface="Calibri"/>
                <a:ea typeface="Calibri"/>
                <a:cs typeface="Calibri"/>
                <a:sym typeface="Calibri"/>
              </a:rPr>
              <a:t>, then it branches on race and education. Teal leans toward naturalized, orange toward not.</a:t>
            </a:r>
            <a:endParaRPr b="0" i="0" sz="1200" u="none" cap="none" strike="noStrike">
              <a:solidFill>
                <a:schemeClr val="dk1"/>
              </a:solidFill>
              <a:latin typeface="Calibri"/>
              <a:ea typeface="Calibri"/>
              <a:cs typeface="Calibri"/>
              <a:sym typeface="Calibri"/>
            </a:endParaRPr>
          </a:p>
        </p:txBody>
      </p:sp>
      <p:sp>
        <p:nvSpPr>
          <p:cNvPr id="397" name="Google Shape;397;p21"/>
          <p:cNvSpPr/>
          <p:nvPr/>
        </p:nvSpPr>
        <p:spPr>
          <a:xfrm>
            <a:off x="548640" y="6355080"/>
            <a:ext cx="54864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A7B8"/>
              </a:buClr>
              <a:buSzPts val="950"/>
              <a:buFont typeface="Calibri"/>
              <a:buNone/>
            </a:pPr>
            <a:r>
              <a:rPr b="0" i="0" lang="en-US" sz="950" u="none" cap="none" strike="noStrike">
                <a:solidFill>
                  <a:srgbClr val="9AA7B8"/>
                </a:solidFill>
                <a:latin typeface="Calibri"/>
                <a:ea typeface="Calibri"/>
                <a:cs typeface="Calibri"/>
                <a:sym typeface="Calibri"/>
              </a:rPr>
              <a:t>DECISION TREE</a:t>
            </a:r>
            <a:endParaRPr b="0" i="0" sz="950" u="none" cap="none" strike="noStrike">
              <a:solidFill>
                <a:schemeClr val="dk1"/>
              </a:solidFill>
              <a:latin typeface="Calibri"/>
              <a:ea typeface="Calibri"/>
              <a:cs typeface="Calibri"/>
              <a:sym typeface="Calibri"/>
            </a:endParaRPr>
          </a:p>
        </p:txBody>
      </p:sp>
      <p:sp>
        <p:nvSpPr>
          <p:cNvPr id="398" name="Google Shape;398;p21"/>
          <p:cNvSpPr/>
          <p:nvPr/>
        </p:nvSpPr>
        <p:spPr>
          <a:xfrm>
            <a:off x="11338560" y="6355080"/>
            <a:ext cx="365760" cy="25603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A7B8"/>
              </a:buClr>
              <a:buSzPts val="950"/>
              <a:buFont typeface="Calibri"/>
              <a:buNone/>
            </a:pPr>
            <a:r>
              <a:rPr b="0" i="0" lang="en-US" sz="950" u="none" cap="none" strike="noStrike">
                <a:solidFill>
                  <a:srgbClr val="9AA7B8"/>
                </a:solidFill>
                <a:latin typeface="Calibri"/>
                <a:ea typeface="Calibri"/>
                <a:cs typeface="Calibri"/>
                <a:sym typeface="Calibri"/>
              </a:rPr>
              <a:t>20</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C"/>
        </a:solidFill>
      </p:bgPr>
    </p:bg>
    <p:spTree>
      <p:nvGrpSpPr>
        <p:cNvPr id="403" name="Shape 403"/>
        <p:cNvGrpSpPr/>
        <p:nvPr/>
      </p:nvGrpSpPr>
      <p:grpSpPr>
        <a:xfrm>
          <a:off x="0" y="0"/>
          <a:ext cx="0" cy="0"/>
          <a:chOff x="0" y="0"/>
          <a:chExt cx="0" cy="0"/>
        </a:xfrm>
      </p:grpSpPr>
      <p:sp>
        <p:nvSpPr>
          <p:cNvPr id="404" name="Google Shape;404;p22"/>
          <p:cNvSpPr/>
          <p:nvPr/>
        </p:nvSpPr>
        <p:spPr>
          <a:xfrm>
            <a:off x="548640" y="384048"/>
            <a:ext cx="10058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552E"/>
              </a:buClr>
              <a:buSzPts val="1150"/>
              <a:buFont typeface="Calibri"/>
              <a:buNone/>
            </a:pPr>
            <a:r>
              <a:rPr b="1" i="0" lang="en-US" sz="1150" u="none" cap="none" strike="noStrike">
                <a:solidFill>
                  <a:srgbClr val="C1552E"/>
                </a:solidFill>
                <a:latin typeface="Calibri"/>
                <a:ea typeface="Calibri"/>
                <a:cs typeface="Calibri"/>
                <a:sym typeface="Calibri"/>
              </a:rPr>
              <a:t>RANDOM FOREST</a:t>
            </a:r>
            <a:endParaRPr b="0" i="0" sz="1150" u="none" cap="none" strike="noStrike">
              <a:solidFill>
                <a:schemeClr val="dk1"/>
              </a:solidFill>
              <a:latin typeface="Calibri"/>
              <a:ea typeface="Calibri"/>
              <a:cs typeface="Calibri"/>
              <a:sym typeface="Calibri"/>
            </a:endParaRPr>
          </a:p>
        </p:txBody>
      </p:sp>
      <p:sp>
        <p:nvSpPr>
          <p:cNvPr id="405" name="Google Shape;405;p22"/>
          <p:cNvSpPr/>
          <p:nvPr/>
        </p:nvSpPr>
        <p:spPr>
          <a:xfrm>
            <a:off x="530352" y="640080"/>
            <a:ext cx="1115568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2700"/>
              <a:buFont typeface="Cambria"/>
              <a:buNone/>
            </a:pPr>
            <a:r>
              <a:rPr b="1" i="0" lang="en-US" sz="2700" u="none" cap="none" strike="noStrike">
                <a:solidFill>
                  <a:srgbClr val="14304F"/>
                </a:solidFill>
                <a:latin typeface="Cambria"/>
                <a:ea typeface="Cambria"/>
                <a:cs typeface="Cambria"/>
                <a:sym typeface="Cambria"/>
              </a:rPr>
              <a:t>Which variables matter most</a:t>
            </a:r>
            <a:endParaRPr b="0" i="0" sz="2700" u="none" cap="none" strike="noStrike">
              <a:solidFill>
                <a:schemeClr val="dk1"/>
              </a:solidFill>
              <a:latin typeface="Calibri"/>
              <a:ea typeface="Calibri"/>
              <a:cs typeface="Calibri"/>
              <a:sym typeface="Calibri"/>
            </a:endParaRPr>
          </a:p>
        </p:txBody>
      </p:sp>
      <p:sp>
        <p:nvSpPr>
          <p:cNvPr id="406" name="Google Shape;406;p22"/>
          <p:cNvSpPr/>
          <p:nvPr/>
        </p:nvSpPr>
        <p:spPr>
          <a:xfrm>
            <a:off x="640080" y="1463040"/>
            <a:ext cx="10881360" cy="4160520"/>
          </a:xfrm>
          <a:prstGeom prst="roundRect">
            <a:avLst>
              <a:gd fmla="val 1978" name="adj"/>
            </a:avLst>
          </a:prstGeom>
          <a:solidFill>
            <a:srgbClr val="FFFFFF"/>
          </a:solidFill>
          <a:ln cap="flat" cmpd="sng" w="12700">
            <a:solidFill>
              <a:srgbClr val="FFFFFF"/>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p22"/>
          <p:cNvSpPr/>
          <p:nvPr/>
        </p:nvSpPr>
        <p:spPr>
          <a:xfrm>
            <a:off x="640080" y="1627632"/>
            <a:ext cx="1088136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4304F"/>
              </a:buClr>
              <a:buSzPts val="1350"/>
              <a:buFont typeface="Calibri"/>
              <a:buNone/>
            </a:pPr>
            <a:r>
              <a:rPr b="1" i="0" lang="en-US" sz="1350" u="none" cap="none" strike="noStrike">
                <a:solidFill>
                  <a:srgbClr val="14304F"/>
                </a:solidFill>
                <a:latin typeface="Calibri"/>
                <a:ea typeface="Calibri"/>
                <a:cs typeface="Calibri"/>
                <a:sym typeface="Calibri"/>
              </a:rPr>
              <a:t>Random forest: permutation importance (mean decrease in accuracy)</a:t>
            </a:r>
            <a:endParaRPr b="0" i="0" sz="1350" u="none" cap="none" strike="noStrike">
              <a:solidFill>
                <a:schemeClr val="dk1"/>
              </a:solidFill>
              <a:latin typeface="Calibri"/>
              <a:ea typeface="Calibri"/>
              <a:cs typeface="Calibri"/>
              <a:sym typeface="Calibri"/>
            </a:endParaRPr>
          </a:p>
        </p:txBody>
      </p:sp>
      <p:pic>
        <p:nvPicPr>
          <p:cNvPr descr="/home/claude/naturalization_deck/charts/rf_importance_bar.png" id="408" name="Google Shape;408;p22"/>
          <p:cNvPicPr preferRelativeResize="0"/>
          <p:nvPr/>
        </p:nvPicPr>
        <p:blipFill rotWithShape="1">
          <a:blip r:embed="rId3">
            <a:alphaModFix/>
          </a:blip>
          <a:srcRect b="0" l="0" r="0" t="0"/>
          <a:stretch/>
        </p:blipFill>
        <p:spPr>
          <a:xfrm>
            <a:off x="1828800" y="1965960"/>
            <a:ext cx="8503920" cy="3429000"/>
          </a:xfrm>
          <a:prstGeom prst="rect">
            <a:avLst/>
          </a:prstGeom>
          <a:noFill/>
          <a:ln>
            <a:noFill/>
          </a:ln>
        </p:spPr>
      </p:pic>
      <p:sp>
        <p:nvSpPr>
          <p:cNvPr id="409" name="Google Shape;409;p22"/>
          <p:cNvSpPr/>
          <p:nvPr/>
        </p:nvSpPr>
        <p:spPr>
          <a:xfrm>
            <a:off x="640080" y="5669280"/>
            <a:ext cx="1069848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150"/>
              <a:buFont typeface="Calibri"/>
              <a:buNone/>
            </a:pPr>
            <a:r>
              <a:rPr b="1" i="0" lang="en-US" sz="1150" u="none" cap="none" strike="noStrike">
                <a:solidFill>
                  <a:srgbClr val="5B6472"/>
                </a:solidFill>
                <a:latin typeface="Calibri"/>
                <a:ea typeface="Calibri"/>
                <a:cs typeface="Calibri"/>
                <a:sym typeface="Calibri"/>
              </a:rPr>
              <a:t>Years in the U.S.</a:t>
            </a:r>
            <a:r>
              <a:rPr b="0" i="0" lang="en-US" sz="1150" u="none" cap="none" strike="noStrike">
                <a:solidFill>
                  <a:srgbClr val="5B6472"/>
                </a:solidFill>
                <a:latin typeface="Calibri"/>
                <a:ea typeface="Calibri"/>
                <a:cs typeface="Calibri"/>
                <a:sym typeface="Calibri"/>
              </a:rPr>
              <a:t> leads, but </a:t>
            </a:r>
            <a:r>
              <a:rPr b="1" i="0" lang="en-US" sz="1150" u="none" cap="none" strike="noStrike">
                <a:solidFill>
                  <a:srgbClr val="5B6472"/>
                </a:solidFill>
                <a:latin typeface="Calibri"/>
                <a:ea typeface="Calibri"/>
                <a:cs typeface="Calibri"/>
                <a:sym typeface="Calibri"/>
              </a:rPr>
              <a:t>race</a:t>
            </a:r>
            <a:r>
              <a:rPr b="0" i="0" lang="en-US" sz="1150" u="none" cap="none" strike="noStrike">
                <a:solidFill>
                  <a:srgbClr val="5B6472"/>
                </a:solidFill>
                <a:latin typeface="Calibri"/>
                <a:ea typeface="Calibri"/>
                <a:cs typeface="Calibri"/>
                <a:sym typeface="Calibri"/>
              </a:rPr>
              <a:t> is the second-strongest predictor, ahead of education and English proficiency. This does not mean race causes naturalization. It may partly capture unmeasured differences in legal pathways, country of origin, immigration history, or dual-citizenship rules that our data cannot observe.</a:t>
            </a:r>
            <a:endParaRPr b="0" i="0" sz="1150" u="none" cap="none" strike="noStrike">
              <a:solidFill>
                <a:schemeClr val="dk1"/>
              </a:solidFill>
              <a:latin typeface="Calibri"/>
              <a:ea typeface="Calibri"/>
              <a:cs typeface="Calibri"/>
              <a:sym typeface="Calibri"/>
            </a:endParaRPr>
          </a:p>
        </p:txBody>
      </p:sp>
      <p:sp>
        <p:nvSpPr>
          <p:cNvPr id="410" name="Google Shape;410;p22"/>
          <p:cNvSpPr/>
          <p:nvPr/>
        </p:nvSpPr>
        <p:spPr>
          <a:xfrm>
            <a:off x="548640" y="6355080"/>
            <a:ext cx="54864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A7B8"/>
              </a:buClr>
              <a:buSzPts val="950"/>
              <a:buFont typeface="Calibri"/>
              <a:buNone/>
            </a:pPr>
            <a:r>
              <a:rPr b="0" i="0" lang="en-US" sz="950" u="none" cap="none" strike="noStrike">
                <a:solidFill>
                  <a:srgbClr val="9AA7B8"/>
                </a:solidFill>
                <a:latin typeface="Calibri"/>
                <a:ea typeface="Calibri"/>
                <a:cs typeface="Calibri"/>
                <a:sym typeface="Calibri"/>
              </a:rPr>
              <a:t>VARIABLE IMPORTANCE</a:t>
            </a:r>
            <a:endParaRPr b="0" i="0" sz="950" u="none" cap="none" strike="noStrike">
              <a:solidFill>
                <a:schemeClr val="dk1"/>
              </a:solidFill>
              <a:latin typeface="Calibri"/>
              <a:ea typeface="Calibri"/>
              <a:cs typeface="Calibri"/>
              <a:sym typeface="Calibri"/>
            </a:endParaRPr>
          </a:p>
        </p:txBody>
      </p:sp>
      <p:sp>
        <p:nvSpPr>
          <p:cNvPr id="411" name="Google Shape;411;p22"/>
          <p:cNvSpPr/>
          <p:nvPr/>
        </p:nvSpPr>
        <p:spPr>
          <a:xfrm>
            <a:off x="11338560" y="6355080"/>
            <a:ext cx="365760" cy="25603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A7B8"/>
              </a:buClr>
              <a:buSzPts val="950"/>
              <a:buFont typeface="Calibri"/>
              <a:buNone/>
            </a:pPr>
            <a:r>
              <a:rPr b="0" i="0" lang="en-US" sz="950" u="none" cap="none" strike="noStrike">
                <a:solidFill>
                  <a:srgbClr val="9AA7B8"/>
                </a:solidFill>
                <a:latin typeface="Calibri"/>
                <a:ea typeface="Calibri"/>
                <a:cs typeface="Calibri"/>
                <a:sym typeface="Calibri"/>
              </a:rPr>
              <a:t>21</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C"/>
        </a:solidFill>
      </p:bgPr>
    </p:bg>
    <p:spTree>
      <p:nvGrpSpPr>
        <p:cNvPr id="416" name="Shape 416"/>
        <p:cNvGrpSpPr/>
        <p:nvPr/>
      </p:nvGrpSpPr>
      <p:grpSpPr>
        <a:xfrm>
          <a:off x="0" y="0"/>
          <a:ext cx="0" cy="0"/>
          <a:chOff x="0" y="0"/>
          <a:chExt cx="0" cy="0"/>
        </a:xfrm>
      </p:grpSpPr>
      <p:sp>
        <p:nvSpPr>
          <p:cNvPr id="417" name="Google Shape;417;p23"/>
          <p:cNvSpPr/>
          <p:nvPr/>
        </p:nvSpPr>
        <p:spPr>
          <a:xfrm>
            <a:off x="640080" y="731520"/>
            <a:ext cx="54864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2800"/>
              <a:buFont typeface="Cambria"/>
              <a:buNone/>
            </a:pPr>
            <a:r>
              <a:rPr b="1" i="0" lang="en-US" sz="2800" u="none" cap="none" strike="noStrike">
                <a:solidFill>
                  <a:srgbClr val="14304F"/>
                </a:solidFill>
                <a:latin typeface="Cambria"/>
                <a:ea typeface="Cambria"/>
                <a:cs typeface="Cambria"/>
                <a:sym typeface="Cambria"/>
              </a:rPr>
              <a:t>Neural network</a:t>
            </a:r>
            <a:endParaRPr b="0" i="0" sz="2800" u="none" cap="none" strike="noStrike">
              <a:solidFill>
                <a:schemeClr val="dk1"/>
              </a:solidFill>
              <a:latin typeface="Calibri"/>
              <a:ea typeface="Calibri"/>
              <a:cs typeface="Calibri"/>
              <a:sym typeface="Calibri"/>
            </a:endParaRPr>
          </a:p>
        </p:txBody>
      </p:sp>
      <p:sp>
        <p:nvSpPr>
          <p:cNvPr id="418" name="Google Shape;418;p23"/>
          <p:cNvSpPr/>
          <p:nvPr/>
        </p:nvSpPr>
        <p:spPr>
          <a:xfrm>
            <a:off x="640080" y="1920240"/>
            <a:ext cx="146304" cy="146304"/>
          </a:xfrm>
          <a:prstGeom prst="ellipse">
            <a:avLst/>
          </a:prstGeom>
          <a:solidFill>
            <a:srgbClr val="14304F"/>
          </a:solidFill>
          <a:ln cap="flat" cmpd="sng" w="12700">
            <a:solidFill>
              <a:srgbClr val="1430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23"/>
          <p:cNvSpPr/>
          <p:nvPr/>
        </p:nvSpPr>
        <p:spPr>
          <a:xfrm>
            <a:off x="960120" y="1874520"/>
            <a:ext cx="448056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1550"/>
              <a:buFont typeface="Calibri"/>
              <a:buNone/>
            </a:pPr>
            <a:r>
              <a:rPr b="1" i="0" lang="en-US" sz="1550" u="none" cap="none" strike="noStrike">
                <a:solidFill>
                  <a:srgbClr val="14304F"/>
                </a:solidFill>
                <a:latin typeface="Calibri"/>
                <a:ea typeface="Calibri"/>
                <a:cs typeface="Calibri"/>
                <a:sym typeface="Calibri"/>
              </a:rPr>
              <a:t>Two hidden layers, trained over 20 epochs</a:t>
            </a:r>
            <a:endParaRPr b="0" i="0" sz="1550" u="none" cap="none" strike="noStrike">
              <a:solidFill>
                <a:schemeClr val="dk1"/>
              </a:solidFill>
              <a:latin typeface="Calibri"/>
              <a:ea typeface="Calibri"/>
              <a:cs typeface="Calibri"/>
              <a:sym typeface="Calibri"/>
            </a:endParaRPr>
          </a:p>
        </p:txBody>
      </p:sp>
      <p:sp>
        <p:nvSpPr>
          <p:cNvPr id="420" name="Google Shape;420;p23"/>
          <p:cNvSpPr/>
          <p:nvPr/>
        </p:nvSpPr>
        <p:spPr>
          <a:xfrm>
            <a:off x="640080" y="2788920"/>
            <a:ext cx="146304" cy="146304"/>
          </a:xfrm>
          <a:prstGeom prst="ellipse">
            <a:avLst/>
          </a:prstGeom>
          <a:solidFill>
            <a:srgbClr val="3E8F89"/>
          </a:solidFill>
          <a:ln cap="flat" cmpd="sng" w="12700">
            <a:solidFill>
              <a:srgbClr val="3E8F8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23"/>
          <p:cNvSpPr/>
          <p:nvPr/>
        </p:nvSpPr>
        <p:spPr>
          <a:xfrm>
            <a:off x="960120" y="2850000"/>
            <a:ext cx="448056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1550"/>
              <a:buFont typeface="Calibri"/>
              <a:buNone/>
            </a:pPr>
            <a:r>
              <a:rPr b="1" i="0" lang="en-US" sz="1550" u="none" cap="none" strike="noStrike">
                <a:solidFill>
                  <a:srgbClr val="14304F"/>
                </a:solidFill>
                <a:latin typeface="Calibri"/>
                <a:ea typeface="Calibri"/>
                <a:cs typeface="Calibri"/>
                <a:sym typeface="Calibri"/>
              </a:rPr>
              <a:t>Train and validation curves level off, with no clear overfitting</a:t>
            </a:r>
            <a:endParaRPr b="0" i="0" sz="1550" u="none" cap="none" strike="noStrike">
              <a:solidFill>
                <a:schemeClr val="dk1"/>
              </a:solidFill>
              <a:latin typeface="Calibri"/>
              <a:ea typeface="Calibri"/>
              <a:cs typeface="Calibri"/>
              <a:sym typeface="Calibri"/>
            </a:endParaRPr>
          </a:p>
        </p:txBody>
      </p:sp>
      <p:sp>
        <p:nvSpPr>
          <p:cNvPr id="422" name="Google Shape;422;p23"/>
          <p:cNvSpPr/>
          <p:nvPr/>
        </p:nvSpPr>
        <p:spPr>
          <a:xfrm>
            <a:off x="640080" y="3657600"/>
            <a:ext cx="146304" cy="146304"/>
          </a:xfrm>
          <a:prstGeom prst="ellipse">
            <a:avLst/>
          </a:prstGeom>
          <a:solidFill>
            <a:srgbClr val="C1552E"/>
          </a:solidFill>
          <a:ln cap="flat" cmpd="sng" w="12700">
            <a:solidFill>
              <a:srgbClr val="C1552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23"/>
          <p:cNvSpPr/>
          <p:nvPr/>
        </p:nvSpPr>
        <p:spPr>
          <a:xfrm>
            <a:off x="960120" y="3720000"/>
            <a:ext cx="448056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1550"/>
              <a:buFont typeface="Calibri"/>
              <a:buNone/>
            </a:pPr>
            <a:r>
              <a:rPr b="1" i="0" lang="en-US" sz="1550" u="none" cap="none" strike="noStrike">
                <a:solidFill>
                  <a:srgbClr val="14304F"/>
                </a:solidFill>
                <a:latin typeface="Calibri"/>
                <a:ea typeface="Calibri"/>
                <a:cs typeface="Calibri"/>
                <a:sym typeface="Calibri"/>
              </a:rPr>
              <a:t>Test accuracy = 80.6%</a:t>
            </a:r>
            <a:endParaRPr b="0" i="0" sz="1550" u="none" cap="none" strike="noStrike">
              <a:solidFill>
                <a:schemeClr val="dk1"/>
              </a:solidFill>
              <a:latin typeface="Calibri"/>
              <a:ea typeface="Calibri"/>
              <a:cs typeface="Calibri"/>
              <a:sym typeface="Calibri"/>
            </a:endParaRPr>
          </a:p>
        </p:txBody>
      </p:sp>
      <p:sp>
        <p:nvSpPr>
          <p:cNvPr id="424" name="Google Shape;424;p23"/>
          <p:cNvSpPr/>
          <p:nvPr/>
        </p:nvSpPr>
        <p:spPr>
          <a:xfrm>
            <a:off x="5486400" y="822960"/>
            <a:ext cx="6126480" cy="4754880"/>
          </a:xfrm>
          <a:prstGeom prst="roundRect">
            <a:avLst>
              <a:gd fmla="val 1731" name="adj"/>
            </a:avLst>
          </a:prstGeom>
          <a:solidFill>
            <a:srgbClr val="FFFFFF"/>
          </a:solidFill>
          <a:ln cap="flat" cmpd="sng" w="12700">
            <a:solidFill>
              <a:srgbClr val="FFFFFF"/>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naturalization_deck/charts/nn_dual_panel.png" id="425" name="Google Shape;425;p23"/>
          <p:cNvPicPr preferRelativeResize="0"/>
          <p:nvPr/>
        </p:nvPicPr>
        <p:blipFill rotWithShape="1">
          <a:blip r:embed="rId3">
            <a:alphaModFix/>
          </a:blip>
          <a:srcRect b="0" l="0" r="0" t="0"/>
          <a:stretch/>
        </p:blipFill>
        <p:spPr>
          <a:xfrm>
            <a:off x="5715000" y="1005840"/>
            <a:ext cx="5669280" cy="4389120"/>
          </a:xfrm>
          <a:prstGeom prst="rect">
            <a:avLst/>
          </a:prstGeom>
          <a:noFill/>
          <a:ln>
            <a:noFill/>
          </a:ln>
        </p:spPr>
      </p:pic>
      <p:sp>
        <p:nvSpPr>
          <p:cNvPr id="426" name="Google Shape;426;p23"/>
          <p:cNvSpPr/>
          <p:nvPr/>
        </p:nvSpPr>
        <p:spPr>
          <a:xfrm>
            <a:off x="548640" y="6355080"/>
            <a:ext cx="54864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A7B8"/>
              </a:buClr>
              <a:buSzPts val="950"/>
              <a:buFont typeface="Calibri"/>
              <a:buNone/>
            </a:pPr>
            <a:r>
              <a:rPr b="0" i="0" lang="en-US" sz="950" u="none" cap="none" strike="noStrike">
                <a:solidFill>
                  <a:srgbClr val="9AA7B8"/>
                </a:solidFill>
                <a:latin typeface="Calibri"/>
                <a:ea typeface="Calibri"/>
                <a:cs typeface="Calibri"/>
                <a:sym typeface="Calibri"/>
              </a:rPr>
              <a:t>NEURAL NETWORK</a:t>
            </a:r>
            <a:endParaRPr b="0" i="0" sz="950" u="none" cap="none" strike="noStrike">
              <a:solidFill>
                <a:schemeClr val="dk1"/>
              </a:solidFill>
              <a:latin typeface="Calibri"/>
              <a:ea typeface="Calibri"/>
              <a:cs typeface="Calibri"/>
              <a:sym typeface="Calibri"/>
            </a:endParaRPr>
          </a:p>
        </p:txBody>
      </p:sp>
      <p:sp>
        <p:nvSpPr>
          <p:cNvPr id="427" name="Google Shape;427;p23"/>
          <p:cNvSpPr/>
          <p:nvPr/>
        </p:nvSpPr>
        <p:spPr>
          <a:xfrm>
            <a:off x="11338560" y="6355080"/>
            <a:ext cx="365760" cy="25603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A7B8"/>
              </a:buClr>
              <a:buSzPts val="950"/>
              <a:buFont typeface="Calibri"/>
              <a:buNone/>
            </a:pPr>
            <a:r>
              <a:rPr b="0" i="0" lang="en-US" sz="950" u="none" cap="none" strike="noStrike">
                <a:solidFill>
                  <a:srgbClr val="9AA7B8"/>
                </a:solidFill>
                <a:latin typeface="Calibri"/>
                <a:ea typeface="Calibri"/>
                <a:cs typeface="Calibri"/>
                <a:sym typeface="Calibri"/>
              </a:rPr>
              <a:t>22</a:t>
            </a:r>
            <a:endParaRPr b="0" i="0" sz="950" u="none" cap="none" strike="noStrike">
              <a:solidFill>
                <a:schemeClr val="dk1"/>
              </a:solidFill>
              <a:latin typeface="Calibri"/>
              <a:ea typeface="Calibri"/>
              <a:cs typeface="Calibri"/>
              <a:sym typeface="Calibri"/>
            </a:endParaRPr>
          </a:p>
        </p:txBody>
      </p:sp>
      <p:sp>
        <p:nvSpPr>
          <p:cNvPr id="428" name="Google Shape;428;p23"/>
          <p:cNvSpPr txBox="1"/>
          <p:nvPr/>
        </p:nvSpPr>
        <p:spPr>
          <a:xfrm>
            <a:off x="960120" y="2300000"/>
            <a:ext cx="5200000" cy="34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550" u="none" cap="none" strike="noStrike">
                <a:solidFill>
                  <a:srgbClr val="14304F"/>
                </a:solidFill>
                <a:latin typeface="Calibri"/>
                <a:ea typeface="Calibri"/>
                <a:cs typeface="Calibri"/>
                <a:sym typeface="Calibri"/>
              </a:rPr>
              <a:t>80/20 train-test split; 15% validation holdout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C"/>
        </a:solidFill>
      </p:bgPr>
    </p:bg>
    <p:spTree>
      <p:nvGrpSpPr>
        <p:cNvPr id="433" name="Shape 433"/>
        <p:cNvGrpSpPr/>
        <p:nvPr/>
      </p:nvGrpSpPr>
      <p:grpSpPr>
        <a:xfrm>
          <a:off x="0" y="0"/>
          <a:ext cx="0" cy="0"/>
          <a:chOff x="0" y="0"/>
          <a:chExt cx="0" cy="0"/>
        </a:xfrm>
      </p:grpSpPr>
      <p:sp>
        <p:nvSpPr>
          <p:cNvPr id="434" name="Google Shape;434;p24"/>
          <p:cNvSpPr/>
          <p:nvPr/>
        </p:nvSpPr>
        <p:spPr>
          <a:xfrm>
            <a:off x="548640" y="384048"/>
            <a:ext cx="10058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552E"/>
              </a:buClr>
              <a:buSzPts val="1150"/>
              <a:buFont typeface="Calibri"/>
              <a:buNone/>
            </a:pPr>
            <a:r>
              <a:rPr b="1" i="0" lang="en-US" sz="1150" u="none" cap="none" strike="noStrike">
                <a:solidFill>
                  <a:srgbClr val="C1552E"/>
                </a:solidFill>
                <a:latin typeface="Calibri"/>
                <a:ea typeface="Calibri"/>
                <a:cs typeface="Calibri"/>
                <a:sym typeface="Calibri"/>
              </a:rPr>
              <a:t>RESPONSE A, RESULTS</a:t>
            </a:r>
            <a:endParaRPr b="0" i="0" sz="1150" u="none" cap="none" strike="noStrike">
              <a:solidFill>
                <a:schemeClr val="dk1"/>
              </a:solidFill>
              <a:latin typeface="Calibri"/>
              <a:ea typeface="Calibri"/>
              <a:cs typeface="Calibri"/>
              <a:sym typeface="Calibri"/>
            </a:endParaRPr>
          </a:p>
        </p:txBody>
      </p:sp>
      <p:sp>
        <p:nvSpPr>
          <p:cNvPr id="435" name="Google Shape;435;p24"/>
          <p:cNvSpPr/>
          <p:nvPr/>
        </p:nvSpPr>
        <p:spPr>
          <a:xfrm>
            <a:off x="530352" y="640080"/>
            <a:ext cx="1115568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2700"/>
              <a:buFont typeface="Cambria"/>
              <a:buNone/>
            </a:pPr>
            <a:r>
              <a:rPr b="1" i="0" lang="en-US" sz="2700" u="none" cap="none" strike="noStrike">
                <a:solidFill>
                  <a:srgbClr val="14304F"/>
                </a:solidFill>
                <a:latin typeface="Cambria"/>
                <a:ea typeface="Cambria"/>
                <a:cs typeface="Cambria"/>
                <a:sym typeface="Cambria"/>
              </a:rPr>
              <a:t>Model showdown by F1</a:t>
            </a:r>
            <a:endParaRPr b="0" i="0" sz="2700" u="none" cap="none" strike="noStrike">
              <a:solidFill>
                <a:schemeClr val="dk1"/>
              </a:solidFill>
              <a:latin typeface="Calibri"/>
              <a:ea typeface="Calibri"/>
              <a:cs typeface="Calibri"/>
              <a:sym typeface="Calibri"/>
            </a:endParaRPr>
          </a:p>
        </p:txBody>
      </p:sp>
      <p:sp>
        <p:nvSpPr>
          <p:cNvPr id="436" name="Google Shape;436;p24"/>
          <p:cNvSpPr/>
          <p:nvPr/>
        </p:nvSpPr>
        <p:spPr>
          <a:xfrm>
            <a:off x="640080" y="1463040"/>
            <a:ext cx="10881360" cy="4160520"/>
          </a:xfrm>
          <a:prstGeom prst="roundRect">
            <a:avLst>
              <a:gd fmla="val 1978" name="adj"/>
            </a:avLst>
          </a:prstGeom>
          <a:solidFill>
            <a:srgbClr val="FFFFFF"/>
          </a:solidFill>
          <a:ln cap="flat" cmpd="sng" w="12700">
            <a:solidFill>
              <a:srgbClr val="FFFFFF"/>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24"/>
          <p:cNvSpPr/>
          <p:nvPr/>
        </p:nvSpPr>
        <p:spPr>
          <a:xfrm>
            <a:off x="960120" y="1645920"/>
            <a:ext cx="1024128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350"/>
              <a:buFont typeface="Calibri"/>
              <a:buNone/>
            </a:pPr>
            <a:r>
              <a:rPr b="0" i="0" lang="en-US" sz="1350" u="none" cap="none" strike="noStrike">
                <a:solidFill>
                  <a:srgbClr val="5B6472"/>
                </a:solidFill>
                <a:latin typeface="Calibri"/>
                <a:ea typeface="Calibri"/>
                <a:cs typeface="Calibri"/>
                <a:sym typeface="Calibri"/>
              </a:rPr>
              <a:t>All models beat the baseline. The top three are close.</a:t>
            </a:r>
            <a:endParaRPr b="0" i="0" sz="1350" u="none" cap="none" strike="noStrike">
              <a:solidFill>
                <a:schemeClr val="dk1"/>
              </a:solidFill>
              <a:latin typeface="Calibri"/>
              <a:ea typeface="Calibri"/>
              <a:cs typeface="Calibri"/>
              <a:sym typeface="Calibri"/>
            </a:endParaRPr>
          </a:p>
        </p:txBody>
      </p:sp>
      <p:pic>
        <p:nvPicPr>
          <p:cNvPr descr="/home/claude/naturalization_deck/charts/f1_showdown_bar.png" id="438" name="Google Shape;438;p24"/>
          <p:cNvPicPr preferRelativeResize="0"/>
          <p:nvPr/>
        </p:nvPicPr>
        <p:blipFill rotWithShape="1">
          <a:blip r:embed="rId3">
            <a:alphaModFix/>
          </a:blip>
          <a:srcRect b="0" l="0" r="0" t="0"/>
          <a:stretch/>
        </p:blipFill>
        <p:spPr>
          <a:xfrm>
            <a:off x="2011680" y="2011680"/>
            <a:ext cx="8138160" cy="3337560"/>
          </a:xfrm>
          <a:prstGeom prst="rect">
            <a:avLst/>
          </a:prstGeom>
          <a:noFill/>
          <a:ln>
            <a:noFill/>
          </a:ln>
        </p:spPr>
      </p:pic>
      <p:sp>
        <p:nvSpPr>
          <p:cNvPr id="439" name="Google Shape;439;p24"/>
          <p:cNvSpPr/>
          <p:nvPr/>
        </p:nvSpPr>
        <p:spPr>
          <a:xfrm>
            <a:off x="640080" y="5760720"/>
            <a:ext cx="105156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250"/>
              <a:buFont typeface="Calibri"/>
              <a:buNone/>
            </a:pPr>
            <a:r>
              <a:rPr b="0" i="0" lang="en-US" sz="1250" u="none" cap="none" strike="noStrike">
                <a:solidFill>
                  <a:srgbClr val="5B6472"/>
                </a:solidFill>
                <a:latin typeface="Calibri"/>
                <a:ea typeface="Calibri"/>
                <a:cs typeface="Calibri"/>
                <a:sym typeface="Calibri"/>
              </a:rPr>
              <a:t>Random forest performs best, with the neural net close behind. Logistic regression is lower but still competitive.</a:t>
            </a:r>
            <a:endParaRPr b="0" i="0" sz="1250" u="none" cap="none" strike="noStrike">
              <a:solidFill>
                <a:schemeClr val="dk1"/>
              </a:solidFill>
              <a:latin typeface="Calibri"/>
              <a:ea typeface="Calibri"/>
              <a:cs typeface="Calibri"/>
              <a:sym typeface="Calibri"/>
            </a:endParaRPr>
          </a:p>
        </p:txBody>
      </p:sp>
      <p:sp>
        <p:nvSpPr>
          <p:cNvPr id="440" name="Google Shape;440;p24"/>
          <p:cNvSpPr/>
          <p:nvPr/>
        </p:nvSpPr>
        <p:spPr>
          <a:xfrm>
            <a:off x="548640" y="6355080"/>
            <a:ext cx="54864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A7B8"/>
              </a:buClr>
              <a:buSzPts val="950"/>
              <a:buFont typeface="Calibri"/>
              <a:buNone/>
            </a:pPr>
            <a:r>
              <a:rPr b="0" i="0" lang="en-US" sz="950" u="none" cap="none" strike="noStrike">
                <a:solidFill>
                  <a:srgbClr val="9AA7B8"/>
                </a:solidFill>
                <a:latin typeface="Calibri"/>
                <a:ea typeface="Calibri"/>
                <a:cs typeface="Calibri"/>
                <a:sym typeface="Calibri"/>
              </a:rPr>
              <a:t>CLASSIFICATION RESULTS</a:t>
            </a:r>
            <a:endParaRPr b="0" i="0" sz="950" u="none" cap="none" strike="noStrike">
              <a:solidFill>
                <a:schemeClr val="dk1"/>
              </a:solidFill>
              <a:latin typeface="Calibri"/>
              <a:ea typeface="Calibri"/>
              <a:cs typeface="Calibri"/>
              <a:sym typeface="Calibri"/>
            </a:endParaRPr>
          </a:p>
        </p:txBody>
      </p:sp>
      <p:sp>
        <p:nvSpPr>
          <p:cNvPr id="441" name="Google Shape;441;p24"/>
          <p:cNvSpPr/>
          <p:nvPr/>
        </p:nvSpPr>
        <p:spPr>
          <a:xfrm>
            <a:off x="11338560" y="6355080"/>
            <a:ext cx="365760" cy="25603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A7B8"/>
              </a:buClr>
              <a:buSzPts val="950"/>
              <a:buFont typeface="Calibri"/>
              <a:buNone/>
            </a:pPr>
            <a:r>
              <a:rPr b="0" i="0" lang="en-US" sz="950" u="none" cap="none" strike="noStrike">
                <a:solidFill>
                  <a:srgbClr val="9AA7B8"/>
                </a:solidFill>
                <a:latin typeface="Calibri"/>
                <a:ea typeface="Calibri"/>
                <a:cs typeface="Calibri"/>
                <a:sym typeface="Calibri"/>
              </a:rPr>
              <a:t>23</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C"/>
        </a:solidFill>
      </p:bgPr>
    </p:bg>
    <p:spTree>
      <p:nvGrpSpPr>
        <p:cNvPr id="446" name="Shape 446"/>
        <p:cNvGrpSpPr/>
        <p:nvPr/>
      </p:nvGrpSpPr>
      <p:grpSpPr>
        <a:xfrm>
          <a:off x="0" y="0"/>
          <a:ext cx="0" cy="0"/>
          <a:chOff x="0" y="0"/>
          <a:chExt cx="0" cy="0"/>
        </a:xfrm>
      </p:grpSpPr>
      <p:sp>
        <p:nvSpPr>
          <p:cNvPr id="447" name="Google Shape;447;p25"/>
          <p:cNvSpPr/>
          <p:nvPr/>
        </p:nvSpPr>
        <p:spPr>
          <a:xfrm>
            <a:off x="548640" y="384048"/>
            <a:ext cx="10058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552E"/>
              </a:buClr>
              <a:buSzPts val="1150"/>
              <a:buFont typeface="Calibri"/>
              <a:buNone/>
            </a:pPr>
            <a:r>
              <a:rPr b="1" i="0" lang="en-US" sz="1150" u="none" cap="none" strike="noStrike">
                <a:solidFill>
                  <a:srgbClr val="C1552E"/>
                </a:solidFill>
                <a:latin typeface="Calibri"/>
                <a:ea typeface="Calibri"/>
                <a:cs typeface="Calibri"/>
                <a:sym typeface="Calibri"/>
              </a:rPr>
              <a:t>CONCLUSIONS/</a:t>
            </a:r>
            <a:endParaRPr b="0" i="0" sz="1150" u="none" cap="none" strike="noStrike">
              <a:solidFill>
                <a:schemeClr val="dk1"/>
              </a:solidFill>
              <a:latin typeface="Calibri"/>
              <a:ea typeface="Calibri"/>
              <a:cs typeface="Calibri"/>
              <a:sym typeface="Calibri"/>
            </a:endParaRPr>
          </a:p>
        </p:txBody>
      </p:sp>
      <p:sp>
        <p:nvSpPr>
          <p:cNvPr id="448" name="Google Shape;448;p25"/>
          <p:cNvSpPr/>
          <p:nvPr/>
        </p:nvSpPr>
        <p:spPr>
          <a:xfrm>
            <a:off x="530352" y="640080"/>
            <a:ext cx="1115568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2700"/>
              <a:buFont typeface="Cambria"/>
              <a:buNone/>
            </a:pPr>
            <a:r>
              <a:rPr b="1" i="0" lang="en-US" sz="2700" u="none" cap="none" strike="noStrike">
                <a:solidFill>
                  <a:srgbClr val="14304F"/>
                </a:solidFill>
                <a:latin typeface="Cambria"/>
                <a:ea typeface="Cambria"/>
                <a:cs typeface="Cambria"/>
                <a:sym typeface="Cambria"/>
              </a:rPr>
              <a:t>What actually drives naturalization</a:t>
            </a:r>
            <a:endParaRPr b="0" i="0" sz="2700" u="none" cap="none" strike="noStrike">
              <a:solidFill>
                <a:schemeClr val="dk1"/>
              </a:solidFill>
              <a:latin typeface="Calibri"/>
              <a:ea typeface="Calibri"/>
              <a:cs typeface="Calibri"/>
              <a:sym typeface="Calibri"/>
            </a:endParaRPr>
          </a:p>
        </p:txBody>
      </p:sp>
      <p:sp>
        <p:nvSpPr>
          <p:cNvPr id="449" name="Google Shape;449;p25"/>
          <p:cNvSpPr/>
          <p:nvPr/>
        </p:nvSpPr>
        <p:spPr>
          <a:xfrm>
            <a:off x="548640" y="1691640"/>
            <a:ext cx="4572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150"/>
              <a:buFont typeface="Calibri"/>
              <a:buNone/>
            </a:pPr>
            <a:r>
              <a:rPr b="1" i="0" lang="en-US" sz="1150" u="none" cap="none" strike="noStrike">
                <a:solidFill>
                  <a:srgbClr val="5B6472"/>
                </a:solidFill>
                <a:latin typeface="Calibri"/>
                <a:ea typeface="Calibri"/>
                <a:cs typeface="Calibri"/>
                <a:sym typeface="Calibri"/>
              </a:rPr>
              <a:t>FINDING</a:t>
            </a:r>
            <a:endParaRPr b="0" i="0" sz="1150" u="none" cap="none" strike="noStrike">
              <a:solidFill>
                <a:schemeClr val="dk1"/>
              </a:solidFill>
              <a:latin typeface="Calibri"/>
              <a:ea typeface="Calibri"/>
              <a:cs typeface="Calibri"/>
              <a:sym typeface="Calibri"/>
            </a:endParaRPr>
          </a:p>
        </p:txBody>
      </p:sp>
      <p:sp>
        <p:nvSpPr>
          <p:cNvPr id="450" name="Google Shape;450;p25"/>
          <p:cNvSpPr/>
          <p:nvPr/>
        </p:nvSpPr>
        <p:spPr>
          <a:xfrm>
            <a:off x="6355080" y="1691640"/>
            <a:ext cx="4572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150"/>
              <a:buFont typeface="Calibri"/>
              <a:buNone/>
            </a:pPr>
            <a:r>
              <a:rPr b="1" i="0" lang="en-US" sz="1150" u="none" cap="none" strike="noStrike">
                <a:solidFill>
                  <a:srgbClr val="5B6472"/>
                </a:solidFill>
                <a:latin typeface="Calibri"/>
                <a:ea typeface="Calibri"/>
                <a:cs typeface="Calibri"/>
                <a:sym typeface="Calibri"/>
              </a:rPr>
              <a:t>WHY IT MATTERS</a:t>
            </a:r>
            <a:endParaRPr b="0" i="0" sz="1150" u="none" cap="none" strike="noStrike">
              <a:solidFill>
                <a:schemeClr val="dk1"/>
              </a:solidFill>
              <a:latin typeface="Calibri"/>
              <a:ea typeface="Calibri"/>
              <a:cs typeface="Calibri"/>
              <a:sym typeface="Calibri"/>
            </a:endParaRPr>
          </a:p>
        </p:txBody>
      </p:sp>
      <p:sp>
        <p:nvSpPr>
          <p:cNvPr id="451" name="Google Shape;451;p25"/>
          <p:cNvSpPr/>
          <p:nvPr/>
        </p:nvSpPr>
        <p:spPr>
          <a:xfrm>
            <a:off x="548640" y="2011680"/>
            <a:ext cx="5166360" cy="566928"/>
          </a:xfrm>
          <a:prstGeom prst="roundRect">
            <a:avLst>
              <a:gd fmla="val 14516" name="adj"/>
            </a:avLst>
          </a:prstGeom>
          <a:solidFill>
            <a:srgbClr val="FFFFFF"/>
          </a:solidFill>
          <a:ln cap="flat" cmpd="sng" w="12700">
            <a:solidFill>
              <a:srgbClr val="FFFFFF"/>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25"/>
          <p:cNvSpPr/>
          <p:nvPr/>
        </p:nvSpPr>
        <p:spPr>
          <a:xfrm>
            <a:off x="777240" y="2011680"/>
            <a:ext cx="475488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1250"/>
              <a:buFont typeface="Calibri"/>
              <a:buNone/>
            </a:pPr>
            <a:r>
              <a:rPr b="0" i="0" lang="en-US" sz="1250" u="none" cap="none" strike="noStrike">
                <a:solidFill>
                  <a:srgbClr val="222222"/>
                </a:solidFill>
                <a:latin typeface="Calibri"/>
                <a:ea typeface="Calibri"/>
                <a:cs typeface="Calibri"/>
                <a:sym typeface="Calibri"/>
              </a:rPr>
              <a:t>Time in the U.S. beats everything else</a:t>
            </a:r>
            <a:endParaRPr b="0" i="0" sz="1250" u="none" cap="none" strike="noStrike">
              <a:solidFill>
                <a:schemeClr val="dk1"/>
              </a:solidFill>
              <a:latin typeface="Calibri"/>
              <a:ea typeface="Calibri"/>
              <a:cs typeface="Calibri"/>
              <a:sym typeface="Calibri"/>
            </a:endParaRPr>
          </a:p>
        </p:txBody>
      </p:sp>
      <p:sp>
        <p:nvSpPr>
          <p:cNvPr id="453" name="Google Shape;453;p25"/>
          <p:cNvSpPr/>
          <p:nvPr/>
        </p:nvSpPr>
        <p:spPr>
          <a:xfrm>
            <a:off x="6355080" y="2011680"/>
            <a:ext cx="5349240" cy="566928"/>
          </a:xfrm>
          <a:prstGeom prst="roundRect">
            <a:avLst>
              <a:gd fmla="val 14516" name="adj"/>
            </a:avLst>
          </a:prstGeom>
          <a:solidFill>
            <a:srgbClr val="EAEEF3"/>
          </a:solidFill>
          <a:ln cap="flat" cmpd="sng" w="12700">
            <a:solidFill>
              <a:srgbClr val="EAEEF3"/>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25"/>
          <p:cNvSpPr/>
          <p:nvPr/>
        </p:nvSpPr>
        <p:spPr>
          <a:xfrm>
            <a:off x="6537960" y="2167128"/>
            <a:ext cx="256032" cy="256032"/>
          </a:xfrm>
          <a:prstGeom prst="ellipse">
            <a:avLst/>
          </a:prstGeom>
          <a:solidFill>
            <a:srgbClr val="14304F"/>
          </a:solidFill>
          <a:ln cap="flat" cmpd="sng" w="12700">
            <a:solidFill>
              <a:srgbClr val="1430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25"/>
          <p:cNvSpPr/>
          <p:nvPr/>
        </p:nvSpPr>
        <p:spPr>
          <a:xfrm>
            <a:off x="6537960" y="2167128"/>
            <a:ext cx="256032"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52"/>
              <a:buFont typeface="Calibri"/>
              <a:buNone/>
            </a:pPr>
            <a:r>
              <a:rPr b="1" i="0" lang="en-US" sz="952" u="none" cap="none" strike="noStrike">
                <a:solidFill>
                  <a:srgbClr val="FFFFFF"/>
                </a:solidFill>
                <a:latin typeface="Calibri"/>
                <a:ea typeface="Calibri"/>
                <a:cs typeface="Calibri"/>
                <a:sym typeface="Calibri"/>
              </a:rPr>
              <a:t>→</a:t>
            </a:r>
            <a:endParaRPr b="0" i="0" sz="952" u="none" cap="none" strike="noStrike">
              <a:solidFill>
                <a:schemeClr val="dk1"/>
              </a:solidFill>
              <a:latin typeface="Calibri"/>
              <a:ea typeface="Calibri"/>
              <a:cs typeface="Calibri"/>
              <a:sym typeface="Calibri"/>
            </a:endParaRPr>
          </a:p>
        </p:txBody>
      </p:sp>
      <p:sp>
        <p:nvSpPr>
          <p:cNvPr id="456" name="Google Shape;456;p25"/>
          <p:cNvSpPr/>
          <p:nvPr/>
        </p:nvSpPr>
        <p:spPr>
          <a:xfrm>
            <a:off x="6949440" y="2011680"/>
            <a:ext cx="466344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1200"/>
              <a:buFont typeface="Calibri"/>
              <a:buNone/>
            </a:pPr>
            <a:r>
              <a:rPr b="0" i="0" lang="en-US" sz="1200" u="none" cap="none" strike="noStrike">
                <a:solidFill>
                  <a:srgbClr val="222222"/>
                </a:solidFill>
                <a:latin typeface="Calibri"/>
                <a:ea typeface="Calibri"/>
                <a:cs typeface="Calibri"/>
                <a:sym typeface="Calibri"/>
              </a:rPr>
              <a:t>Every model agrees: it's the strongest predictor, ahead of education, English, income, and race.</a:t>
            </a:r>
            <a:endParaRPr b="0" i="0" sz="1200" u="none" cap="none" strike="noStrike">
              <a:solidFill>
                <a:schemeClr val="dk1"/>
              </a:solidFill>
              <a:latin typeface="Calibri"/>
              <a:ea typeface="Calibri"/>
              <a:cs typeface="Calibri"/>
              <a:sym typeface="Calibri"/>
            </a:endParaRPr>
          </a:p>
        </p:txBody>
      </p:sp>
      <p:sp>
        <p:nvSpPr>
          <p:cNvPr id="457" name="Google Shape;457;p25"/>
          <p:cNvSpPr/>
          <p:nvPr/>
        </p:nvSpPr>
        <p:spPr>
          <a:xfrm>
            <a:off x="548640" y="2706624"/>
            <a:ext cx="5166360" cy="566928"/>
          </a:xfrm>
          <a:prstGeom prst="roundRect">
            <a:avLst>
              <a:gd fmla="val 14516" name="adj"/>
            </a:avLst>
          </a:prstGeom>
          <a:solidFill>
            <a:srgbClr val="FFFFFF"/>
          </a:solidFill>
          <a:ln cap="flat" cmpd="sng" w="12700">
            <a:solidFill>
              <a:srgbClr val="FFFFFF"/>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25"/>
          <p:cNvSpPr/>
          <p:nvPr/>
        </p:nvSpPr>
        <p:spPr>
          <a:xfrm>
            <a:off x="777240" y="2706624"/>
            <a:ext cx="475488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1250"/>
              <a:buFont typeface="Calibri"/>
              <a:buNone/>
            </a:pPr>
            <a:r>
              <a:rPr b="0" i="0" lang="en-US" sz="1250" u="none" cap="none" strike="noStrike">
                <a:solidFill>
                  <a:srgbClr val="222222"/>
                </a:solidFill>
                <a:latin typeface="Calibri"/>
                <a:ea typeface="Calibri"/>
                <a:cs typeface="Calibri"/>
                <a:sym typeface="Calibri"/>
              </a:rPr>
              <a:t>Race is the second-strongest predictor</a:t>
            </a:r>
            <a:endParaRPr b="0" i="0" sz="1250" u="none" cap="none" strike="noStrike">
              <a:solidFill>
                <a:schemeClr val="dk1"/>
              </a:solidFill>
              <a:latin typeface="Calibri"/>
              <a:ea typeface="Calibri"/>
              <a:cs typeface="Calibri"/>
              <a:sym typeface="Calibri"/>
            </a:endParaRPr>
          </a:p>
        </p:txBody>
      </p:sp>
      <p:sp>
        <p:nvSpPr>
          <p:cNvPr id="459" name="Google Shape;459;p25"/>
          <p:cNvSpPr/>
          <p:nvPr/>
        </p:nvSpPr>
        <p:spPr>
          <a:xfrm>
            <a:off x="6355080" y="2706624"/>
            <a:ext cx="5349240" cy="566928"/>
          </a:xfrm>
          <a:prstGeom prst="roundRect">
            <a:avLst>
              <a:gd fmla="val 14516" name="adj"/>
            </a:avLst>
          </a:prstGeom>
          <a:solidFill>
            <a:srgbClr val="EAEEF3"/>
          </a:solidFill>
          <a:ln cap="flat" cmpd="sng" w="12700">
            <a:solidFill>
              <a:srgbClr val="EAEEF3"/>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25"/>
          <p:cNvSpPr/>
          <p:nvPr/>
        </p:nvSpPr>
        <p:spPr>
          <a:xfrm>
            <a:off x="6537960" y="2862072"/>
            <a:ext cx="256032" cy="256032"/>
          </a:xfrm>
          <a:prstGeom prst="ellipse">
            <a:avLst/>
          </a:prstGeom>
          <a:solidFill>
            <a:srgbClr val="14304F"/>
          </a:solidFill>
          <a:ln cap="flat" cmpd="sng" w="12700">
            <a:solidFill>
              <a:srgbClr val="1430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25"/>
          <p:cNvSpPr/>
          <p:nvPr/>
        </p:nvSpPr>
        <p:spPr>
          <a:xfrm>
            <a:off x="6537960" y="2862072"/>
            <a:ext cx="256032"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52"/>
              <a:buFont typeface="Calibri"/>
              <a:buNone/>
            </a:pPr>
            <a:r>
              <a:rPr b="1" i="0" lang="en-US" sz="952" u="none" cap="none" strike="noStrike">
                <a:solidFill>
                  <a:srgbClr val="FFFFFF"/>
                </a:solidFill>
                <a:latin typeface="Calibri"/>
                <a:ea typeface="Calibri"/>
                <a:cs typeface="Calibri"/>
                <a:sym typeface="Calibri"/>
              </a:rPr>
              <a:t>→</a:t>
            </a:r>
            <a:endParaRPr b="0" i="0" sz="952" u="none" cap="none" strike="noStrike">
              <a:solidFill>
                <a:schemeClr val="dk1"/>
              </a:solidFill>
              <a:latin typeface="Calibri"/>
              <a:ea typeface="Calibri"/>
              <a:cs typeface="Calibri"/>
              <a:sym typeface="Calibri"/>
            </a:endParaRPr>
          </a:p>
        </p:txBody>
      </p:sp>
      <p:sp>
        <p:nvSpPr>
          <p:cNvPr id="462" name="Google Shape;462;p25"/>
          <p:cNvSpPr/>
          <p:nvPr/>
        </p:nvSpPr>
        <p:spPr>
          <a:xfrm>
            <a:off x="6949440" y="2706624"/>
            <a:ext cx="466344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1200"/>
              <a:buFont typeface="Calibri"/>
              <a:buNone/>
            </a:pPr>
            <a:r>
              <a:rPr b="0" i="0" lang="en-US" sz="1200" u="none" cap="none" strike="noStrike">
                <a:solidFill>
                  <a:srgbClr val="222222"/>
                </a:solidFill>
                <a:latin typeface="Calibri"/>
                <a:ea typeface="Calibri"/>
                <a:cs typeface="Calibri"/>
                <a:sym typeface="Calibri"/>
              </a:rPr>
              <a:t>Shows up in LASSO and random forest too, likely reflecting unmeasured legal or origin factors, not race itself.</a:t>
            </a:r>
            <a:endParaRPr b="0" i="0" sz="1200" u="none" cap="none" strike="noStrike">
              <a:solidFill>
                <a:schemeClr val="dk1"/>
              </a:solidFill>
              <a:latin typeface="Calibri"/>
              <a:ea typeface="Calibri"/>
              <a:cs typeface="Calibri"/>
              <a:sym typeface="Calibri"/>
            </a:endParaRPr>
          </a:p>
        </p:txBody>
      </p:sp>
      <p:sp>
        <p:nvSpPr>
          <p:cNvPr id="463" name="Google Shape;463;p25"/>
          <p:cNvSpPr/>
          <p:nvPr/>
        </p:nvSpPr>
        <p:spPr>
          <a:xfrm>
            <a:off x="548640" y="3401568"/>
            <a:ext cx="5166360" cy="566928"/>
          </a:xfrm>
          <a:prstGeom prst="roundRect">
            <a:avLst>
              <a:gd fmla="val 14516" name="adj"/>
            </a:avLst>
          </a:prstGeom>
          <a:solidFill>
            <a:srgbClr val="FFFFFF"/>
          </a:solidFill>
          <a:ln cap="flat" cmpd="sng" w="12700">
            <a:solidFill>
              <a:srgbClr val="FFFFFF"/>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p25"/>
          <p:cNvSpPr/>
          <p:nvPr/>
        </p:nvSpPr>
        <p:spPr>
          <a:xfrm>
            <a:off x="777240" y="3401568"/>
            <a:ext cx="475488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1250"/>
              <a:buFont typeface="Calibri"/>
              <a:buNone/>
            </a:pPr>
            <a:r>
              <a:rPr b="0" i="0" lang="en-US" sz="1250" u="none" cap="none" strike="noStrike">
                <a:solidFill>
                  <a:srgbClr val="222222"/>
                </a:solidFill>
                <a:latin typeface="Calibri"/>
                <a:ea typeface="Calibri"/>
                <a:cs typeface="Calibri"/>
                <a:sym typeface="Calibri"/>
              </a:rPr>
              <a:t>English proficiency outweighs income and employment</a:t>
            </a:r>
            <a:endParaRPr b="0" i="0" sz="1250" u="none" cap="none" strike="noStrike">
              <a:solidFill>
                <a:schemeClr val="dk1"/>
              </a:solidFill>
              <a:latin typeface="Calibri"/>
              <a:ea typeface="Calibri"/>
              <a:cs typeface="Calibri"/>
              <a:sym typeface="Calibri"/>
            </a:endParaRPr>
          </a:p>
        </p:txBody>
      </p:sp>
      <p:sp>
        <p:nvSpPr>
          <p:cNvPr id="465" name="Google Shape;465;p25"/>
          <p:cNvSpPr/>
          <p:nvPr/>
        </p:nvSpPr>
        <p:spPr>
          <a:xfrm>
            <a:off x="6355080" y="3401568"/>
            <a:ext cx="5349240" cy="566928"/>
          </a:xfrm>
          <a:prstGeom prst="roundRect">
            <a:avLst>
              <a:gd fmla="val 14516" name="adj"/>
            </a:avLst>
          </a:prstGeom>
          <a:solidFill>
            <a:srgbClr val="F7E9E3"/>
          </a:solidFill>
          <a:ln cap="flat" cmpd="sng" w="12700">
            <a:solidFill>
              <a:srgbClr val="F7E9E3"/>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25"/>
          <p:cNvSpPr/>
          <p:nvPr/>
        </p:nvSpPr>
        <p:spPr>
          <a:xfrm>
            <a:off x="6537960" y="3557016"/>
            <a:ext cx="256032" cy="256032"/>
          </a:xfrm>
          <a:prstGeom prst="ellipse">
            <a:avLst/>
          </a:prstGeom>
          <a:solidFill>
            <a:srgbClr val="C1552E"/>
          </a:solidFill>
          <a:ln cap="flat" cmpd="sng" w="12700">
            <a:solidFill>
              <a:srgbClr val="C1552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25"/>
          <p:cNvSpPr/>
          <p:nvPr/>
        </p:nvSpPr>
        <p:spPr>
          <a:xfrm>
            <a:off x="6537960" y="3557016"/>
            <a:ext cx="256032"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52"/>
              <a:buFont typeface="Calibri"/>
              <a:buNone/>
            </a:pPr>
            <a:r>
              <a:rPr b="1" i="0" lang="en-US" sz="952" u="none" cap="none" strike="noStrike">
                <a:solidFill>
                  <a:srgbClr val="FFFFFF"/>
                </a:solidFill>
                <a:latin typeface="Calibri"/>
                <a:ea typeface="Calibri"/>
                <a:cs typeface="Calibri"/>
                <a:sym typeface="Calibri"/>
              </a:rPr>
              <a:t>→</a:t>
            </a:r>
            <a:endParaRPr b="0" i="0" sz="952" u="none" cap="none" strike="noStrike">
              <a:solidFill>
                <a:schemeClr val="dk1"/>
              </a:solidFill>
              <a:latin typeface="Calibri"/>
              <a:ea typeface="Calibri"/>
              <a:cs typeface="Calibri"/>
              <a:sym typeface="Calibri"/>
            </a:endParaRPr>
          </a:p>
        </p:txBody>
      </p:sp>
      <p:sp>
        <p:nvSpPr>
          <p:cNvPr id="468" name="Google Shape;468;p25"/>
          <p:cNvSpPr/>
          <p:nvPr/>
        </p:nvSpPr>
        <p:spPr>
          <a:xfrm>
            <a:off x="6949440" y="3401568"/>
            <a:ext cx="466344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1200"/>
              <a:buFont typeface="Calibri"/>
              <a:buNone/>
            </a:pPr>
            <a:r>
              <a:rPr b="0" i="0" lang="en-US" sz="1200" u="none" cap="none" strike="noStrike">
                <a:solidFill>
                  <a:srgbClr val="222222"/>
                </a:solidFill>
                <a:latin typeface="Calibri"/>
                <a:ea typeface="Calibri"/>
                <a:cs typeface="Calibri"/>
                <a:sym typeface="Calibri"/>
              </a:rPr>
              <a:t>Worth about 3.5x the odds of no English at all. Income and employment barely move the needle.</a:t>
            </a:r>
            <a:endParaRPr b="0" i="0" sz="1200" u="none" cap="none" strike="noStrike">
              <a:solidFill>
                <a:schemeClr val="dk1"/>
              </a:solidFill>
              <a:latin typeface="Calibri"/>
              <a:ea typeface="Calibri"/>
              <a:cs typeface="Calibri"/>
              <a:sym typeface="Calibri"/>
            </a:endParaRPr>
          </a:p>
        </p:txBody>
      </p:sp>
      <p:sp>
        <p:nvSpPr>
          <p:cNvPr id="469" name="Google Shape;469;p25"/>
          <p:cNvSpPr/>
          <p:nvPr/>
        </p:nvSpPr>
        <p:spPr>
          <a:xfrm>
            <a:off x="548640" y="4096512"/>
            <a:ext cx="5166360" cy="566928"/>
          </a:xfrm>
          <a:prstGeom prst="roundRect">
            <a:avLst>
              <a:gd fmla="val 14516" name="adj"/>
            </a:avLst>
          </a:prstGeom>
          <a:solidFill>
            <a:srgbClr val="FFFFFF"/>
          </a:solidFill>
          <a:ln cap="flat" cmpd="sng" w="12700">
            <a:solidFill>
              <a:srgbClr val="FFFFFF"/>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25"/>
          <p:cNvSpPr/>
          <p:nvPr/>
        </p:nvSpPr>
        <p:spPr>
          <a:xfrm>
            <a:off x="777240" y="4096512"/>
            <a:ext cx="475488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1250"/>
              <a:buFont typeface="Calibri"/>
              <a:buNone/>
            </a:pPr>
            <a:r>
              <a:rPr b="0" i="0" lang="en-US" sz="1250" u="none" cap="none" strike="noStrike">
                <a:solidFill>
                  <a:srgbClr val="222222"/>
                </a:solidFill>
                <a:latin typeface="Calibri"/>
                <a:ea typeface="Calibri"/>
                <a:cs typeface="Calibri"/>
                <a:sym typeface="Calibri"/>
              </a:rPr>
              <a:t>Model complexity helps, but modestly</a:t>
            </a:r>
            <a:endParaRPr b="0" i="0" sz="1250" u="none" cap="none" strike="noStrike">
              <a:solidFill>
                <a:schemeClr val="dk1"/>
              </a:solidFill>
              <a:latin typeface="Calibri"/>
              <a:ea typeface="Calibri"/>
              <a:cs typeface="Calibri"/>
              <a:sym typeface="Calibri"/>
            </a:endParaRPr>
          </a:p>
        </p:txBody>
      </p:sp>
      <p:sp>
        <p:nvSpPr>
          <p:cNvPr id="471" name="Google Shape;471;p25"/>
          <p:cNvSpPr/>
          <p:nvPr/>
        </p:nvSpPr>
        <p:spPr>
          <a:xfrm>
            <a:off x="6355080" y="4096512"/>
            <a:ext cx="5349240" cy="566928"/>
          </a:xfrm>
          <a:prstGeom prst="roundRect">
            <a:avLst>
              <a:gd fmla="val 14516" name="adj"/>
            </a:avLst>
          </a:prstGeom>
          <a:solidFill>
            <a:srgbClr val="F7E9E3"/>
          </a:solidFill>
          <a:ln cap="flat" cmpd="sng" w="12700">
            <a:solidFill>
              <a:srgbClr val="F7E9E3"/>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25"/>
          <p:cNvSpPr/>
          <p:nvPr/>
        </p:nvSpPr>
        <p:spPr>
          <a:xfrm>
            <a:off x="6537960" y="4251960"/>
            <a:ext cx="256032" cy="256032"/>
          </a:xfrm>
          <a:prstGeom prst="ellipse">
            <a:avLst/>
          </a:prstGeom>
          <a:solidFill>
            <a:srgbClr val="C1552E"/>
          </a:solidFill>
          <a:ln cap="flat" cmpd="sng" w="12700">
            <a:solidFill>
              <a:srgbClr val="C1552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25"/>
          <p:cNvSpPr/>
          <p:nvPr/>
        </p:nvSpPr>
        <p:spPr>
          <a:xfrm>
            <a:off x="6537960" y="4251960"/>
            <a:ext cx="256032"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52"/>
              <a:buFont typeface="Calibri"/>
              <a:buNone/>
            </a:pPr>
            <a:r>
              <a:rPr b="1" i="0" lang="en-US" sz="952" u="none" cap="none" strike="noStrike">
                <a:solidFill>
                  <a:srgbClr val="FFFFFF"/>
                </a:solidFill>
                <a:latin typeface="Calibri"/>
                <a:ea typeface="Calibri"/>
                <a:cs typeface="Calibri"/>
                <a:sym typeface="Calibri"/>
              </a:rPr>
              <a:t>→</a:t>
            </a:r>
            <a:endParaRPr b="0" i="0" sz="952" u="none" cap="none" strike="noStrike">
              <a:solidFill>
                <a:schemeClr val="dk1"/>
              </a:solidFill>
              <a:latin typeface="Calibri"/>
              <a:ea typeface="Calibri"/>
              <a:cs typeface="Calibri"/>
              <a:sym typeface="Calibri"/>
            </a:endParaRPr>
          </a:p>
        </p:txBody>
      </p:sp>
      <p:sp>
        <p:nvSpPr>
          <p:cNvPr id="474" name="Google Shape;474;p25"/>
          <p:cNvSpPr/>
          <p:nvPr/>
        </p:nvSpPr>
        <p:spPr>
          <a:xfrm>
            <a:off x="6949440" y="4096512"/>
            <a:ext cx="466344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1200"/>
              <a:buFont typeface="Calibri"/>
              <a:buNone/>
            </a:pPr>
            <a:r>
              <a:rPr b="0" i="0" lang="en-US" sz="1200" u="none" cap="none" strike="noStrike">
                <a:solidFill>
                  <a:srgbClr val="222222"/>
                </a:solidFill>
                <a:latin typeface="Calibri"/>
                <a:ea typeface="Calibri"/>
                <a:cs typeface="Calibri"/>
                <a:sym typeface="Calibri"/>
              </a:rPr>
              <a:t>Random forest and the neural net improve on logistic regression, but most signal is already in a few variables.</a:t>
            </a:r>
            <a:endParaRPr b="0" i="0" sz="1200" u="none" cap="none" strike="noStrike">
              <a:solidFill>
                <a:schemeClr val="dk1"/>
              </a:solidFill>
              <a:latin typeface="Calibri"/>
              <a:ea typeface="Calibri"/>
              <a:cs typeface="Calibri"/>
              <a:sym typeface="Calibri"/>
            </a:endParaRPr>
          </a:p>
        </p:txBody>
      </p:sp>
      <p:sp>
        <p:nvSpPr>
          <p:cNvPr id="475" name="Google Shape;475;p25"/>
          <p:cNvSpPr/>
          <p:nvPr/>
        </p:nvSpPr>
        <p:spPr>
          <a:xfrm>
            <a:off x="461965" y="5187155"/>
            <a:ext cx="106986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300"/>
              <a:buFont typeface="Calibri"/>
              <a:buNone/>
            </a:pPr>
            <a:r>
              <a:rPr b="0" i="0" lang="en-US" sz="1300" u="none" cap="none" strike="noStrike">
                <a:solidFill>
                  <a:srgbClr val="5B6472"/>
                </a:solidFill>
                <a:latin typeface="Calibri"/>
                <a:ea typeface="Calibri"/>
                <a:cs typeface="Calibri"/>
                <a:sym typeface="Calibri"/>
              </a:rPr>
              <a:t>Across the models, time in the U.S. is the strongest predictor. Race and English add more signal than income or employment, and more complex models improve performance only modestly.</a:t>
            </a:r>
            <a:endParaRPr b="0" i="0" sz="1300" u="none" cap="none" strike="noStrike">
              <a:solidFill>
                <a:schemeClr val="dk1"/>
              </a:solidFill>
              <a:latin typeface="Calibri"/>
              <a:ea typeface="Calibri"/>
              <a:cs typeface="Calibri"/>
              <a:sym typeface="Calibri"/>
            </a:endParaRPr>
          </a:p>
        </p:txBody>
      </p:sp>
      <p:sp>
        <p:nvSpPr>
          <p:cNvPr id="476" name="Google Shape;476;p25"/>
          <p:cNvSpPr/>
          <p:nvPr/>
        </p:nvSpPr>
        <p:spPr>
          <a:xfrm>
            <a:off x="548640" y="6355080"/>
            <a:ext cx="54864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A7B8"/>
              </a:buClr>
              <a:buSzPts val="950"/>
              <a:buFont typeface="Calibri"/>
              <a:buNone/>
            </a:pPr>
            <a:r>
              <a:rPr b="0" i="0" lang="en-US" sz="950" u="none" cap="none" strike="noStrike">
                <a:solidFill>
                  <a:srgbClr val="9AA7B8"/>
                </a:solidFill>
                <a:latin typeface="Calibri"/>
                <a:ea typeface="Calibri"/>
                <a:cs typeface="Calibri"/>
                <a:sym typeface="Calibri"/>
              </a:rPr>
              <a:t>KEY CONCLUSIONS</a:t>
            </a:r>
            <a:endParaRPr b="0" i="0" sz="950" u="none" cap="none" strike="noStrike">
              <a:solidFill>
                <a:schemeClr val="dk1"/>
              </a:solidFill>
              <a:latin typeface="Calibri"/>
              <a:ea typeface="Calibri"/>
              <a:cs typeface="Calibri"/>
              <a:sym typeface="Calibri"/>
            </a:endParaRPr>
          </a:p>
        </p:txBody>
      </p:sp>
      <p:sp>
        <p:nvSpPr>
          <p:cNvPr id="477" name="Google Shape;477;p25"/>
          <p:cNvSpPr/>
          <p:nvPr/>
        </p:nvSpPr>
        <p:spPr>
          <a:xfrm>
            <a:off x="11338560" y="6355080"/>
            <a:ext cx="365760" cy="25603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A7B8"/>
              </a:buClr>
              <a:buSzPts val="950"/>
              <a:buFont typeface="Calibri"/>
              <a:buNone/>
            </a:pPr>
            <a:r>
              <a:rPr b="0" i="0" lang="en-US" sz="950" u="none" cap="none" strike="noStrike">
                <a:solidFill>
                  <a:srgbClr val="9AA7B8"/>
                </a:solidFill>
                <a:latin typeface="Calibri"/>
                <a:ea typeface="Calibri"/>
                <a:cs typeface="Calibri"/>
                <a:sym typeface="Calibri"/>
              </a:rPr>
              <a:t>24</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C"/>
        </a:solidFill>
      </p:bgPr>
    </p:bg>
    <p:spTree>
      <p:nvGrpSpPr>
        <p:cNvPr id="482" name="Shape 482"/>
        <p:cNvGrpSpPr/>
        <p:nvPr/>
      </p:nvGrpSpPr>
      <p:grpSpPr>
        <a:xfrm>
          <a:off x="0" y="0"/>
          <a:ext cx="0" cy="0"/>
          <a:chOff x="0" y="0"/>
          <a:chExt cx="0" cy="0"/>
        </a:xfrm>
      </p:grpSpPr>
      <p:sp>
        <p:nvSpPr>
          <p:cNvPr id="483" name="Google Shape;483;p26"/>
          <p:cNvSpPr/>
          <p:nvPr/>
        </p:nvSpPr>
        <p:spPr>
          <a:xfrm>
            <a:off x="548640" y="384048"/>
            <a:ext cx="10058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552E"/>
              </a:buClr>
              <a:buSzPts val="1150"/>
              <a:buFont typeface="Calibri"/>
              <a:buNone/>
            </a:pPr>
            <a:r>
              <a:rPr b="1" i="0" lang="en-US" sz="1150" u="none" cap="none" strike="noStrike">
                <a:solidFill>
                  <a:srgbClr val="C1552E"/>
                </a:solidFill>
                <a:latin typeface="Calibri"/>
                <a:ea typeface="Calibri"/>
                <a:cs typeface="Calibri"/>
                <a:sym typeface="Calibri"/>
              </a:rPr>
              <a:t>LIMITATIONS</a:t>
            </a:r>
            <a:endParaRPr b="0" i="0" sz="1150" u="none" cap="none" strike="noStrike">
              <a:solidFill>
                <a:schemeClr val="dk1"/>
              </a:solidFill>
              <a:latin typeface="Calibri"/>
              <a:ea typeface="Calibri"/>
              <a:cs typeface="Calibri"/>
              <a:sym typeface="Calibri"/>
            </a:endParaRPr>
          </a:p>
        </p:txBody>
      </p:sp>
      <p:sp>
        <p:nvSpPr>
          <p:cNvPr id="484" name="Google Shape;484;p26"/>
          <p:cNvSpPr/>
          <p:nvPr/>
        </p:nvSpPr>
        <p:spPr>
          <a:xfrm>
            <a:off x="530352" y="640080"/>
            <a:ext cx="1115568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04F"/>
              </a:buClr>
              <a:buSzPts val="2700"/>
              <a:buFont typeface="Cambria"/>
              <a:buNone/>
            </a:pPr>
            <a:r>
              <a:rPr b="1" i="0" lang="en-US" sz="2700" u="none" cap="none" strike="noStrike">
                <a:solidFill>
                  <a:srgbClr val="14304F"/>
                </a:solidFill>
                <a:latin typeface="Cambria"/>
                <a:ea typeface="Cambria"/>
                <a:cs typeface="Cambria"/>
                <a:sym typeface="Cambria"/>
              </a:rPr>
              <a:t>What our data cannot see</a:t>
            </a:r>
            <a:endParaRPr b="0" i="0" sz="2700" u="none" cap="none" strike="noStrike">
              <a:solidFill>
                <a:schemeClr val="dk1"/>
              </a:solidFill>
              <a:latin typeface="Calibri"/>
              <a:ea typeface="Calibri"/>
              <a:cs typeface="Calibri"/>
              <a:sym typeface="Calibri"/>
            </a:endParaRPr>
          </a:p>
        </p:txBody>
      </p:sp>
      <p:sp>
        <p:nvSpPr>
          <p:cNvPr id="485" name="Google Shape;485;p26"/>
          <p:cNvSpPr/>
          <p:nvPr/>
        </p:nvSpPr>
        <p:spPr>
          <a:xfrm>
            <a:off x="548640" y="1207008"/>
            <a:ext cx="1078992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250"/>
              <a:buFont typeface="Calibri"/>
              <a:buNone/>
            </a:pPr>
            <a:r>
              <a:rPr b="0" i="0" lang="en-US" sz="1250" u="none" cap="none" strike="noStrike">
                <a:solidFill>
                  <a:srgbClr val="5B6472"/>
                </a:solidFill>
                <a:latin typeface="Calibri"/>
                <a:ea typeface="Calibri"/>
                <a:cs typeface="Calibri"/>
                <a:sym typeface="Calibri"/>
              </a:rPr>
              <a:t>The biggest gaps are missing variables:</a:t>
            </a:r>
            <a:endParaRPr b="0" i="0" sz="1250" u="none" cap="none" strike="noStrike">
              <a:solidFill>
                <a:schemeClr val="dk1"/>
              </a:solidFill>
              <a:latin typeface="Calibri"/>
              <a:ea typeface="Calibri"/>
              <a:cs typeface="Calibri"/>
              <a:sym typeface="Calibri"/>
            </a:endParaRPr>
          </a:p>
        </p:txBody>
      </p:sp>
      <p:sp>
        <p:nvSpPr>
          <p:cNvPr id="486" name="Google Shape;486;p26"/>
          <p:cNvSpPr/>
          <p:nvPr/>
        </p:nvSpPr>
        <p:spPr>
          <a:xfrm>
            <a:off x="548640" y="1965960"/>
            <a:ext cx="2606040" cy="1280160"/>
          </a:xfrm>
          <a:prstGeom prst="roundRect">
            <a:avLst>
              <a:gd fmla="val 6429" name="adj"/>
            </a:avLst>
          </a:prstGeom>
          <a:solidFill>
            <a:srgbClr val="FFFFFF"/>
          </a:solidFill>
          <a:ln cap="flat" cmpd="sng" w="12700">
            <a:solidFill>
              <a:srgbClr val="FFFFFF"/>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26"/>
          <p:cNvSpPr/>
          <p:nvPr/>
        </p:nvSpPr>
        <p:spPr>
          <a:xfrm>
            <a:off x="731520" y="2130552"/>
            <a:ext cx="22402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552E"/>
              </a:buClr>
              <a:buSzPts val="1300"/>
              <a:buFont typeface="Calibri"/>
              <a:buNone/>
            </a:pPr>
            <a:r>
              <a:rPr b="1" i="0" lang="en-US" sz="1300" u="none" cap="none" strike="noStrike">
                <a:solidFill>
                  <a:srgbClr val="C1552E"/>
                </a:solidFill>
                <a:latin typeface="Calibri"/>
                <a:ea typeface="Calibri"/>
                <a:cs typeface="Calibri"/>
                <a:sym typeface="Calibri"/>
              </a:rPr>
              <a:t>Legal pathway</a:t>
            </a:r>
            <a:endParaRPr b="0" i="0" sz="1300" u="none" cap="none" strike="noStrike">
              <a:solidFill>
                <a:schemeClr val="dk1"/>
              </a:solidFill>
              <a:latin typeface="Calibri"/>
              <a:ea typeface="Calibri"/>
              <a:cs typeface="Calibri"/>
              <a:sym typeface="Calibri"/>
            </a:endParaRPr>
          </a:p>
        </p:txBody>
      </p:sp>
      <p:sp>
        <p:nvSpPr>
          <p:cNvPr id="488" name="Google Shape;488;p26"/>
          <p:cNvSpPr/>
          <p:nvPr/>
        </p:nvSpPr>
        <p:spPr>
          <a:xfrm>
            <a:off x="731520" y="2532888"/>
            <a:ext cx="224028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050"/>
              <a:buFont typeface="Calibri"/>
              <a:buNone/>
            </a:pPr>
            <a:r>
              <a:rPr b="0" i="0" lang="en-US" sz="1050" u="none" cap="none" strike="noStrike">
                <a:solidFill>
                  <a:srgbClr val="5B6472"/>
                </a:solidFill>
                <a:latin typeface="Calibri"/>
                <a:ea typeface="Calibri"/>
                <a:cs typeface="Calibri"/>
                <a:sym typeface="Calibri"/>
              </a:rPr>
              <a:t>Refugees and asylees follow very different timelines.</a:t>
            </a:r>
            <a:endParaRPr b="0" i="0" sz="1050" u="none" cap="none" strike="noStrike">
              <a:solidFill>
                <a:schemeClr val="dk1"/>
              </a:solidFill>
              <a:latin typeface="Calibri"/>
              <a:ea typeface="Calibri"/>
              <a:cs typeface="Calibri"/>
              <a:sym typeface="Calibri"/>
            </a:endParaRPr>
          </a:p>
        </p:txBody>
      </p:sp>
      <p:sp>
        <p:nvSpPr>
          <p:cNvPr id="489" name="Google Shape;489;p26"/>
          <p:cNvSpPr/>
          <p:nvPr/>
        </p:nvSpPr>
        <p:spPr>
          <a:xfrm>
            <a:off x="3355848" y="1965960"/>
            <a:ext cx="2606040" cy="1280160"/>
          </a:xfrm>
          <a:prstGeom prst="roundRect">
            <a:avLst>
              <a:gd fmla="val 6429" name="adj"/>
            </a:avLst>
          </a:prstGeom>
          <a:solidFill>
            <a:srgbClr val="FFFFFF"/>
          </a:solidFill>
          <a:ln cap="flat" cmpd="sng" w="12700">
            <a:solidFill>
              <a:srgbClr val="FFFFFF"/>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 name="Google Shape;490;p26"/>
          <p:cNvSpPr/>
          <p:nvPr/>
        </p:nvSpPr>
        <p:spPr>
          <a:xfrm>
            <a:off x="3538728" y="2130552"/>
            <a:ext cx="22402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552E"/>
              </a:buClr>
              <a:buSzPts val="1300"/>
              <a:buFont typeface="Calibri"/>
              <a:buNone/>
            </a:pPr>
            <a:r>
              <a:rPr b="1" i="0" lang="en-US" sz="1300" u="none" cap="none" strike="noStrike">
                <a:solidFill>
                  <a:srgbClr val="C1552E"/>
                </a:solidFill>
                <a:latin typeface="Calibri"/>
                <a:ea typeface="Calibri"/>
                <a:cs typeface="Calibri"/>
                <a:sym typeface="Calibri"/>
              </a:rPr>
              <a:t>Dreamers and DACA</a:t>
            </a:r>
            <a:endParaRPr b="0" i="0" sz="1300" u="none" cap="none" strike="noStrike">
              <a:solidFill>
                <a:schemeClr val="dk1"/>
              </a:solidFill>
              <a:latin typeface="Calibri"/>
              <a:ea typeface="Calibri"/>
              <a:cs typeface="Calibri"/>
              <a:sym typeface="Calibri"/>
            </a:endParaRPr>
          </a:p>
        </p:txBody>
      </p:sp>
      <p:sp>
        <p:nvSpPr>
          <p:cNvPr id="491" name="Google Shape;491;p26"/>
          <p:cNvSpPr/>
          <p:nvPr/>
        </p:nvSpPr>
        <p:spPr>
          <a:xfrm>
            <a:off x="3538728" y="2532888"/>
            <a:ext cx="224028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050"/>
              <a:buFont typeface="Calibri"/>
              <a:buNone/>
            </a:pPr>
            <a:r>
              <a:rPr b="0" i="0" lang="en-US" sz="1050" u="none" cap="none" strike="noStrike">
                <a:solidFill>
                  <a:srgbClr val="5B6472"/>
                </a:solidFill>
                <a:latin typeface="Calibri"/>
                <a:ea typeface="Calibri"/>
                <a:cs typeface="Calibri"/>
                <a:sym typeface="Calibri"/>
              </a:rPr>
              <a:t>Childhood arrivals have their own legal route, invisible here.</a:t>
            </a:r>
            <a:endParaRPr b="0" i="0" sz="1050" u="none" cap="none" strike="noStrike">
              <a:solidFill>
                <a:schemeClr val="dk1"/>
              </a:solidFill>
              <a:latin typeface="Calibri"/>
              <a:ea typeface="Calibri"/>
              <a:cs typeface="Calibri"/>
              <a:sym typeface="Calibri"/>
            </a:endParaRPr>
          </a:p>
        </p:txBody>
      </p:sp>
      <p:sp>
        <p:nvSpPr>
          <p:cNvPr id="492" name="Google Shape;492;p26"/>
          <p:cNvSpPr/>
          <p:nvPr/>
        </p:nvSpPr>
        <p:spPr>
          <a:xfrm>
            <a:off x="6163056" y="1965960"/>
            <a:ext cx="2606040" cy="1280160"/>
          </a:xfrm>
          <a:prstGeom prst="roundRect">
            <a:avLst>
              <a:gd fmla="val 6429" name="adj"/>
            </a:avLst>
          </a:prstGeom>
          <a:solidFill>
            <a:srgbClr val="FFFFFF"/>
          </a:solidFill>
          <a:ln cap="flat" cmpd="sng" w="12700">
            <a:solidFill>
              <a:srgbClr val="FFFFFF"/>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26"/>
          <p:cNvSpPr/>
          <p:nvPr/>
        </p:nvSpPr>
        <p:spPr>
          <a:xfrm>
            <a:off x="6345936" y="2130552"/>
            <a:ext cx="22402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552E"/>
              </a:buClr>
              <a:buSzPts val="1300"/>
              <a:buFont typeface="Calibri"/>
              <a:buNone/>
            </a:pPr>
            <a:r>
              <a:rPr b="1" i="0" lang="en-US" sz="1300" u="none" cap="none" strike="noStrike">
                <a:solidFill>
                  <a:srgbClr val="C1552E"/>
                </a:solidFill>
                <a:latin typeface="Calibri"/>
                <a:ea typeface="Calibri"/>
                <a:cs typeface="Calibri"/>
                <a:sym typeface="Calibri"/>
              </a:rPr>
              <a:t>Dual citizenship rules</a:t>
            </a:r>
            <a:endParaRPr b="0" i="0" sz="1300" u="none" cap="none" strike="noStrike">
              <a:solidFill>
                <a:schemeClr val="dk1"/>
              </a:solidFill>
              <a:latin typeface="Calibri"/>
              <a:ea typeface="Calibri"/>
              <a:cs typeface="Calibri"/>
              <a:sym typeface="Calibri"/>
            </a:endParaRPr>
          </a:p>
        </p:txBody>
      </p:sp>
      <p:sp>
        <p:nvSpPr>
          <p:cNvPr id="494" name="Google Shape;494;p26"/>
          <p:cNvSpPr/>
          <p:nvPr/>
        </p:nvSpPr>
        <p:spPr>
          <a:xfrm>
            <a:off x="6345936" y="2532888"/>
            <a:ext cx="224028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050"/>
              <a:buFont typeface="Calibri"/>
              <a:buNone/>
            </a:pPr>
            <a:r>
              <a:rPr b="0" i="0" lang="en-US" sz="1050" u="none" cap="none" strike="noStrike">
                <a:solidFill>
                  <a:srgbClr val="5B6472"/>
                </a:solidFill>
                <a:latin typeface="Calibri"/>
                <a:ea typeface="Calibri"/>
                <a:cs typeface="Calibri"/>
                <a:sym typeface="Calibri"/>
              </a:rPr>
              <a:t>Some home countries discourage naturalizing.</a:t>
            </a:r>
            <a:endParaRPr b="0" i="0" sz="1050" u="none" cap="none" strike="noStrike">
              <a:solidFill>
                <a:schemeClr val="dk1"/>
              </a:solidFill>
              <a:latin typeface="Calibri"/>
              <a:ea typeface="Calibri"/>
              <a:cs typeface="Calibri"/>
              <a:sym typeface="Calibri"/>
            </a:endParaRPr>
          </a:p>
        </p:txBody>
      </p:sp>
      <p:sp>
        <p:nvSpPr>
          <p:cNvPr id="495" name="Google Shape;495;p26"/>
          <p:cNvSpPr/>
          <p:nvPr/>
        </p:nvSpPr>
        <p:spPr>
          <a:xfrm>
            <a:off x="8970264" y="1965960"/>
            <a:ext cx="2606040" cy="1280160"/>
          </a:xfrm>
          <a:prstGeom prst="roundRect">
            <a:avLst>
              <a:gd fmla="val 6429" name="adj"/>
            </a:avLst>
          </a:prstGeom>
          <a:solidFill>
            <a:srgbClr val="FFFFFF"/>
          </a:solidFill>
          <a:ln cap="flat" cmpd="sng" w="12700">
            <a:solidFill>
              <a:srgbClr val="FFFFFF"/>
            </a:solidFill>
            <a:prstDash val="solid"/>
            <a:round/>
            <a:headEnd len="sm" w="sm" type="none"/>
            <a:tailEnd len="sm" w="sm" type="none"/>
          </a:ln>
          <a:effectLst>
            <a:outerShdw blurRad="88900" rotWithShape="0" algn="bl" dir="5400000" dist="25400">
              <a:srgbClr val="6B728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p26"/>
          <p:cNvSpPr/>
          <p:nvPr/>
        </p:nvSpPr>
        <p:spPr>
          <a:xfrm>
            <a:off x="9153144" y="2130552"/>
            <a:ext cx="22402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552E"/>
              </a:buClr>
              <a:buSzPts val="1300"/>
              <a:buFont typeface="Calibri"/>
              <a:buNone/>
            </a:pPr>
            <a:r>
              <a:rPr b="1" i="0" lang="en-US" sz="1300" u="none" cap="none" strike="noStrike">
                <a:solidFill>
                  <a:srgbClr val="C1552E"/>
                </a:solidFill>
                <a:latin typeface="Calibri"/>
                <a:ea typeface="Calibri"/>
                <a:cs typeface="Calibri"/>
                <a:sym typeface="Calibri"/>
              </a:rPr>
              <a:t>Cost and backlogs</a:t>
            </a:r>
            <a:endParaRPr b="0" i="0" sz="1300" u="none" cap="none" strike="noStrike">
              <a:solidFill>
                <a:schemeClr val="dk1"/>
              </a:solidFill>
              <a:latin typeface="Calibri"/>
              <a:ea typeface="Calibri"/>
              <a:cs typeface="Calibri"/>
              <a:sym typeface="Calibri"/>
            </a:endParaRPr>
          </a:p>
        </p:txBody>
      </p:sp>
      <p:sp>
        <p:nvSpPr>
          <p:cNvPr id="497" name="Google Shape;497;p26"/>
          <p:cNvSpPr/>
          <p:nvPr/>
        </p:nvSpPr>
        <p:spPr>
          <a:xfrm>
            <a:off x="9153144" y="2532888"/>
            <a:ext cx="224028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472"/>
              </a:buClr>
              <a:buSzPts val="1050"/>
              <a:buFont typeface="Calibri"/>
              <a:buNone/>
            </a:pPr>
            <a:r>
              <a:rPr b="0" i="0" lang="en-US" sz="1050" u="none" cap="none" strike="noStrike">
                <a:solidFill>
                  <a:srgbClr val="5B6472"/>
                </a:solidFill>
                <a:latin typeface="Calibri"/>
                <a:ea typeface="Calibri"/>
                <a:cs typeface="Calibri"/>
                <a:sym typeface="Calibri"/>
              </a:rPr>
              <a:t>Fees and processing delays go unmeasured.</a:t>
            </a:r>
            <a:endParaRPr b="0" i="0" sz="1050" u="none" cap="none" strike="noStrike">
              <a:solidFill>
                <a:schemeClr val="dk1"/>
              </a:solidFill>
              <a:latin typeface="Calibri"/>
              <a:ea typeface="Calibri"/>
              <a:cs typeface="Calibri"/>
              <a:sym typeface="Calibri"/>
            </a:endParaRPr>
          </a:p>
        </p:txBody>
      </p:sp>
      <p:sp>
        <p:nvSpPr>
          <p:cNvPr id="498" name="Google Shape;498;p26"/>
          <p:cNvSpPr/>
          <p:nvPr/>
        </p:nvSpPr>
        <p:spPr>
          <a:xfrm>
            <a:off x="548640" y="6355080"/>
            <a:ext cx="54864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A7B8"/>
              </a:buClr>
              <a:buSzPts val="950"/>
              <a:buFont typeface="Calibri"/>
              <a:buNone/>
            </a:pPr>
            <a:r>
              <a:rPr b="0" i="0" lang="en-US" sz="950" u="none" cap="none" strike="noStrike">
                <a:solidFill>
                  <a:srgbClr val="9AA7B8"/>
                </a:solidFill>
                <a:latin typeface="Calibri"/>
                <a:ea typeface="Calibri"/>
                <a:cs typeface="Calibri"/>
                <a:sym typeface="Calibri"/>
              </a:rPr>
              <a:t>LIMITATIONS</a:t>
            </a:r>
            <a:endParaRPr b="0" i="0" sz="950" u="none" cap="none" strike="noStrike">
              <a:solidFill>
                <a:schemeClr val="dk1"/>
              </a:solidFill>
              <a:latin typeface="Calibri"/>
              <a:ea typeface="Calibri"/>
              <a:cs typeface="Calibri"/>
              <a:sym typeface="Calibri"/>
            </a:endParaRPr>
          </a:p>
        </p:txBody>
      </p:sp>
      <p:sp>
        <p:nvSpPr>
          <p:cNvPr id="499" name="Google Shape;499;p26"/>
          <p:cNvSpPr/>
          <p:nvPr/>
        </p:nvSpPr>
        <p:spPr>
          <a:xfrm>
            <a:off x="11338560" y="6355080"/>
            <a:ext cx="365760" cy="25603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A7B8"/>
              </a:buClr>
              <a:buSzPts val="950"/>
              <a:buFont typeface="Calibri"/>
              <a:buNone/>
            </a:pPr>
            <a:r>
              <a:rPr b="0" i="0" lang="en-US" sz="950" u="none" cap="none" strike="noStrike">
                <a:solidFill>
                  <a:srgbClr val="9AA7B8"/>
                </a:solidFill>
                <a:latin typeface="Calibri"/>
                <a:ea typeface="Calibri"/>
                <a:cs typeface="Calibri"/>
                <a:sym typeface="Calibri"/>
              </a:rPr>
              <a:t>25</a:t>
            </a:r>
            <a:endParaRPr b="0" i="0" sz="950" u="none" cap="none" strike="noStrike">
              <a:solidFill>
                <a:schemeClr val="dk1"/>
              </a:solidFill>
              <a:latin typeface="Calibri"/>
              <a:ea typeface="Calibri"/>
              <a:cs typeface="Calibri"/>
              <a:sym typeface="Calibri"/>
            </a:endParaRPr>
          </a:p>
        </p:txBody>
      </p:sp>
      <p:sp>
        <p:nvSpPr>
          <p:cNvPr id="500" name="Google Shape;500;p26"/>
          <p:cNvSpPr/>
          <p:nvPr/>
        </p:nvSpPr>
        <p:spPr>
          <a:xfrm>
            <a:off x="1828800" y="3886200"/>
            <a:ext cx="8549640" cy="960120"/>
          </a:xfrm>
          <a:prstGeom prst="roundRect">
            <a:avLst>
              <a:gd fmla="val 16667" name="adj"/>
            </a:avLst>
          </a:prstGeom>
          <a:solidFill>
            <a:srgbClr val="FFFFFF"/>
          </a:solidFill>
          <a:ln cap="flat" cmpd="sng" w="12700">
            <a:solidFill>
              <a:srgbClr val="FFFFF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1" name="Google Shape;501;p26"/>
          <p:cNvSpPr txBox="1"/>
          <p:nvPr/>
        </p:nvSpPr>
        <p:spPr>
          <a:xfrm>
            <a:off x="2057400" y="4050791"/>
            <a:ext cx="8092440"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C1552E"/>
                </a:solidFill>
                <a:latin typeface="Calibri"/>
                <a:ea typeface="Calibri"/>
                <a:cs typeface="Calibri"/>
                <a:sym typeface="Calibri"/>
              </a:rPr>
              <a:t>Application and willingness</a:t>
            </a:r>
            <a:endParaRPr b="0" i="0" sz="1400" u="none" cap="none" strike="noStrike">
              <a:solidFill>
                <a:srgbClr val="000000"/>
              </a:solidFill>
              <a:latin typeface="Arial"/>
              <a:ea typeface="Arial"/>
              <a:cs typeface="Arial"/>
              <a:sym typeface="Arial"/>
            </a:endParaRPr>
          </a:p>
        </p:txBody>
      </p:sp>
      <p:sp>
        <p:nvSpPr>
          <p:cNvPr id="502" name="Google Shape;502;p26"/>
          <p:cNvSpPr txBox="1"/>
          <p:nvPr/>
        </p:nvSpPr>
        <p:spPr>
          <a:xfrm>
            <a:off x="2057400" y="4370832"/>
            <a:ext cx="809244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5B6472"/>
                </a:solidFill>
                <a:latin typeface="Calibri"/>
                <a:ea typeface="Calibri"/>
                <a:cs typeface="Calibri"/>
                <a:sym typeface="Calibri"/>
              </a:rPr>
              <a:t>ACS records naturalization status, but not whether a non-citizen applied, was denied, was waiting, or chose not to apply.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pic>
        <p:nvPicPr>
          <p:cNvPr id="508" name="Google Shape;508;g3f48c297209_0_10"/>
          <p:cNvPicPr preferRelativeResize="0"/>
          <p:nvPr/>
        </p:nvPicPr>
        <p:blipFill>
          <a:blip r:embed="rId3">
            <a:alphaModFix/>
          </a:blip>
          <a:stretch>
            <a:fillRect/>
          </a:stretch>
        </p:blipFill>
        <p:spPr>
          <a:xfrm>
            <a:off x="152400" y="152400"/>
            <a:ext cx="11711130" cy="65532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438"/>
        </a:solidFill>
      </p:bgPr>
    </p:bg>
    <p:spTree>
      <p:nvGrpSpPr>
        <p:cNvPr id="513" name="Shape 513"/>
        <p:cNvGrpSpPr/>
        <p:nvPr/>
      </p:nvGrpSpPr>
      <p:grpSpPr>
        <a:xfrm>
          <a:off x="0" y="0"/>
          <a:ext cx="0" cy="0"/>
          <a:chOff x="0" y="0"/>
          <a:chExt cx="0" cy="0"/>
        </a:xfrm>
      </p:grpSpPr>
      <p:sp>
        <p:nvSpPr>
          <p:cNvPr id="514" name="Google Shape;514;p27"/>
          <p:cNvSpPr/>
          <p:nvPr/>
        </p:nvSpPr>
        <p:spPr>
          <a:xfrm>
            <a:off x="0" y="2651760"/>
            <a:ext cx="12188952" cy="914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5400"/>
              <a:buFont typeface="Cambria"/>
              <a:buNone/>
            </a:pPr>
            <a:r>
              <a:rPr b="1" i="0" lang="en-US" sz="5400" u="none" cap="none" strike="noStrike">
                <a:solidFill>
                  <a:srgbClr val="FFFFFF"/>
                </a:solidFill>
                <a:latin typeface="Cambria"/>
                <a:ea typeface="Cambria"/>
                <a:cs typeface="Cambria"/>
                <a:sym typeface="Cambria"/>
              </a:rPr>
              <a:t>Thank you</a:t>
            </a:r>
            <a:endParaRPr b="0" i="0" sz="5400" u="none" cap="none" strike="noStrike">
              <a:solidFill>
                <a:schemeClr val="dk1"/>
              </a:solidFill>
              <a:latin typeface="Calibri"/>
              <a:ea typeface="Calibri"/>
              <a:cs typeface="Calibri"/>
              <a:sym typeface="Calibri"/>
            </a:endParaRPr>
          </a:p>
        </p:txBody>
      </p:sp>
      <p:sp>
        <p:nvSpPr>
          <p:cNvPr id="515" name="Google Shape;515;p27"/>
          <p:cNvSpPr/>
          <p:nvPr/>
        </p:nvSpPr>
        <p:spPr>
          <a:xfrm>
            <a:off x="0" y="3520440"/>
            <a:ext cx="12188952"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FB3CC"/>
              </a:buClr>
              <a:buSzPts val="2000"/>
              <a:buFont typeface="Calibri"/>
              <a:buNone/>
            </a:pPr>
            <a:r>
              <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